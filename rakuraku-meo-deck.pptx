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image" Target="../media/image-21-10.pn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png"/><Relationship Id="rId13" Type="http://schemas.openxmlformats.org/officeDocument/2006/relationships/image" Target="../media/image-2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FE0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運営：株式会社cantik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22376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FE0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サービス紹介資料　｜　2026.07</a:t>
            </a:r>
            <a:endParaRPr lang="en-US" sz="1200" dirty="0"/>
          </a:p>
        </p:txBody>
      </p:sp>
      <p:pic>
        <p:nvPicPr>
          <p:cNvPr id="4" name="Image 0" descr="/Users/toukairintakeaki/CantikVault/サービス資料/_build/raku_logo_fu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" y="1325880"/>
            <a:ext cx="3611880" cy="13517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361188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手間ゼロ。</a:t>
            </a:r>
            <a:endParaRPr lang="en-US" sz="3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AIにおまかせのMEO集客。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03504" y="5074920"/>
            <a:ext cx="1572768" cy="841248"/>
          </a:xfrm>
          <a:prstGeom prst="roundRect">
            <a:avLst>
              <a:gd name="adj" fmla="val 10870"/>
            </a:avLst>
          </a:prstGeom>
          <a:solidFill>
            <a:srgbClr val="2E7BE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" y="5074920"/>
            <a:ext cx="1572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CFE0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実績
</a:t>
            </a:r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400件超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340864" y="5074920"/>
            <a:ext cx="1572768" cy="841248"/>
          </a:xfrm>
          <a:prstGeom prst="roundRect">
            <a:avLst>
              <a:gd name="adj" fmla="val 10870"/>
            </a:avLst>
          </a:prstGeom>
          <a:solidFill>
            <a:srgbClr val="2E7BE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40864" y="5074920"/>
            <a:ext cx="1572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CFE0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対応
</a:t>
            </a:r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全業種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078224" y="5074920"/>
            <a:ext cx="1572768" cy="841248"/>
          </a:xfrm>
          <a:prstGeom prst="roundRect">
            <a:avLst>
              <a:gd name="adj" fmla="val 10870"/>
            </a:avLst>
          </a:prstGeom>
          <a:solidFill>
            <a:srgbClr val="2E7BE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78224" y="5074920"/>
            <a:ext cx="1572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CFE0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初期費用
</a:t>
            </a:r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0円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915400" y="1371600"/>
            <a:ext cx="2514600" cy="4709160"/>
          </a:xfrm>
          <a:prstGeom prst="roundRect">
            <a:avLst>
              <a:gd name="adj" fmla="val 10182"/>
            </a:avLst>
          </a:prstGeom>
          <a:solidFill>
            <a:srgbClr val="16294D"/>
          </a:solidFill>
          <a:ln/>
        </p:spPr>
      </p:sp>
      <p:pic>
        <p:nvPicPr>
          <p:cNvPr id="13" name="Image 1" descr="/Users/toukairintakeaki/CantikVault/サービス資料/_build/screen_map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025128" y="1517904"/>
            <a:ext cx="2295144" cy="44165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61621" y="365760"/>
            <a:ext cx="1906707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pic>
        <p:nvPicPr>
          <p:cNvPr id="3" name="Image 0" descr="/Users/toukairintakeaki/CantikVault/サービス資料/_build/raku_logo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9637" y="457200"/>
            <a:ext cx="1650675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22876" y="138988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BBD4F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CHAPTER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618988" y="1783080"/>
            <a:ext cx="950976" cy="950976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18988" y="1783080"/>
            <a:ext cx="950976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297180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なぜ今、MEOなのか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914400" y="40690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6E4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店舗集客の主戦場は、Googleマップへ移りました。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D3F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運営：株式会社cantik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Issues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こんなこと、ありませんか？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7" name="Image 0" descr="/Users/toukairintakeaki/CantikVault/サービス資料/_build/raku_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6966" y="457200"/>
            <a:ext cx="140307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運営：株式会社cantik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10" name="Text 7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13716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ひとつでも当てはまれば、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ラクラクMEOで解決できます。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011680" y="2103120"/>
            <a:ext cx="8165592" cy="658368"/>
          </a:xfrm>
          <a:prstGeom prst="roundRect">
            <a:avLst>
              <a:gd name="adj" fmla="val 13889"/>
            </a:avLst>
          </a:prstGeom>
          <a:solidFill>
            <a:srgbClr val="F5F7FA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67712" y="2249424"/>
            <a:ext cx="365760" cy="365760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152" y="2340864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80360" y="2103120"/>
            <a:ext cx="7068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広告費をかけても、新規客が増えない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2011680" y="2880360"/>
            <a:ext cx="8165592" cy="658368"/>
          </a:xfrm>
          <a:prstGeom prst="roundRect">
            <a:avLst>
              <a:gd name="adj" fmla="val 13889"/>
            </a:avLst>
          </a:prstGeom>
          <a:solidFill>
            <a:srgbClr val="F5F7FA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267712" y="3026664"/>
            <a:ext cx="365760" cy="365760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152" y="3118104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880360" y="2880360"/>
            <a:ext cx="7068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ポータルサイトの掲載料が負担になっている</a:t>
            </a:r>
            <a:endParaRPr lang="en-US" sz="1550" dirty="0"/>
          </a:p>
        </p:txBody>
      </p:sp>
      <p:sp>
        <p:nvSpPr>
          <p:cNvPr id="20" name="Shape 15"/>
          <p:cNvSpPr/>
          <p:nvPr/>
        </p:nvSpPr>
        <p:spPr>
          <a:xfrm>
            <a:off x="2011680" y="3657600"/>
            <a:ext cx="8165592" cy="658368"/>
          </a:xfrm>
          <a:prstGeom prst="roundRect">
            <a:avLst>
              <a:gd name="adj" fmla="val 13889"/>
            </a:avLst>
          </a:prstGeom>
          <a:solidFill>
            <a:srgbClr val="F5F7FA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267712" y="3803904"/>
            <a:ext cx="365760" cy="365760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9152" y="3895344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880360" y="3657600"/>
            <a:ext cx="7068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Googleマップで、競合より下に表示される</a:t>
            </a:r>
            <a:endParaRPr lang="en-US" sz="1550" dirty="0"/>
          </a:p>
        </p:txBody>
      </p:sp>
      <p:sp>
        <p:nvSpPr>
          <p:cNvPr id="24" name="Shape 18"/>
          <p:cNvSpPr/>
          <p:nvPr/>
        </p:nvSpPr>
        <p:spPr>
          <a:xfrm>
            <a:off x="2011680" y="4434840"/>
            <a:ext cx="8165592" cy="658368"/>
          </a:xfrm>
          <a:prstGeom prst="roundRect">
            <a:avLst>
              <a:gd name="adj" fmla="val 13889"/>
            </a:avLst>
          </a:prstGeom>
          <a:solidFill>
            <a:srgbClr val="F5F7FA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2267712" y="4581144"/>
            <a:ext cx="365760" cy="365760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9152" y="4672584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880360" y="4434840"/>
            <a:ext cx="7068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口コミが集まらず、評価も上がらない</a:t>
            </a:r>
            <a:endParaRPr lang="en-US" sz="1550" dirty="0"/>
          </a:p>
        </p:txBody>
      </p:sp>
      <p:sp>
        <p:nvSpPr>
          <p:cNvPr id="28" name="Shape 21"/>
          <p:cNvSpPr/>
          <p:nvPr/>
        </p:nvSpPr>
        <p:spPr>
          <a:xfrm>
            <a:off x="2011680" y="5212080"/>
            <a:ext cx="8165592" cy="658368"/>
          </a:xfrm>
          <a:prstGeom prst="roundRect">
            <a:avLst>
              <a:gd name="adj" fmla="val 13889"/>
            </a:avLst>
          </a:prstGeom>
          <a:solidFill>
            <a:srgbClr val="F5F7FA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2267712" y="5358384"/>
            <a:ext cx="365760" cy="365760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9152" y="5449824"/>
            <a:ext cx="182880" cy="1828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880360" y="5212080"/>
            <a:ext cx="7068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何から手を付ければいいか分からない</a:t>
            </a:r>
            <a:endParaRPr lang="en-US" sz="1550" dirty="0"/>
          </a:p>
        </p:txBody>
      </p:sp>
      <p:sp>
        <p:nvSpPr>
          <p:cNvPr id="32" name="Text 24"/>
          <p:cNvSpPr/>
          <p:nvPr/>
        </p:nvSpPr>
        <p:spPr>
          <a:xfrm>
            <a:off x="731520" y="594360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 その手間、</a:t>
            </a:r>
            <a:pPr algn="ctr" indent="0" marL="0">
              <a:buNone/>
            </a:pPr>
            <a:r>
              <a:rPr lang="en-US" sz="16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AIにおまかせ</a:t>
            </a:r>
            <a:pPr algn="ctr" indent="0" marL="0">
              <a:buNone/>
            </a:pPr>
            <a:r>
              <a:rPr lang="en-US" sz="16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でカンタンに解決できます。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Background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なぜ、その悩みが起きるのか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7" name="Image 0" descr="/Users/toukairintakeaki/CantikVault/サービス資料/_build/raku_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6966" y="457200"/>
            <a:ext cx="140307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運営：株式会社cantik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10" name="Text 7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13716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お店の探され方が、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ここ数年で大きく変わった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からです。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2286000"/>
            <a:ext cx="3502152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69364" y="2670048"/>
            <a:ext cx="1060704" cy="1060704"/>
          </a:xfrm>
          <a:prstGeom prst="roundRect">
            <a:avLst>
              <a:gd name="adj" fmla="val 11207"/>
            </a:avLst>
          </a:prstGeom>
          <a:solidFill>
            <a:srgbClr val="EAF2F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540" y="2935224"/>
            <a:ext cx="530352" cy="5303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58368" y="3913632"/>
            <a:ext cx="3282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広告費の高騰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86384" y="4480560"/>
            <a:ext cx="30266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Web広告・チラシの単価は年々上昇。同じ予算で来てもらえる新規客が減っています。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343400" y="2286000"/>
            <a:ext cx="3502152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564124" y="2670048"/>
            <a:ext cx="1060704" cy="1060704"/>
          </a:xfrm>
          <a:prstGeom prst="roundRect">
            <a:avLst>
              <a:gd name="adj" fmla="val 11207"/>
            </a:avLst>
          </a:prstGeom>
          <a:solidFill>
            <a:srgbClr val="EAF2F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2935224"/>
            <a:ext cx="530352" cy="5303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453128" y="3913632"/>
            <a:ext cx="3282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ポータル頼みのリスク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4581144" y="4480560"/>
            <a:ext cx="30266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掲載料は上がり続け、やめれば露出はゼロに。払ったお金が手元に残りません。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138160" y="2286000"/>
            <a:ext cx="3502152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358884" y="2670048"/>
            <a:ext cx="1060704" cy="1060704"/>
          </a:xfrm>
          <a:prstGeom prst="roundRect">
            <a:avLst>
              <a:gd name="adj" fmla="val 11207"/>
            </a:avLst>
          </a:prstGeom>
          <a:solidFill>
            <a:srgbClr val="EAF2F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4060" y="2935224"/>
            <a:ext cx="530352" cy="5303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247888" y="3913632"/>
            <a:ext cx="3282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探し方の変化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8375904" y="4480560"/>
            <a:ext cx="30266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お客様は広告よりも、地図・口コミ・評価を見てお店を選ぶようになりました。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731520" y="580644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だから、</a:t>
            </a:r>
            <a:pPr algn="ctr" indent="0" marL="0">
              <a:buNone/>
            </a:pPr>
            <a:r>
              <a:rPr lang="en-US" sz="1600" b="1" dirty="0">
                <a:solidFill>
                  <a:srgbClr val="E548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「今の探され方」＝Googleマップ</a:t>
            </a:r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に合わせる必要があります。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Change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お店の探され方が、変わった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7" name="Image 0" descr="/Users/toukairintakeaki/CantikVault/サービス資料/_build/raku_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6966" y="457200"/>
            <a:ext cx="140307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運営：株式会社cantik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10" name="Text 7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1298448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お店探しの主役は、</a:t>
            </a:r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グルメサイトからGoogleへ</a:t>
            </a:r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。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3200400" y="1874520"/>
            <a:ext cx="274320" cy="164592"/>
          </a:xfrm>
          <a:prstGeom prst="rect">
            <a:avLst/>
          </a:prstGeom>
          <a:solidFill>
            <a:srgbClr val="C3CAD6"/>
          </a:solidFill>
          <a:ln/>
        </p:spPr>
      </p:sp>
      <p:sp>
        <p:nvSpPr>
          <p:cNvPr id="13" name="Text 10"/>
          <p:cNvSpPr/>
          <p:nvPr/>
        </p:nvSpPr>
        <p:spPr>
          <a:xfrm>
            <a:off x="3529584" y="180136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2020年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26280" y="1874520"/>
            <a:ext cx="274320" cy="1645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15" name="Text 12"/>
          <p:cNvSpPr/>
          <p:nvPr/>
        </p:nvSpPr>
        <p:spPr>
          <a:xfrm>
            <a:off x="4855464" y="180136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2022年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228600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グルメサイト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3200400" y="2286000"/>
            <a:ext cx="4040185" cy="292608"/>
          </a:xfrm>
          <a:prstGeom prst="roundRect">
            <a:avLst>
              <a:gd name="adj" fmla="val 15625"/>
            </a:avLst>
          </a:prstGeom>
          <a:solidFill>
            <a:srgbClr val="C3CAD6"/>
          </a:solidFill>
          <a:ln/>
        </p:spPr>
      </p:sp>
      <p:sp>
        <p:nvSpPr>
          <p:cNvPr id="18" name="Text 15"/>
          <p:cNvSpPr/>
          <p:nvPr/>
        </p:nvSpPr>
        <p:spPr>
          <a:xfrm>
            <a:off x="7313737" y="228600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78.9%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200400" y="2651760"/>
            <a:ext cx="3138952" cy="292608"/>
          </a:xfrm>
          <a:prstGeom prst="roundRect">
            <a:avLst>
              <a:gd name="adj" fmla="val 15625"/>
            </a:avLst>
          </a:prstGeom>
          <a:solidFill>
            <a:srgbClr val="6E86A8"/>
          </a:solidFill>
          <a:ln/>
        </p:spPr>
      </p:sp>
      <p:sp>
        <p:nvSpPr>
          <p:cNvPr id="20" name="Text 17"/>
          <p:cNvSpPr/>
          <p:nvPr/>
        </p:nvSpPr>
        <p:spPr>
          <a:xfrm>
            <a:off x="6412504" y="265176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61.3%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321868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Google検索/マップ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3200400" y="3218688"/>
            <a:ext cx="4019702" cy="292608"/>
          </a:xfrm>
          <a:prstGeom prst="roundRect">
            <a:avLst>
              <a:gd name="adj" fmla="val 15625"/>
            </a:avLst>
          </a:prstGeom>
          <a:solidFill>
            <a:srgbClr val="C3CAD6"/>
          </a:solidFill>
          <a:ln/>
        </p:spPr>
      </p:sp>
      <p:sp>
        <p:nvSpPr>
          <p:cNvPr id="23" name="Text 20"/>
          <p:cNvSpPr/>
          <p:nvPr/>
        </p:nvSpPr>
        <p:spPr>
          <a:xfrm>
            <a:off x="7293254" y="321868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78.5%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200400" y="3584448"/>
            <a:ext cx="4408871" cy="292608"/>
          </a:xfrm>
          <a:prstGeom prst="roundRect">
            <a:avLst>
              <a:gd name="adj" fmla="val 15625"/>
            </a:avLst>
          </a:prstGeom>
          <a:solidFill>
            <a:srgbClr val="1B6FDE"/>
          </a:solidFill>
          <a:ln/>
        </p:spPr>
      </p:sp>
      <p:sp>
        <p:nvSpPr>
          <p:cNvPr id="25" name="Text 22"/>
          <p:cNvSpPr/>
          <p:nvPr/>
        </p:nvSpPr>
        <p:spPr>
          <a:xfrm>
            <a:off x="7682423" y="358444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548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86.1%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48640" y="4151376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知人に聞く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3200400" y="4151376"/>
            <a:ext cx="2063618" cy="292608"/>
          </a:xfrm>
          <a:prstGeom prst="roundRect">
            <a:avLst>
              <a:gd name="adj" fmla="val 15625"/>
            </a:avLst>
          </a:prstGeom>
          <a:solidFill>
            <a:srgbClr val="C3CAD6"/>
          </a:solidFill>
          <a:ln/>
        </p:spPr>
      </p:sp>
      <p:sp>
        <p:nvSpPr>
          <p:cNvPr id="28" name="Text 25"/>
          <p:cNvSpPr/>
          <p:nvPr/>
        </p:nvSpPr>
        <p:spPr>
          <a:xfrm>
            <a:off x="5337170" y="415137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40.3%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200400" y="4517136"/>
            <a:ext cx="1592519" cy="292608"/>
          </a:xfrm>
          <a:prstGeom prst="roundRect">
            <a:avLst>
              <a:gd name="adj" fmla="val 15625"/>
            </a:avLst>
          </a:prstGeom>
          <a:solidFill>
            <a:srgbClr val="6E86A8"/>
          </a:solidFill>
          <a:ln/>
        </p:spPr>
      </p:sp>
      <p:sp>
        <p:nvSpPr>
          <p:cNvPr id="30" name="Text 27"/>
          <p:cNvSpPr/>
          <p:nvPr/>
        </p:nvSpPr>
        <p:spPr>
          <a:xfrm>
            <a:off x="4866071" y="451713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31.1%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48640" y="5084064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3200400" y="5084064"/>
            <a:ext cx="1208471" cy="292608"/>
          </a:xfrm>
          <a:prstGeom prst="roundRect">
            <a:avLst>
              <a:gd name="adj" fmla="val 15625"/>
            </a:avLst>
          </a:prstGeom>
          <a:solidFill>
            <a:srgbClr val="C3CAD6"/>
          </a:solidFill>
          <a:ln/>
        </p:spPr>
      </p:sp>
      <p:sp>
        <p:nvSpPr>
          <p:cNvPr id="33" name="Text 30"/>
          <p:cNvSpPr/>
          <p:nvPr/>
        </p:nvSpPr>
        <p:spPr>
          <a:xfrm>
            <a:off x="4482023" y="50840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23.6%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3200400" y="5449824"/>
            <a:ext cx="742493" cy="292608"/>
          </a:xfrm>
          <a:prstGeom prst="roundRect">
            <a:avLst>
              <a:gd name="adj" fmla="val 15625"/>
            </a:avLst>
          </a:prstGeom>
          <a:solidFill>
            <a:srgbClr val="6E86A8"/>
          </a:solidFill>
          <a:ln/>
        </p:spPr>
      </p:sp>
      <p:sp>
        <p:nvSpPr>
          <p:cNvPr id="35" name="Text 32"/>
          <p:cNvSpPr/>
          <p:nvPr/>
        </p:nvSpPr>
        <p:spPr>
          <a:xfrm>
            <a:off x="4016045" y="544982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14.5%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2022年にはGoogle（検索＋マップ）が86.1%でグルメサイトを逆転し最多に。「地図で探して、その場で来店」が新しい行動様式です。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548640" y="6455664"/>
            <a:ext cx="11091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参照：TableCheck 第3回グルメサイト意識調査（2022年）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Users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みんなが使う、Googleマップ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7" name="Image 0" descr="/Users/toukairintakeaki/CantikVault/サービス資料/_build/raku_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6966" y="457200"/>
            <a:ext cx="140307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運営：株式会社cantik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10" name="Text 7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04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1298448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Googleマップは </a:t>
            </a:r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4,700万人規模</a:t>
            </a:r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が、お店探しに利用。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48640" y="205740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LINE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2606040" y="2057400"/>
            <a:ext cx="6583680" cy="402336"/>
          </a:xfrm>
          <a:prstGeom prst="roundRect">
            <a:avLst>
              <a:gd name="adj" fmla="val 13636"/>
            </a:avLst>
          </a:prstGeom>
          <a:solidFill>
            <a:srgbClr val="C6D3E6"/>
          </a:solidFill>
          <a:ln/>
        </p:spPr>
      </p:sp>
      <p:sp>
        <p:nvSpPr>
          <p:cNvPr id="14" name="Text 11"/>
          <p:cNvSpPr/>
          <p:nvPr/>
        </p:nvSpPr>
        <p:spPr>
          <a:xfrm>
            <a:off x="9281160" y="205740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9,800万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260604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YouTube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2606040" y="2606040"/>
            <a:ext cx="4951196" cy="402336"/>
          </a:xfrm>
          <a:prstGeom prst="roundRect">
            <a:avLst>
              <a:gd name="adj" fmla="val 13636"/>
            </a:avLst>
          </a:prstGeom>
          <a:solidFill>
            <a:srgbClr val="C6D3E6"/>
          </a:solidFill>
          <a:ln/>
        </p:spPr>
      </p:sp>
      <p:sp>
        <p:nvSpPr>
          <p:cNvPr id="17" name="Text 14"/>
          <p:cNvSpPr/>
          <p:nvPr/>
        </p:nvSpPr>
        <p:spPr>
          <a:xfrm>
            <a:off x="7648676" y="260604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7,370万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48640" y="315468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X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2606040" y="3154680"/>
            <a:ext cx="4568268" cy="402336"/>
          </a:xfrm>
          <a:prstGeom prst="roundRect">
            <a:avLst>
              <a:gd name="adj" fmla="val 13636"/>
            </a:avLst>
          </a:prstGeom>
          <a:solidFill>
            <a:srgbClr val="C6D3E6"/>
          </a:solidFill>
          <a:ln/>
        </p:spPr>
      </p:sp>
      <p:sp>
        <p:nvSpPr>
          <p:cNvPr id="20" name="Text 17"/>
          <p:cNvSpPr/>
          <p:nvPr/>
        </p:nvSpPr>
        <p:spPr>
          <a:xfrm>
            <a:off x="7265748" y="315468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6,800万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370332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Instagram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2606040" y="3703320"/>
            <a:ext cx="4433907" cy="402336"/>
          </a:xfrm>
          <a:prstGeom prst="roundRect">
            <a:avLst>
              <a:gd name="adj" fmla="val 13636"/>
            </a:avLst>
          </a:prstGeom>
          <a:solidFill>
            <a:srgbClr val="C6D3E6"/>
          </a:solidFill>
          <a:ln/>
        </p:spPr>
      </p:sp>
      <p:sp>
        <p:nvSpPr>
          <p:cNvPr id="23" name="Text 20"/>
          <p:cNvSpPr/>
          <p:nvPr/>
        </p:nvSpPr>
        <p:spPr>
          <a:xfrm>
            <a:off x="7131387" y="370332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6,600万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48640" y="425196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Googleマップ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2606040" y="4251960"/>
            <a:ext cx="3157479" cy="402336"/>
          </a:xfrm>
          <a:prstGeom prst="roundRect">
            <a:avLst>
              <a:gd name="adj" fmla="val 13636"/>
            </a:avLst>
          </a:prstGeom>
          <a:solidFill>
            <a:srgbClr val="1B6FDE"/>
          </a:solidFill>
          <a:ln/>
        </p:spPr>
      </p:sp>
      <p:sp>
        <p:nvSpPr>
          <p:cNvPr id="26" name="Shape 23"/>
          <p:cNvSpPr/>
          <p:nvPr/>
        </p:nvSpPr>
        <p:spPr>
          <a:xfrm>
            <a:off x="2551176" y="4197096"/>
            <a:ext cx="3267207" cy="512064"/>
          </a:xfrm>
          <a:prstGeom prst="roundRect">
            <a:avLst>
              <a:gd name="adj" fmla="val 14286"/>
            </a:avLst>
          </a:prstGeom>
          <a:ln w="25400">
            <a:solidFill>
              <a:srgbClr val="E5484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54959" y="425196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548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4,700万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548640" y="480060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TikTok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2606040" y="4800600"/>
            <a:ext cx="2821577" cy="402336"/>
          </a:xfrm>
          <a:prstGeom prst="roundRect">
            <a:avLst>
              <a:gd name="adj" fmla="val 13636"/>
            </a:avLst>
          </a:prstGeom>
          <a:solidFill>
            <a:srgbClr val="C6D3E6"/>
          </a:solidFill>
          <a:ln/>
        </p:spPr>
      </p:sp>
      <p:sp>
        <p:nvSpPr>
          <p:cNvPr id="30" name="Text 27"/>
          <p:cNvSpPr/>
          <p:nvPr/>
        </p:nvSpPr>
        <p:spPr>
          <a:xfrm>
            <a:off x="5519057" y="480060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4,200万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48640" y="534924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Facebook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2606040" y="5349240"/>
            <a:ext cx="1746691" cy="402336"/>
          </a:xfrm>
          <a:prstGeom prst="roundRect">
            <a:avLst>
              <a:gd name="adj" fmla="val 13636"/>
            </a:avLst>
          </a:prstGeom>
          <a:solidFill>
            <a:srgbClr val="C6D3E6"/>
          </a:solidFill>
          <a:ln/>
        </p:spPr>
      </p:sp>
      <p:sp>
        <p:nvSpPr>
          <p:cNvPr id="33" name="Text 30"/>
          <p:cNvSpPr/>
          <p:nvPr/>
        </p:nvSpPr>
        <p:spPr>
          <a:xfrm>
            <a:off x="4444171" y="534924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2,600万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548640" y="6455664"/>
            <a:ext cx="11091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出典：各社公表値・各種調査（時点・基準が異なり順位は目安）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Why now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マップが、集客の主戦場に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7" name="Image 0" descr="/Users/toukairintakeaki/CantikVault/サービス資料/_build/raku_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6966" y="457200"/>
            <a:ext cx="140307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運営：株式会社cantik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10" name="Text 7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13716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「近くの○○」で探し、</a:t>
            </a:r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地図で見つけて、その日に来店</a:t>
            </a:r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。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99516" y="2286000"/>
            <a:ext cx="338328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28116" y="2542032"/>
            <a:ext cx="2926080" cy="475488"/>
          </a:xfrm>
          <a:prstGeom prst="roundRect">
            <a:avLst>
              <a:gd name="adj" fmla="val 19231"/>
            </a:avLst>
          </a:prstGeom>
          <a:solidFill>
            <a:srgbClr val="EAF2FD"/>
          </a:solidFill>
          <a:ln/>
        </p:spPr>
      </p:sp>
      <p:sp>
        <p:nvSpPr>
          <p:cNvPr id="14" name="Text 11"/>
          <p:cNvSpPr/>
          <p:nvPr/>
        </p:nvSpPr>
        <p:spPr>
          <a:xfrm>
            <a:off x="928116" y="254203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マップ月間利用者（国内）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99516" y="315468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4,700</a:t>
            </a:r>
            <a:pPr algn="ctr" indent="0" marL="0">
              <a:buNone/>
            </a:pPr>
            <a:r>
              <a:rPr lang="en-US" sz="2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万人</a:t>
            </a:r>
            <a:endParaRPr lang="en-US" sz="4400" dirty="0"/>
          </a:p>
        </p:txBody>
      </p:sp>
      <p:sp>
        <p:nvSpPr>
          <p:cNvPr id="16" name="Shape 13"/>
          <p:cNvSpPr/>
          <p:nvPr/>
        </p:nvSpPr>
        <p:spPr>
          <a:xfrm>
            <a:off x="4402836" y="2286000"/>
            <a:ext cx="338328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31436" y="2542032"/>
            <a:ext cx="2926080" cy="475488"/>
          </a:xfrm>
          <a:prstGeom prst="roundRect">
            <a:avLst>
              <a:gd name="adj" fmla="val 19231"/>
            </a:avLst>
          </a:prstGeom>
          <a:solidFill>
            <a:srgbClr val="EAF2FD"/>
          </a:solidFill>
          <a:ln/>
        </p:spPr>
      </p:sp>
      <p:sp>
        <p:nvSpPr>
          <p:cNvPr id="18" name="Text 15"/>
          <p:cNvSpPr/>
          <p:nvPr/>
        </p:nvSpPr>
        <p:spPr>
          <a:xfrm>
            <a:off x="4631436" y="254203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反応者の来店率（24h以内）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402836" y="315468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76</a:t>
            </a:r>
            <a:pPr algn="ctr" indent="0" marL="0">
              <a:buNone/>
            </a:pPr>
            <a:r>
              <a:rPr lang="en-US" sz="2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%</a:t>
            </a:r>
            <a:endParaRPr lang="en-US" sz="5200" dirty="0"/>
          </a:p>
        </p:txBody>
      </p:sp>
      <p:sp>
        <p:nvSpPr>
          <p:cNvPr id="20" name="Shape 17"/>
          <p:cNvSpPr/>
          <p:nvPr/>
        </p:nvSpPr>
        <p:spPr>
          <a:xfrm>
            <a:off x="8106156" y="2286000"/>
            <a:ext cx="338328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334756" y="2542032"/>
            <a:ext cx="2926080" cy="475488"/>
          </a:xfrm>
          <a:prstGeom prst="roundRect">
            <a:avLst>
              <a:gd name="adj" fmla="val 19231"/>
            </a:avLst>
          </a:prstGeom>
          <a:solidFill>
            <a:srgbClr val="EAF2FD"/>
          </a:solidFill>
          <a:ln/>
        </p:spPr>
      </p:sp>
      <p:sp>
        <p:nvSpPr>
          <p:cNvPr id="22" name="Text 19"/>
          <p:cNvSpPr/>
          <p:nvPr/>
        </p:nvSpPr>
        <p:spPr>
          <a:xfrm>
            <a:off x="8334756" y="254203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検索シェア（Google系）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106156" y="315468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約90</a:t>
            </a:r>
            <a:pPr algn="ctr" indent="0" marL="0">
              <a:buNone/>
            </a:pPr>
            <a:r>
              <a:rPr lang="en-US" sz="2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%</a:t>
            </a:r>
            <a:endParaRPr lang="en-US" sz="5200" dirty="0"/>
          </a:p>
        </p:txBody>
      </p:sp>
      <p:sp>
        <p:nvSpPr>
          <p:cNvPr id="24" name="Text 21"/>
          <p:cNvSpPr/>
          <p:nvPr/>
        </p:nvSpPr>
        <p:spPr>
          <a:xfrm>
            <a:off x="731520" y="5120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マップ上で見つからないお店は、来店候補にすら入りません。だからこそ、マップ対策（MEO）が大切です。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48640" y="6455664"/>
            <a:ext cx="11091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参照：検索シェア=StatCounter 2025／来店率=Think with Google／利用者数=各社公表値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61621" y="365760"/>
            <a:ext cx="1906707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pic>
        <p:nvPicPr>
          <p:cNvPr id="3" name="Image 0" descr="/Users/toukairintakeaki/CantikVault/サービス資料/_build/raku_logo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9637" y="457200"/>
            <a:ext cx="1650675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22876" y="138988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BBD4F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CHAPTER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618988" y="1783080"/>
            <a:ext cx="950976" cy="950976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18988" y="1783080"/>
            <a:ext cx="950976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297180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MEOとは・順位の仕組み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914400" y="40690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6E4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何をすれば、マップ上位に表示されるのか。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D3F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運営：株式会社cantik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About MEO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MEO対策とは何か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7" name="Image 0" descr="/Users/toukairintakeaki/CantikVault/サービス資料/_build/raku_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6966" y="457200"/>
            <a:ext cx="140307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運営：株式会社cantik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10" name="Text 7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06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1298448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「地域名＋業種」検索で、</a:t>
            </a:r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Googleマップ上位3枠に表示</a:t>
            </a:r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させる対策です。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56716" y="2377440"/>
            <a:ext cx="4663440" cy="2743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68196" y="2834640"/>
            <a:ext cx="1097280" cy="1097280"/>
          </a:xfrm>
          <a:prstGeom prst="roundRect">
            <a:avLst>
              <a:gd name="adj" fmla="val 10833"/>
            </a:avLst>
          </a:prstGeom>
          <a:solidFill>
            <a:srgbClr val="EAF2F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516" y="310896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48356" y="28803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内部対策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1613916" y="40233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プロフィールの情報・投稿・写真・カテゴリを整える＝“お店の情報を正しく充実させる”対策。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368796" y="2377440"/>
            <a:ext cx="4663440" cy="2743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780276" y="2834640"/>
            <a:ext cx="1097280" cy="1097280"/>
          </a:xfrm>
          <a:prstGeom prst="roundRect">
            <a:avLst>
              <a:gd name="adj" fmla="val 10833"/>
            </a:avLst>
          </a:prstGeom>
          <a:solidFill>
            <a:srgbClr val="EAF2F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596" y="310896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60436" y="28803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外部対策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6825996" y="40233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他サイトでの紹介（サイテーション＝店名や住所の記載）・口コミなど“外からの評価”を強化。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820156" y="3108960"/>
            <a:ext cx="548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3CA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</a:t>
            </a:r>
            <a:endParaRPr lang="en-US" sz="3000" dirty="0"/>
          </a:p>
        </p:txBody>
      </p:sp>
      <p:sp>
        <p:nvSpPr>
          <p:cNvPr id="23" name="Text 18"/>
          <p:cNvSpPr/>
          <p:nvPr/>
        </p:nvSpPr>
        <p:spPr>
          <a:xfrm>
            <a:off x="731520" y="557784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上位3枠は、今まさにお店を探すお客様の目に最初に触れる場所。電話・経路・来店に直結します。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Market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MEO市場は、伸び続けている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7" name="Image 0" descr="/Users/toukairintakeaki/CantikVault/サービス資料/_build/raku_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6966" y="457200"/>
            <a:ext cx="140307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運営：株式会社cantik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10" name="Text 7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07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1298448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市場規模は </a:t>
            </a:r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6年で約2倍</a:t>
            </a:r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へ拡大が見込まれます。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822960" y="5486400"/>
            <a:ext cx="6766560" cy="0"/>
          </a:xfrm>
          <a:prstGeom prst="line">
            <a:avLst/>
          </a:prstGeom>
          <a:noFill/>
          <a:ln w="19050">
            <a:solidFill>
              <a:srgbClr val="E4E8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77102" y="3857513"/>
            <a:ext cx="658368" cy="1628887"/>
          </a:xfrm>
          <a:prstGeom prst="roundRect">
            <a:avLst>
              <a:gd name="adj" fmla="val 8333"/>
            </a:avLst>
          </a:prstGeom>
          <a:solidFill>
            <a:srgbClr val="B6C2D4"/>
          </a:solidFill>
          <a:ln/>
        </p:spPr>
      </p:sp>
      <p:sp>
        <p:nvSpPr>
          <p:cNvPr id="14" name="Text 11"/>
          <p:cNvSpPr/>
          <p:nvPr/>
        </p:nvSpPr>
        <p:spPr>
          <a:xfrm>
            <a:off x="657062" y="3455177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48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158</a:t>
            </a:r>
            <a:pPr algn="ctr" indent="0" marL="0">
              <a:buNone/>
            </a:pPr>
            <a:r>
              <a:rPr lang="en-US" sz="1000" b="1" dirty="0">
                <a:solidFill>
                  <a:srgbClr val="E548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億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22960" y="5577840"/>
            <a:ext cx="966651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2022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943753" y="3527612"/>
            <a:ext cx="658368" cy="1958788"/>
          </a:xfrm>
          <a:prstGeom prst="roundRect">
            <a:avLst>
              <a:gd name="adj" fmla="val 8333"/>
            </a:avLst>
          </a:prstGeom>
          <a:solidFill>
            <a:srgbClr val="7FA6E4"/>
          </a:solidFill>
          <a:ln/>
        </p:spPr>
      </p:sp>
      <p:sp>
        <p:nvSpPr>
          <p:cNvPr id="17" name="Text 14"/>
          <p:cNvSpPr/>
          <p:nvPr/>
        </p:nvSpPr>
        <p:spPr>
          <a:xfrm>
            <a:off x="1623713" y="3125276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190</a:t>
            </a:r>
            <a:pPr algn="ctr" indent="0" marL="0">
              <a:buNone/>
            </a:pPr>
            <a:r>
              <a:rPr lang="en-US" sz="8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億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789611" y="5577840"/>
            <a:ext cx="966651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2023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910405" y="3280186"/>
            <a:ext cx="658368" cy="2206214"/>
          </a:xfrm>
          <a:prstGeom prst="roundRect">
            <a:avLst>
              <a:gd name="adj" fmla="val 8333"/>
            </a:avLst>
          </a:prstGeom>
          <a:solidFill>
            <a:srgbClr val="7FA6E4"/>
          </a:solidFill>
          <a:ln/>
        </p:spPr>
      </p:sp>
      <p:sp>
        <p:nvSpPr>
          <p:cNvPr id="20" name="Text 17"/>
          <p:cNvSpPr/>
          <p:nvPr/>
        </p:nvSpPr>
        <p:spPr>
          <a:xfrm>
            <a:off x="2590365" y="287785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214</a:t>
            </a:r>
            <a:pPr algn="ctr" indent="0" marL="0">
              <a:buNone/>
            </a:pPr>
            <a:r>
              <a:rPr lang="en-US" sz="8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億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756263" y="5577840"/>
            <a:ext cx="966651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2024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877056" y="3063688"/>
            <a:ext cx="658368" cy="2422712"/>
          </a:xfrm>
          <a:prstGeom prst="roundRect">
            <a:avLst>
              <a:gd name="adj" fmla="val 8333"/>
            </a:avLst>
          </a:prstGeom>
          <a:solidFill>
            <a:srgbClr val="7FA6E4"/>
          </a:solidFill>
          <a:ln/>
        </p:spPr>
      </p:sp>
      <p:sp>
        <p:nvSpPr>
          <p:cNvPr id="23" name="Text 20"/>
          <p:cNvSpPr/>
          <p:nvPr/>
        </p:nvSpPr>
        <p:spPr>
          <a:xfrm>
            <a:off x="3557016" y="2661352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235</a:t>
            </a:r>
            <a:pPr algn="ctr" indent="0" marL="0">
              <a:buNone/>
            </a:pPr>
            <a:r>
              <a:rPr lang="en-US" sz="8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億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722914" y="5577840"/>
            <a:ext cx="966651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2025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843707" y="2805953"/>
            <a:ext cx="658368" cy="2680447"/>
          </a:xfrm>
          <a:prstGeom prst="roundRect">
            <a:avLst>
              <a:gd name="adj" fmla="val 8333"/>
            </a:avLst>
          </a:prstGeom>
          <a:solidFill>
            <a:srgbClr val="7FA6E4"/>
          </a:solidFill>
          <a:ln/>
        </p:spPr>
      </p:sp>
      <p:sp>
        <p:nvSpPr>
          <p:cNvPr id="26" name="Text 23"/>
          <p:cNvSpPr/>
          <p:nvPr/>
        </p:nvSpPr>
        <p:spPr>
          <a:xfrm>
            <a:off x="4523667" y="2403617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260</a:t>
            </a:r>
            <a:pPr algn="ctr" indent="0" marL="0">
              <a:buNone/>
            </a:pPr>
            <a:r>
              <a:rPr lang="en-US" sz="8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億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689566" y="5577840"/>
            <a:ext cx="966651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2026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810359" y="2558527"/>
            <a:ext cx="658368" cy="2927873"/>
          </a:xfrm>
          <a:prstGeom prst="roundRect">
            <a:avLst>
              <a:gd name="adj" fmla="val 8333"/>
            </a:avLst>
          </a:prstGeom>
          <a:solidFill>
            <a:srgbClr val="7FA6E4"/>
          </a:solidFill>
          <a:ln/>
        </p:spPr>
      </p:sp>
      <p:sp>
        <p:nvSpPr>
          <p:cNvPr id="29" name="Text 26"/>
          <p:cNvSpPr/>
          <p:nvPr/>
        </p:nvSpPr>
        <p:spPr>
          <a:xfrm>
            <a:off x="5490319" y="2156191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284</a:t>
            </a:r>
            <a:pPr algn="ctr" indent="0" marL="0">
              <a:buNone/>
            </a:pPr>
            <a:r>
              <a:rPr lang="en-US" sz="8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億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656217" y="5577840"/>
            <a:ext cx="966651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2027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777010" y="2331720"/>
            <a:ext cx="658368" cy="3154680"/>
          </a:xfrm>
          <a:prstGeom prst="roundRect">
            <a:avLst>
              <a:gd name="adj" fmla="val 8333"/>
            </a:avLst>
          </a:prstGeom>
          <a:solidFill>
            <a:srgbClr val="1B6FDE"/>
          </a:solidFill>
          <a:ln/>
        </p:spPr>
      </p:sp>
      <p:sp>
        <p:nvSpPr>
          <p:cNvPr id="32" name="Text 29"/>
          <p:cNvSpPr/>
          <p:nvPr/>
        </p:nvSpPr>
        <p:spPr>
          <a:xfrm>
            <a:off x="6456970" y="1929384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48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306</a:t>
            </a:r>
            <a:pPr algn="ctr" indent="0" marL="0">
              <a:buNone/>
            </a:pPr>
            <a:r>
              <a:rPr lang="en-US" sz="1000" b="1" dirty="0">
                <a:solidFill>
                  <a:srgbClr val="E548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億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622869" y="5577840"/>
            <a:ext cx="966651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2028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909560" y="2377440"/>
            <a:ext cx="3703320" cy="1737360"/>
          </a:xfrm>
          <a:prstGeom prst="roundRect">
            <a:avLst>
              <a:gd name="adj" fmla="val 8421"/>
            </a:avLst>
          </a:prstGeom>
          <a:solidFill>
            <a:srgbClr val="1B6FDE"/>
          </a:solidFill>
          <a:ln/>
        </p:spPr>
      </p:sp>
      <p:sp>
        <p:nvSpPr>
          <p:cNvPr id="35" name="Text 32"/>
          <p:cNvSpPr/>
          <p:nvPr/>
        </p:nvSpPr>
        <p:spPr>
          <a:xfrm>
            <a:off x="7909560" y="260604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FE0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市場の成長見込み（6年）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909560" y="297180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約2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倍</a:t>
            </a:r>
            <a:endParaRPr lang="en-US" sz="5200" dirty="0"/>
          </a:p>
        </p:txBody>
      </p:sp>
      <p:sp>
        <p:nvSpPr>
          <p:cNvPr id="37" name="Text 34"/>
          <p:cNvSpPr/>
          <p:nvPr/>
        </p:nvSpPr>
        <p:spPr>
          <a:xfrm>
            <a:off x="7863840" y="4343400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2022年の158億円から2028年には306億円規模へ。早く始めるほど競合に差をつけられます。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548640" y="6455664"/>
            <a:ext cx="11091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出典：GMO TECH／デジタルインファクト共同調査「MEO市場規模推計」（2023年8月）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Ranking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MEOの順位は、こう決まる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7" name="Image 0" descr="/Users/toukairintakeaki/CantikVault/サービス資料/_build/raku_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6966" y="457200"/>
            <a:ext cx="140307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運営：株式会社cantik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10" name="Text 7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08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1298448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順位の </a:t>
            </a:r>
            <a:pPr algn="ctr"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約97%は、継続的な運用で対策できる</a:t>
            </a:r>
            <a:pPr algn="ctr"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要素です。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548640" y="2148840"/>
            <a:ext cx="3200400" cy="3886200"/>
          </a:xfrm>
          <a:prstGeom prst="roundRect">
            <a:avLst>
              <a:gd name="adj" fmla="val 4571"/>
            </a:avLst>
          </a:prstGeom>
          <a:solidFill>
            <a:srgbClr val="1B6FDE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FE0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運用で対策できる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48640" y="3246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97</a:t>
            </a:r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%</a:t>
            </a:r>
            <a:endParaRPr lang="en-US" sz="7800" dirty="0"/>
          </a:p>
        </p:txBody>
      </p:sp>
      <p:sp>
        <p:nvSpPr>
          <p:cNvPr id="15" name="Text 12"/>
          <p:cNvSpPr/>
          <p:nvPr/>
        </p:nvSpPr>
        <p:spPr>
          <a:xfrm>
            <a:off x="731520" y="466344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EAF2F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＝つまり、</a:t>
            </a:r>
            <a:endParaRPr lang="en-US" sz="13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EAF2F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“続けること”が命。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160520" y="224028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プロフィールの情報充実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223760" y="2322576"/>
            <a:ext cx="3200400" cy="237744"/>
          </a:xfrm>
          <a:prstGeom prst="roundRect">
            <a:avLst>
              <a:gd name="adj" fmla="val 19231"/>
            </a:avLst>
          </a:prstGeom>
          <a:solidFill>
            <a:srgbClr val="1B6FDE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0" y="2240280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32%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160520" y="2784348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リンク先ページの最適化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223760" y="2866644"/>
            <a:ext cx="1900238" cy="237744"/>
          </a:xfrm>
          <a:prstGeom prst="roundRect">
            <a:avLst>
              <a:gd name="adj" fmla="val 19231"/>
            </a:avLst>
          </a:prstGeom>
          <a:solidFill>
            <a:srgbClr val="1B6FDE"/>
          </a:solidFill>
          <a:ln/>
        </p:spPr>
      </p:sp>
      <p:sp>
        <p:nvSpPr>
          <p:cNvPr id="21" name="Text 18"/>
          <p:cNvSpPr/>
          <p:nvPr/>
        </p:nvSpPr>
        <p:spPr>
          <a:xfrm>
            <a:off x="9215438" y="2784348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19%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160520" y="3328416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口コミ・レビュー強化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223760" y="3410712"/>
            <a:ext cx="1600200" cy="237744"/>
          </a:xfrm>
          <a:prstGeom prst="roundRect">
            <a:avLst>
              <a:gd name="adj" fmla="val 19231"/>
            </a:avLst>
          </a:prstGeom>
          <a:solidFill>
            <a:srgbClr val="1B6FDE"/>
          </a:solidFill>
          <a:ln/>
        </p:spPr>
      </p:sp>
      <p:sp>
        <p:nvSpPr>
          <p:cNvPr id="24" name="Text 21"/>
          <p:cNvSpPr/>
          <p:nvPr/>
        </p:nvSpPr>
        <p:spPr>
          <a:xfrm>
            <a:off x="8915400" y="3328416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16%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60520" y="3872484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外部からの紹介・被リンク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223760" y="3954780"/>
            <a:ext cx="1500188" cy="237744"/>
          </a:xfrm>
          <a:prstGeom prst="roundRect">
            <a:avLst>
              <a:gd name="adj" fmla="val 19231"/>
            </a:avLst>
          </a:prstGeom>
          <a:solidFill>
            <a:srgbClr val="1B6FDE"/>
          </a:solidFill>
          <a:ln/>
        </p:spPr>
      </p:sp>
      <p:sp>
        <p:nvSpPr>
          <p:cNvPr id="27" name="Text 24"/>
          <p:cNvSpPr/>
          <p:nvPr/>
        </p:nvSpPr>
        <p:spPr>
          <a:xfrm>
            <a:off x="8815388" y="3872484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15%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160520" y="4416552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電話・経路などの反応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223760" y="4498848"/>
            <a:ext cx="800100" cy="237744"/>
          </a:xfrm>
          <a:prstGeom prst="roundRect">
            <a:avLst>
              <a:gd name="adj" fmla="val 19231"/>
            </a:avLst>
          </a:prstGeom>
          <a:solidFill>
            <a:srgbClr val="1B6FDE"/>
          </a:solidFill>
          <a:ln/>
        </p:spPr>
      </p:sp>
      <p:sp>
        <p:nvSpPr>
          <p:cNvPr id="30" name="Text 27"/>
          <p:cNvSpPr/>
          <p:nvPr/>
        </p:nvSpPr>
        <p:spPr>
          <a:xfrm>
            <a:off x="8115300" y="4416552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8%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4160520" y="496062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他サイトでの店名記載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7223760" y="5042916"/>
            <a:ext cx="700088" cy="237744"/>
          </a:xfrm>
          <a:prstGeom prst="roundRect">
            <a:avLst>
              <a:gd name="adj" fmla="val 19231"/>
            </a:avLst>
          </a:prstGeom>
          <a:solidFill>
            <a:srgbClr val="1B6FDE"/>
          </a:solidFill>
          <a:ln/>
        </p:spPr>
      </p:sp>
      <p:sp>
        <p:nvSpPr>
          <p:cNvPr id="33" name="Text 30"/>
          <p:cNvSpPr/>
          <p:nvPr/>
        </p:nvSpPr>
        <p:spPr>
          <a:xfrm>
            <a:off x="8015288" y="4960620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7%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4160520" y="5504688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位置・履歴（対象外）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7223760" y="5586984"/>
            <a:ext cx="300038" cy="237744"/>
          </a:xfrm>
          <a:prstGeom prst="roundRect">
            <a:avLst>
              <a:gd name="adj" fmla="val 19231"/>
            </a:avLst>
          </a:prstGeom>
          <a:solidFill>
            <a:srgbClr val="C3CAD6"/>
          </a:solidFill>
          <a:ln/>
        </p:spPr>
      </p:sp>
      <p:sp>
        <p:nvSpPr>
          <p:cNvPr id="36" name="Text 33"/>
          <p:cNvSpPr/>
          <p:nvPr/>
        </p:nvSpPr>
        <p:spPr>
          <a:xfrm>
            <a:off x="7615238" y="5504688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3%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548640" y="6455664"/>
            <a:ext cx="11091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参照：Whitespark／BrightLocal「Local Search Ranking Factors 2025」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Comparison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他の集客と、何が違う？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7" name="Image 0" descr="/Users/toukairintakeaki/CantikVault/サービス資料/_build/raku_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6966" y="457200"/>
            <a:ext cx="140307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運営：株式会社cantik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10" name="Text 7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09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1298448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MEOは </a:t>
            </a:r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「費用対効果」と「資産性」</a:t>
            </a:r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で他施策を上回ります。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971800" y="2011680"/>
            <a:ext cx="2064258" cy="548640"/>
          </a:xfrm>
          <a:prstGeom prst="roundRect">
            <a:avLst>
              <a:gd name="adj" fmla="val 13333"/>
            </a:avLst>
          </a:prstGeom>
          <a:solidFill>
            <a:srgbClr val="8A94A6"/>
          </a:solidFill>
          <a:ln/>
        </p:spPr>
      </p:sp>
      <p:sp>
        <p:nvSpPr>
          <p:cNvPr id="13" name="Text 10"/>
          <p:cNvSpPr/>
          <p:nvPr/>
        </p:nvSpPr>
        <p:spPr>
          <a:xfrm>
            <a:off x="2926080" y="2011680"/>
            <a:ext cx="21556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チラシ/ポスティング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127498" y="2011680"/>
            <a:ext cx="2064258" cy="548640"/>
          </a:xfrm>
          <a:prstGeom prst="roundRect">
            <a:avLst>
              <a:gd name="adj" fmla="val 13333"/>
            </a:avLst>
          </a:prstGeom>
          <a:solidFill>
            <a:srgbClr val="8A94A6"/>
          </a:solidFill>
          <a:ln/>
        </p:spPr>
      </p:sp>
      <p:sp>
        <p:nvSpPr>
          <p:cNvPr id="15" name="Text 12"/>
          <p:cNvSpPr/>
          <p:nvPr/>
        </p:nvSpPr>
        <p:spPr>
          <a:xfrm>
            <a:off x="5081778" y="2011680"/>
            <a:ext cx="21556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Web広告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283196" y="2011680"/>
            <a:ext cx="2064258" cy="548640"/>
          </a:xfrm>
          <a:prstGeom prst="roundRect">
            <a:avLst>
              <a:gd name="adj" fmla="val 13333"/>
            </a:avLst>
          </a:prstGeom>
          <a:solidFill>
            <a:srgbClr val="8A94A6"/>
          </a:solidFill>
          <a:ln/>
        </p:spPr>
      </p:sp>
      <p:sp>
        <p:nvSpPr>
          <p:cNvPr id="17" name="Text 14"/>
          <p:cNvSpPr/>
          <p:nvPr/>
        </p:nvSpPr>
        <p:spPr>
          <a:xfrm>
            <a:off x="7237476" y="2011680"/>
            <a:ext cx="21556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ポータルサイト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438894" y="2011680"/>
            <a:ext cx="2064258" cy="548640"/>
          </a:xfrm>
          <a:prstGeom prst="roundRect">
            <a:avLst>
              <a:gd name="adj" fmla="val 13333"/>
            </a:avLst>
          </a:prstGeom>
          <a:solidFill>
            <a:srgbClr val="1B6FDE"/>
          </a:solidFill>
          <a:ln/>
        </p:spPr>
      </p:sp>
      <p:sp>
        <p:nvSpPr>
          <p:cNvPr id="19" name="Text 16"/>
          <p:cNvSpPr/>
          <p:nvPr/>
        </p:nvSpPr>
        <p:spPr>
          <a:xfrm>
            <a:off x="9393174" y="2011680"/>
            <a:ext cx="21556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MEO対策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40080" y="2706624"/>
            <a:ext cx="2176272" cy="475488"/>
          </a:xfrm>
          <a:prstGeom prst="roundRect">
            <a:avLst>
              <a:gd name="adj" fmla="val 15385"/>
            </a:avLst>
          </a:prstGeom>
          <a:solidFill>
            <a:srgbClr val="EAF2FD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2670048"/>
            <a:ext cx="2011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費用感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926080" y="2670048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3〜15万円/回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081778" y="2670048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5〜100万円/月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237476" y="2670048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3〜50万円/月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393174" y="2670048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月9,800円〜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2926080" y="3273552"/>
            <a:ext cx="8622792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0080" y="3310128"/>
            <a:ext cx="2176272" cy="475488"/>
          </a:xfrm>
          <a:prstGeom prst="roundRect">
            <a:avLst>
              <a:gd name="adj" fmla="val 15385"/>
            </a:avLst>
          </a:prstGeom>
          <a:solidFill>
            <a:srgbClr val="EAF2FD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3273552"/>
            <a:ext cx="2011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即効性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2926080" y="3273552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081778" y="3273552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◎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237476" y="3273552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9393174" y="3273552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2926080" y="3877056"/>
            <a:ext cx="8622792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40080" y="3913632"/>
            <a:ext cx="2176272" cy="475488"/>
          </a:xfrm>
          <a:prstGeom prst="roundRect">
            <a:avLst>
              <a:gd name="adj" fmla="val 15385"/>
            </a:avLst>
          </a:prstGeom>
          <a:solidFill>
            <a:srgbClr val="EAF2FD"/>
          </a:solidFill>
          <a:ln/>
        </p:spPr>
      </p:sp>
      <p:sp>
        <p:nvSpPr>
          <p:cNvPr id="35" name="Text 32"/>
          <p:cNvSpPr/>
          <p:nvPr/>
        </p:nvSpPr>
        <p:spPr>
          <a:xfrm>
            <a:off x="731520" y="3877056"/>
            <a:ext cx="2011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費用対効果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2926080" y="3877056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5081778" y="3877056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7237476" y="3877056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9393174" y="3877056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◎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2926080" y="4480560"/>
            <a:ext cx="8622792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40080" y="4517136"/>
            <a:ext cx="2176272" cy="475488"/>
          </a:xfrm>
          <a:prstGeom prst="roundRect">
            <a:avLst>
              <a:gd name="adj" fmla="val 15385"/>
            </a:avLst>
          </a:prstGeom>
          <a:solidFill>
            <a:srgbClr val="EAF2FD"/>
          </a:solidFill>
          <a:ln/>
        </p:spPr>
      </p:sp>
      <p:sp>
        <p:nvSpPr>
          <p:cNvPr id="42" name="Text 39"/>
          <p:cNvSpPr/>
          <p:nvPr/>
        </p:nvSpPr>
        <p:spPr>
          <a:xfrm>
            <a:off x="731520" y="4480560"/>
            <a:ext cx="2011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来店意欲の高さ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2926080" y="4480560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5081778" y="4480560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7237476" y="4480560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9393174" y="4480560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◎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2926080" y="5084064"/>
            <a:ext cx="8622792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40080" y="5120640"/>
            <a:ext cx="2176272" cy="475488"/>
          </a:xfrm>
          <a:prstGeom prst="roundRect">
            <a:avLst>
              <a:gd name="adj" fmla="val 15385"/>
            </a:avLst>
          </a:prstGeom>
          <a:solidFill>
            <a:srgbClr val="EAF2FD"/>
          </a:solidFill>
          <a:ln/>
        </p:spPr>
      </p:sp>
      <p:sp>
        <p:nvSpPr>
          <p:cNvPr id="49" name="Text 46"/>
          <p:cNvSpPr/>
          <p:nvPr/>
        </p:nvSpPr>
        <p:spPr>
          <a:xfrm>
            <a:off x="731520" y="5084064"/>
            <a:ext cx="2011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資産として残る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2926080" y="5084064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5081778" y="5084064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7237476" y="5084064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9393174" y="5084064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◎</a:t>
            </a:r>
            <a:endParaRPr lang="en-US" sz="1400" dirty="0"/>
          </a:p>
        </p:txBody>
      </p:sp>
      <p:sp>
        <p:nvSpPr>
          <p:cNvPr id="54" name="Shape 51"/>
          <p:cNvSpPr/>
          <p:nvPr/>
        </p:nvSpPr>
        <p:spPr>
          <a:xfrm>
            <a:off x="9438894" y="2633472"/>
            <a:ext cx="2064258" cy="3081528"/>
          </a:xfrm>
          <a:prstGeom prst="roundRect">
            <a:avLst>
              <a:gd name="adj" fmla="val 3544"/>
            </a:avLst>
          </a:prstGeom>
          <a:ln w="19050">
            <a:solidFill>
              <a:srgbClr val="CFE0F8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4008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※他施策の金額は一般的な相場目安。MEOはラクラクMEOの月額（税別）。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61621" y="365760"/>
            <a:ext cx="1906707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pic>
        <p:nvPicPr>
          <p:cNvPr id="3" name="Image 0" descr="/Users/toukairintakeaki/CantikVault/サービス資料/_build/raku_logo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9637" y="457200"/>
            <a:ext cx="1650675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22876" y="138988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BBD4F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CHAPTER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618988" y="1783080"/>
            <a:ext cx="950976" cy="950976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18988" y="1783080"/>
            <a:ext cx="950976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297180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ラクラクMEOが、選ばれる理由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914400" y="40690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6E4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AIが働くから、安い。人が見るから、伸びる。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D3F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運営：株式会社cantik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Difficulty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自分でやるのは、大変です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7" name="Image 0" descr="/Users/toukairintakeaki/CantikVault/サービス資料/_build/raku_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6966" y="457200"/>
            <a:ext cx="140307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運営：株式会社cantik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10" name="Text 7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1298448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MEOは「登録して終わり」ではなく、</a:t>
            </a:r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続けることが成果を左右</a:t>
            </a:r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します。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2194560"/>
            <a:ext cx="2553462" cy="3200400"/>
          </a:xfrm>
          <a:prstGeom prst="roundRect">
            <a:avLst>
              <a:gd name="adj" fmla="val 573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95019" y="2578608"/>
            <a:ext cx="1060704" cy="1060704"/>
          </a:xfrm>
          <a:prstGeom prst="roundRect">
            <a:avLst>
              <a:gd name="adj" fmla="val 11207"/>
            </a:avLst>
          </a:prstGeom>
          <a:solidFill>
            <a:srgbClr val="EAF2F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195" y="2843784"/>
            <a:ext cx="530352" cy="5303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58368" y="3822192"/>
            <a:ext cx="233400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仕組みが複雑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86384" y="4389120"/>
            <a:ext cx="207797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順位の基準は非公開で頻繁に変わる。自己流では順位が安定しません。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394710" y="2194560"/>
            <a:ext cx="2553462" cy="3200400"/>
          </a:xfrm>
          <a:prstGeom prst="roundRect">
            <a:avLst>
              <a:gd name="adj" fmla="val 573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141089" y="2578608"/>
            <a:ext cx="1060704" cy="1060704"/>
          </a:xfrm>
          <a:prstGeom prst="roundRect">
            <a:avLst>
              <a:gd name="adj" fmla="val 11207"/>
            </a:avLst>
          </a:prstGeom>
          <a:solidFill>
            <a:srgbClr val="EAF2F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265" y="2843784"/>
            <a:ext cx="530352" cy="5303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504438" y="3822192"/>
            <a:ext cx="233400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続ける手間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3632454" y="4389120"/>
            <a:ext cx="207797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投稿・写真更新・口コミ返信を継続。本業の片手間では止まりがち。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240780" y="2194560"/>
            <a:ext cx="2553462" cy="3200400"/>
          </a:xfrm>
          <a:prstGeom prst="roundRect">
            <a:avLst>
              <a:gd name="adj" fmla="val 573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987159" y="2578608"/>
            <a:ext cx="1060704" cy="1060704"/>
          </a:xfrm>
          <a:prstGeom prst="roundRect">
            <a:avLst>
              <a:gd name="adj" fmla="val 11207"/>
            </a:avLst>
          </a:prstGeom>
          <a:solidFill>
            <a:srgbClr val="EAF2F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2335" y="2843784"/>
            <a:ext cx="530352" cy="5303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50508" y="3822192"/>
            <a:ext cx="233400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スキルが必要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478524" y="4389120"/>
            <a:ext cx="207797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伝わる写真・キーワードを盛った文章には、制作のコツが要ります。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9086850" y="2194560"/>
            <a:ext cx="2553462" cy="3200400"/>
          </a:xfrm>
          <a:prstGeom prst="roundRect">
            <a:avLst>
              <a:gd name="adj" fmla="val 573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9833229" y="2578608"/>
            <a:ext cx="1060704" cy="1060704"/>
          </a:xfrm>
          <a:prstGeom prst="roundRect">
            <a:avLst>
              <a:gd name="adj" fmla="val 11207"/>
            </a:avLst>
          </a:prstGeom>
          <a:solidFill>
            <a:srgbClr val="EAF2FD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8405" y="2843784"/>
            <a:ext cx="530352" cy="53035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196578" y="3822192"/>
            <a:ext cx="233400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効果測定の知識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9324594" y="4389120"/>
            <a:ext cx="207797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順位・反応を計測し改善。数字を読む力がないと打ち手が定まりません。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731520" y="580644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だから、その手間もスキルも </a:t>
            </a:r>
            <a:pPr algn="ctr" indent="0" marL="0">
              <a:buNone/>
            </a:pPr>
            <a:r>
              <a:rPr lang="en-US" sz="1600" b="1" dirty="0">
                <a:solidFill>
                  <a:srgbClr val="E548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AIにおまかせ</a:t>
            </a:r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が、いちばんラク。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Why affordable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なぜ、この価格で対策できるのか？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7" name="Image 0" descr="/Users/toukairintakeaki/CantikVault/サービス資料/_build/raku_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6966" y="457200"/>
            <a:ext cx="140307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運営：株式会社cantik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10" name="Text 7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128016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答えは、</a:t>
            </a:r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AIで運用を自動化</a:t>
            </a:r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したから。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40080" y="2148840"/>
            <a:ext cx="4572000" cy="2331720"/>
          </a:xfrm>
          <a:prstGeom prst="roundRect">
            <a:avLst>
              <a:gd name="adj" fmla="val 6275"/>
            </a:avLst>
          </a:prstGeom>
          <a:solidFill>
            <a:srgbClr val="F5F7FA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4048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A94A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従来のMEO運用代行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914400" y="29718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投稿・口コミ返信・写真・レポートを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すべて人が手作業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2960" y="37490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人件費がかさみ </a:t>
            </a:r>
            <a:pPr algn="ctr" indent="0" marL="0">
              <a:buNone/>
            </a:pPr>
            <a:r>
              <a:rPr lang="en-US" sz="2000" b="1" dirty="0">
                <a:solidFill>
                  <a:srgbClr val="E548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月3〜5万円</a:t>
            </a:r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が当たり前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257800" y="2148840"/>
            <a:ext cx="16916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</a:t>
            </a:r>
            <a:endParaRPr lang="en-US" sz="3400" dirty="0"/>
          </a:p>
        </p:txBody>
      </p:sp>
      <p:sp>
        <p:nvSpPr>
          <p:cNvPr id="17" name="Shape 14"/>
          <p:cNvSpPr/>
          <p:nvPr/>
        </p:nvSpPr>
        <p:spPr>
          <a:xfrm>
            <a:off x="6949440" y="2148840"/>
            <a:ext cx="4599432" cy="2331720"/>
          </a:xfrm>
          <a:prstGeom prst="roundRect">
            <a:avLst>
              <a:gd name="adj" fmla="val 6275"/>
            </a:avLst>
          </a:prstGeom>
          <a:solidFill>
            <a:srgbClr val="1B6FDE"/>
          </a:solidFill>
          <a:ln/>
        </p:spPr>
      </p:sp>
      <p:sp>
        <p:nvSpPr>
          <p:cNvPr id="18" name="Text 15"/>
          <p:cNvSpPr/>
          <p:nvPr/>
        </p:nvSpPr>
        <p:spPr>
          <a:xfrm>
            <a:off x="6949440" y="2404872"/>
            <a:ext cx="4599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ラクラクMEO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7223760" y="2971800"/>
            <a:ext cx="40507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7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これらをAIが自動化。人は“監修”に集中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132320" y="3703320"/>
            <a:ext cx="4233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7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だから </a:t>
            </a:r>
            <a:pPr algn="ctr" indent="0" marL="0">
              <a:buNone/>
            </a:pPr>
            <a:r>
              <a:rPr lang="en-US" sz="2000" b="1" dirty="0">
                <a:solidFill>
                  <a:srgbClr val="FFE08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業界最安級</a:t>
            </a:r>
            <a:pPr algn="ctr" indent="0" marL="0">
              <a:buNone/>
            </a:pPr>
            <a:r>
              <a:rPr lang="en-US" sz="1300" dirty="0">
                <a:solidFill>
                  <a:srgbClr val="DCE7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（従来の約1/3）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008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AIがやること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" y="5074920"/>
            <a:ext cx="2615184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86384" y="5202936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EAF2FD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" y="5317236"/>
            <a:ext cx="228600" cy="2286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353312" y="5074920"/>
            <a:ext cx="1792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投稿作成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3511296" y="5074920"/>
            <a:ext cx="2615184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657600" y="5202936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EAF2FD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0" y="5317236"/>
            <a:ext cx="228600" cy="2286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224528" y="5074920"/>
            <a:ext cx="1792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口コミ返信の下書き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6382512" y="5074920"/>
            <a:ext cx="2615184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528816" y="5202936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EAF2FD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5317236"/>
            <a:ext cx="228600" cy="2286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095744" y="5074920"/>
            <a:ext cx="1792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順位・競合分析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9253728" y="5074920"/>
            <a:ext cx="2615184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9400032" y="5202936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EAF2FD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4332" y="5317236"/>
            <a:ext cx="228600" cy="22860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966960" y="5074920"/>
            <a:ext cx="1792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レポート生成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731520" y="5943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AIが働くから、安い。</a:t>
            </a:r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人が見るから、伸びる。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Know-how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カンタンなのに、成果が出る理由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7" name="Image 0" descr="/Users/toukairintakeaki/CantikVault/サービス資料/_build/raku_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6966" y="457200"/>
            <a:ext cx="140307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運営：株式会社cantik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10" name="Text 7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1298448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ツールは同じでも、</a:t>
            </a:r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“中身のノウハウ”が違う</a:t>
            </a:r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。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40080" y="2148840"/>
            <a:ext cx="4572000" cy="1691640"/>
          </a:xfrm>
          <a:prstGeom prst="roundRect">
            <a:avLst>
              <a:gd name="adj" fmla="val 8649"/>
            </a:avLst>
          </a:prstGeom>
          <a:solidFill>
            <a:srgbClr val="F5F7FA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377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94A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素人が自己流で触ると…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4400" y="2862072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同じGoogleビジネスプロフィールでも、</a:t>
            </a:r>
            <a:endParaRPr lang="en-US" sz="12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何をどう直せばいいか分からず成果は出にくい。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257800" y="2148840"/>
            <a:ext cx="16916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Shape 13"/>
          <p:cNvSpPr/>
          <p:nvPr/>
        </p:nvSpPr>
        <p:spPr>
          <a:xfrm>
            <a:off x="6949440" y="2148840"/>
            <a:ext cx="4599432" cy="1691640"/>
          </a:xfrm>
          <a:prstGeom prst="roundRect">
            <a:avLst>
              <a:gd name="adj" fmla="val 8649"/>
            </a:avLst>
          </a:prstGeom>
          <a:solidFill>
            <a:srgbClr val="1B6FDE"/>
          </a:solidFill>
          <a:ln/>
        </p:spPr>
      </p:sp>
      <p:sp>
        <p:nvSpPr>
          <p:cNvPr id="17" name="Text 14"/>
          <p:cNvSpPr/>
          <p:nvPr/>
        </p:nvSpPr>
        <p:spPr>
          <a:xfrm>
            <a:off x="6949440" y="2377440"/>
            <a:ext cx="4599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ラクラクMEOのAIは違う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223760" y="2862072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CE7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cantikが積み上げた運用ノウハウを搭載。</a:t>
            </a:r>
            <a:endParaRPr lang="en-US" sz="12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CE7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AIが“正解の型”で動くから、成果につながる。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4008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AIに組み込まれた、cantikの運用ノウハウ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40080" y="4526280"/>
            <a:ext cx="261518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655064" y="4681728"/>
            <a:ext cx="585216" cy="585216"/>
          </a:xfrm>
          <a:prstGeom prst="roundRect">
            <a:avLst>
              <a:gd name="adj" fmla="val 20313"/>
            </a:avLst>
          </a:prstGeom>
          <a:solidFill>
            <a:srgbClr val="EAF2FD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368" y="4828032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31520" y="5138928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勝ちキーワードの設計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511296" y="4526280"/>
            <a:ext cx="261518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26280" y="4681728"/>
            <a:ext cx="585216" cy="585216"/>
          </a:xfrm>
          <a:prstGeom prst="roundRect">
            <a:avLst>
              <a:gd name="adj" fmla="val 20313"/>
            </a:avLst>
          </a:prstGeom>
          <a:solidFill>
            <a:srgbClr val="EAF2FD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584" y="4828032"/>
            <a:ext cx="292608" cy="29260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602736" y="5138928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伸びる投稿の型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382512" y="4526280"/>
            <a:ext cx="261518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397496" y="4681728"/>
            <a:ext cx="585216" cy="585216"/>
          </a:xfrm>
          <a:prstGeom prst="roundRect">
            <a:avLst>
              <a:gd name="adj" fmla="val 20313"/>
            </a:avLst>
          </a:prstGeom>
          <a:solidFill>
            <a:srgbClr val="EAF2F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4828032"/>
            <a:ext cx="292608" cy="29260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473952" y="5138928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口コミ返信の型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9253728" y="4526280"/>
            <a:ext cx="261518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10268712" y="4681728"/>
            <a:ext cx="585216" cy="585216"/>
          </a:xfrm>
          <a:prstGeom prst="roundRect">
            <a:avLst>
              <a:gd name="adj" fmla="val 20313"/>
            </a:avLst>
          </a:prstGeom>
          <a:solidFill>
            <a:srgbClr val="EAF2FD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5016" y="4828032"/>
            <a:ext cx="292608" cy="29260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345168" y="5138928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順位改善の判断基準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731520" y="5943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あなたの手間はゼロ。</a:t>
            </a:r>
            <a:pPr algn="ctr" indent="0" marL="0">
              <a:buNone/>
            </a:pPr>
            <a:r>
              <a:rPr lang="en-US" sz="15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でも、裏では積み上げたノウハウが動いています。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Service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サービス内容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7" name="Image 0" descr="/Users/toukairintakeaki/CantikVault/サービス資料/_build/raku_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6966" y="457200"/>
            <a:ext cx="140307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運営：株式会社cantik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10" name="Text 7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13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1298448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すべて </a:t>
            </a:r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AIが作成、最後は人が監修</a:t>
            </a:r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。放置型ではありません。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2194560"/>
            <a:ext cx="2553462" cy="3200400"/>
          </a:xfrm>
          <a:prstGeom prst="roundRect">
            <a:avLst>
              <a:gd name="adj" fmla="val 573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95019" y="2578608"/>
            <a:ext cx="1060704" cy="1060704"/>
          </a:xfrm>
          <a:prstGeom prst="roundRect">
            <a:avLst>
              <a:gd name="adj" fmla="val 11207"/>
            </a:avLst>
          </a:prstGeom>
          <a:solidFill>
            <a:srgbClr val="EAF2F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195" y="2843784"/>
            <a:ext cx="530352" cy="5303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58368" y="3822192"/>
            <a:ext cx="233400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内部対策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86384" y="4389120"/>
            <a:ext cx="207797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プロフィール最適化・投稿・写真整備。AIが作成→人が確認。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394710" y="2194560"/>
            <a:ext cx="2553462" cy="3200400"/>
          </a:xfrm>
          <a:prstGeom prst="roundRect">
            <a:avLst>
              <a:gd name="adj" fmla="val 573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141089" y="2578608"/>
            <a:ext cx="1060704" cy="1060704"/>
          </a:xfrm>
          <a:prstGeom prst="roundRect">
            <a:avLst>
              <a:gd name="adj" fmla="val 11207"/>
            </a:avLst>
          </a:prstGeom>
          <a:solidFill>
            <a:srgbClr val="EAF2F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265" y="2843784"/>
            <a:ext cx="530352" cy="5303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504438" y="3822192"/>
            <a:ext cx="233400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外部対策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3632454" y="4389120"/>
            <a:ext cx="207797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他サイト紹介・被リンク等で評価の土台を強化します。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240780" y="2194560"/>
            <a:ext cx="2553462" cy="3200400"/>
          </a:xfrm>
          <a:prstGeom prst="roundRect">
            <a:avLst>
              <a:gd name="adj" fmla="val 573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987159" y="2578608"/>
            <a:ext cx="1060704" cy="1060704"/>
          </a:xfrm>
          <a:prstGeom prst="roundRect">
            <a:avLst>
              <a:gd name="adj" fmla="val 11207"/>
            </a:avLst>
          </a:prstGeom>
          <a:solidFill>
            <a:srgbClr val="EAF2F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2335" y="2843784"/>
            <a:ext cx="530352" cy="5303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50508" y="3822192"/>
            <a:ext cx="233400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口コミ施策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478524" y="4389120"/>
            <a:ext cx="207797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促進QR・POP作成と返信文。AIが下書き→人が監修。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9086850" y="2194560"/>
            <a:ext cx="2553462" cy="3200400"/>
          </a:xfrm>
          <a:prstGeom prst="roundRect">
            <a:avLst>
              <a:gd name="adj" fmla="val 573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9833229" y="2578608"/>
            <a:ext cx="1060704" cy="1060704"/>
          </a:xfrm>
          <a:prstGeom prst="roundRect">
            <a:avLst>
              <a:gd name="adj" fmla="val 11207"/>
            </a:avLst>
          </a:prstGeom>
          <a:solidFill>
            <a:srgbClr val="EAF2FD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8405" y="2843784"/>
            <a:ext cx="530352" cy="53035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196578" y="3822192"/>
            <a:ext cx="233400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効果レポート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9324594" y="4389120"/>
            <a:ext cx="207797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順位計測ツール＋月次レポートをAIが生成し可視化。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731520" y="580644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投稿も口コミ対応も、</a:t>
            </a:r>
            <a:pPr algn="ctr" indent="0" marL="0">
              <a:buNone/>
            </a:pPr>
            <a:r>
              <a:rPr lang="en-US" sz="1600" b="1" dirty="0">
                <a:solidFill>
                  <a:srgbClr val="E548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AIにおまかせ</a:t>
            </a:r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。品質は人が担保します。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Strength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ラクラクMEOが、選ばれる理由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7" name="Image 0" descr="/Users/toukairintakeaki/CantikVault/サービス資料/_build/raku_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6966" y="457200"/>
            <a:ext cx="140307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運営：株式会社cantik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10" name="Text 7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14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783080"/>
            <a:ext cx="2553462" cy="3383280"/>
          </a:xfrm>
          <a:prstGeom prst="roundRect">
            <a:avLst>
              <a:gd name="adj" fmla="val 573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95019" y="2167128"/>
            <a:ext cx="1060704" cy="1060704"/>
          </a:xfrm>
          <a:prstGeom prst="roundRect">
            <a:avLst>
              <a:gd name="adj" fmla="val 11207"/>
            </a:avLst>
          </a:prstGeom>
          <a:solidFill>
            <a:srgbClr val="EAF2F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195" y="2432304"/>
            <a:ext cx="530352" cy="5303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8368" y="3410712"/>
            <a:ext cx="233400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業界最安級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86384" y="3977640"/>
            <a:ext cx="207797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月9,800円〜・初期0円。AI自動化でコストを圧縮しました。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394710" y="1783080"/>
            <a:ext cx="2553462" cy="3383280"/>
          </a:xfrm>
          <a:prstGeom prst="roundRect">
            <a:avLst>
              <a:gd name="adj" fmla="val 573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141089" y="2167128"/>
            <a:ext cx="1060704" cy="1060704"/>
          </a:xfrm>
          <a:prstGeom prst="roundRect">
            <a:avLst>
              <a:gd name="adj" fmla="val 11207"/>
            </a:avLst>
          </a:prstGeom>
          <a:solidFill>
            <a:srgbClr val="EAF2F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265" y="2432304"/>
            <a:ext cx="530352" cy="5303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504438" y="3410712"/>
            <a:ext cx="233400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AIが作業・人が監修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3632454" y="3977640"/>
            <a:ext cx="207797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完全自動の放置型と違い、品質は必ず人が担保します。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240780" y="1783080"/>
            <a:ext cx="2553462" cy="3383280"/>
          </a:xfrm>
          <a:prstGeom prst="roundRect">
            <a:avLst>
              <a:gd name="adj" fmla="val 573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987159" y="2167128"/>
            <a:ext cx="1060704" cy="1060704"/>
          </a:xfrm>
          <a:prstGeom prst="roundRect">
            <a:avLst>
              <a:gd name="adj" fmla="val 11207"/>
            </a:avLst>
          </a:prstGeom>
          <a:solidFill>
            <a:srgbClr val="EAF2FD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2335" y="2432304"/>
            <a:ext cx="530352" cy="53035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50508" y="3410712"/>
            <a:ext cx="233400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手間ゼロ・カンタン開始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478524" y="3977640"/>
            <a:ext cx="207797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契約後 約1週間で運用開始。原稿・写真もおまかせ。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9086850" y="1783080"/>
            <a:ext cx="2553462" cy="3383280"/>
          </a:xfrm>
          <a:prstGeom prst="roundRect">
            <a:avLst>
              <a:gd name="adj" fmla="val 573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9833229" y="2167128"/>
            <a:ext cx="1060704" cy="1060704"/>
          </a:xfrm>
          <a:prstGeom prst="roundRect">
            <a:avLst>
              <a:gd name="adj" fmla="val 11207"/>
            </a:avLst>
          </a:prstGeom>
          <a:solidFill>
            <a:srgbClr val="EAF2FD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8405" y="2432304"/>
            <a:ext cx="530352" cy="53035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196578" y="3410712"/>
            <a:ext cx="233400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集客まるごと対応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9324594" y="3977640"/>
            <a:ext cx="207797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MEOからHP・SEO・AIO・SNSまで発展可能（制作実績400件）。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731520" y="56235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</a:t>
            </a:r>
            <a:pPr algn="ctr" indent="0" marL="0">
              <a:buNone/>
            </a:pPr>
            <a:r>
              <a:rPr lang="en-US" sz="1700" b="1" dirty="0">
                <a:solidFill>
                  <a:srgbClr val="E548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安さ</a:t>
            </a:r>
            <a:pPr algn="ctr" indent="0" marL="0"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」も「</a:t>
            </a:r>
            <a:pPr algn="ctr" indent="0" marL="0">
              <a:buNone/>
            </a:pPr>
            <a:r>
              <a:rPr lang="en-US" sz="1700" b="1" dirty="0">
                <a:solidFill>
                  <a:srgbClr val="E548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手間ゼロ</a:t>
            </a:r>
            <a:pPr algn="ctr" indent="0" marL="0"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」も「</a:t>
            </a:r>
            <a:pPr algn="ctr" indent="0" marL="0">
              <a:buNone/>
            </a:pPr>
            <a:r>
              <a:rPr lang="en-US" sz="1700" b="1" dirty="0">
                <a:solidFill>
                  <a:srgbClr val="E548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成果</a:t>
            </a:r>
            <a:pPr algn="ctr" indent="0" marL="0"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」も、ぜんぶ。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Results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実績・成果事例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7" name="Image 0" descr="/Users/toukairintakeaki/CantikVault/サービス資料/_build/raku_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6966" y="457200"/>
            <a:ext cx="140307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運営：株式会社cantik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10" name="Text 7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1298448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飲食・美容・整体など、</a:t>
            </a:r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幅広い来店型ビジネスで成果</a:t>
            </a:r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2628" y="1965960"/>
            <a:ext cx="3566160" cy="397764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1228" y="2167128"/>
            <a:ext cx="3108960" cy="512064"/>
          </a:xfrm>
          <a:prstGeom prst="roundRect">
            <a:avLst>
              <a:gd name="adj" fmla="val 17857"/>
            </a:avLst>
          </a:prstGeom>
          <a:solidFill>
            <a:srgbClr val="F2994A"/>
          </a:solidFill>
          <a:ln/>
        </p:spPr>
      </p:sp>
      <p:sp>
        <p:nvSpPr>
          <p:cNvPr id="14" name="Text 11"/>
          <p:cNvSpPr/>
          <p:nvPr/>
        </p:nvSpPr>
        <p:spPr>
          <a:xfrm>
            <a:off x="681228" y="2167128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カフェ 様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35508" y="277063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「渋谷 カフェ」で上位表示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4108" y="3936650"/>
            <a:ext cx="310896" cy="315310"/>
          </a:xfrm>
          <a:prstGeom prst="roundRect">
            <a:avLst>
              <a:gd name="adj" fmla="val 8824"/>
            </a:avLst>
          </a:prstGeom>
          <a:solidFill>
            <a:srgbClr val="F2994A"/>
          </a:solidFill>
          <a:ln/>
        </p:spPr>
      </p:sp>
      <p:sp>
        <p:nvSpPr>
          <p:cNvPr id="17" name="Shape 14"/>
          <p:cNvSpPr/>
          <p:nvPr/>
        </p:nvSpPr>
        <p:spPr>
          <a:xfrm>
            <a:off x="1350569" y="3842057"/>
            <a:ext cx="310896" cy="409903"/>
          </a:xfrm>
          <a:prstGeom prst="roundRect">
            <a:avLst>
              <a:gd name="adj" fmla="val 8824"/>
            </a:avLst>
          </a:prstGeom>
          <a:solidFill>
            <a:srgbClr val="F2994A"/>
          </a:solidFill>
          <a:ln/>
        </p:spPr>
      </p:sp>
      <p:sp>
        <p:nvSpPr>
          <p:cNvPr id="18" name="Shape 15"/>
          <p:cNvSpPr/>
          <p:nvPr/>
        </p:nvSpPr>
        <p:spPr>
          <a:xfrm>
            <a:off x="1837030" y="3763229"/>
            <a:ext cx="310896" cy="488731"/>
          </a:xfrm>
          <a:prstGeom prst="roundRect">
            <a:avLst>
              <a:gd name="adj" fmla="val 8824"/>
            </a:avLst>
          </a:prstGeom>
          <a:solidFill>
            <a:srgbClr val="F2994A"/>
          </a:solidFill>
          <a:ln/>
        </p:spPr>
      </p:sp>
      <p:sp>
        <p:nvSpPr>
          <p:cNvPr id="19" name="Shape 16"/>
          <p:cNvSpPr/>
          <p:nvPr/>
        </p:nvSpPr>
        <p:spPr>
          <a:xfrm>
            <a:off x="2323490" y="3605574"/>
            <a:ext cx="310896" cy="646386"/>
          </a:xfrm>
          <a:prstGeom prst="roundRect">
            <a:avLst>
              <a:gd name="adj" fmla="val 8824"/>
            </a:avLst>
          </a:prstGeom>
          <a:solidFill>
            <a:srgbClr val="F2994A"/>
          </a:solidFill>
          <a:ln/>
        </p:spPr>
      </p:sp>
      <p:sp>
        <p:nvSpPr>
          <p:cNvPr id="20" name="Shape 17"/>
          <p:cNvSpPr/>
          <p:nvPr/>
        </p:nvSpPr>
        <p:spPr>
          <a:xfrm>
            <a:off x="2809951" y="3503098"/>
            <a:ext cx="310896" cy="748862"/>
          </a:xfrm>
          <a:prstGeom prst="roundRect">
            <a:avLst>
              <a:gd name="adj" fmla="val 8824"/>
            </a:avLst>
          </a:prstGeom>
          <a:solidFill>
            <a:srgbClr val="F2994A"/>
          </a:solidFill>
          <a:ln/>
        </p:spPr>
      </p:sp>
      <p:sp>
        <p:nvSpPr>
          <p:cNvPr id="21" name="Shape 18"/>
          <p:cNvSpPr/>
          <p:nvPr/>
        </p:nvSpPr>
        <p:spPr>
          <a:xfrm>
            <a:off x="3296412" y="3337560"/>
            <a:ext cx="310896" cy="914400"/>
          </a:xfrm>
          <a:prstGeom prst="roundRect">
            <a:avLst>
              <a:gd name="adj" fmla="val 8824"/>
            </a:avLst>
          </a:prstGeom>
          <a:solidFill>
            <a:srgbClr val="F2994A"/>
          </a:solidFill>
          <a:ln/>
        </p:spPr>
      </p:sp>
      <p:sp>
        <p:nvSpPr>
          <p:cNvPr id="22" name="Shape 19"/>
          <p:cNvSpPr/>
          <p:nvPr/>
        </p:nvSpPr>
        <p:spPr>
          <a:xfrm>
            <a:off x="772668" y="4251960"/>
            <a:ext cx="2926080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5508" y="4306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対策6ヶ月の推移（サンプル）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35508" y="463600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来店アクション </a:t>
            </a:r>
            <a:pPr algn="ctr" indent="0" marL="0">
              <a:buNone/>
            </a:pPr>
            <a:r>
              <a:rPr lang="en-US" sz="2800" b="1" dirty="0">
                <a:solidFill>
                  <a:srgbClr val="E548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+180%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35508" y="527608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前年 1,200  →  今年 3,360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311396" y="1965960"/>
            <a:ext cx="3566160" cy="397764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39996" y="2167128"/>
            <a:ext cx="3108960" cy="512064"/>
          </a:xfrm>
          <a:prstGeom prst="roundRect">
            <a:avLst>
              <a:gd name="adj" fmla="val 17857"/>
            </a:avLst>
          </a:prstGeom>
          <a:solidFill>
            <a:srgbClr val="E0699F"/>
          </a:solidFill>
          <a:ln/>
        </p:spPr>
      </p:sp>
      <p:sp>
        <p:nvSpPr>
          <p:cNvPr id="28" name="Text 25"/>
          <p:cNvSpPr/>
          <p:nvPr/>
        </p:nvSpPr>
        <p:spPr>
          <a:xfrm>
            <a:off x="4539996" y="2167128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美容室 様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4494276" y="277063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指名検索＋新規予約が増加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722876" y="3936650"/>
            <a:ext cx="310896" cy="315310"/>
          </a:xfrm>
          <a:prstGeom prst="roundRect">
            <a:avLst>
              <a:gd name="adj" fmla="val 8824"/>
            </a:avLst>
          </a:prstGeom>
          <a:solidFill>
            <a:srgbClr val="E0699F"/>
          </a:solidFill>
          <a:ln/>
        </p:spPr>
      </p:sp>
      <p:sp>
        <p:nvSpPr>
          <p:cNvPr id="31" name="Shape 28"/>
          <p:cNvSpPr/>
          <p:nvPr/>
        </p:nvSpPr>
        <p:spPr>
          <a:xfrm>
            <a:off x="5209337" y="3857822"/>
            <a:ext cx="310896" cy="394138"/>
          </a:xfrm>
          <a:prstGeom prst="roundRect">
            <a:avLst>
              <a:gd name="adj" fmla="val 8824"/>
            </a:avLst>
          </a:prstGeom>
          <a:solidFill>
            <a:srgbClr val="E0699F"/>
          </a:solidFill>
          <a:ln/>
        </p:spPr>
      </p:sp>
      <p:sp>
        <p:nvSpPr>
          <p:cNvPr id="32" name="Shape 29"/>
          <p:cNvSpPr/>
          <p:nvPr/>
        </p:nvSpPr>
        <p:spPr>
          <a:xfrm>
            <a:off x="5695798" y="3778994"/>
            <a:ext cx="310896" cy="472966"/>
          </a:xfrm>
          <a:prstGeom prst="roundRect">
            <a:avLst>
              <a:gd name="adj" fmla="val 8824"/>
            </a:avLst>
          </a:prstGeom>
          <a:solidFill>
            <a:srgbClr val="E0699F"/>
          </a:solidFill>
          <a:ln/>
        </p:spPr>
      </p:sp>
      <p:sp>
        <p:nvSpPr>
          <p:cNvPr id="33" name="Shape 30"/>
          <p:cNvSpPr/>
          <p:nvPr/>
        </p:nvSpPr>
        <p:spPr>
          <a:xfrm>
            <a:off x="6182258" y="3668636"/>
            <a:ext cx="310896" cy="583324"/>
          </a:xfrm>
          <a:prstGeom prst="roundRect">
            <a:avLst>
              <a:gd name="adj" fmla="val 8824"/>
            </a:avLst>
          </a:prstGeom>
          <a:solidFill>
            <a:srgbClr val="E0699F"/>
          </a:solidFill>
          <a:ln/>
        </p:spPr>
      </p:sp>
      <p:sp>
        <p:nvSpPr>
          <p:cNvPr id="34" name="Shape 31"/>
          <p:cNvSpPr/>
          <p:nvPr/>
        </p:nvSpPr>
        <p:spPr>
          <a:xfrm>
            <a:off x="6668719" y="3526746"/>
            <a:ext cx="310896" cy="725214"/>
          </a:xfrm>
          <a:prstGeom prst="roundRect">
            <a:avLst>
              <a:gd name="adj" fmla="val 8824"/>
            </a:avLst>
          </a:prstGeom>
          <a:solidFill>
            <a:srgbClr val="E0699F"/>
          </a:solidFill>
          <a:ln/>
        </p:spPr>
      </p:sp>
      <p:sp>
        <p:nvSpPr>
          <p:cNvPr id="35" name="Shape 32"/>
          <p:cNvSpPr/>
          <p:nvPr/>
        </p:nvSpPr>
        <p:spPr>
          <a:xfrm>
            <a:off x="7155180" y="3400622"/>
            <a:ext cx="310896" cy="851338"/>
          </a:xfrm>
          <a:prstGeom prst="roundRect">
            <a:avLst>
              <a:gd name="adj" fmla="val 8824"/>
            </a:avLst>
          </a:prstGeom>
          <a:solidFill>
            <a:srgbClr val="E0699F"/>
          </a:solidFill>
          <a:ln/>
        </p:spPr>
      </p:sp>
      <p:sp>
        <p:nvSpPr>
          <p:cNvPr id="36" name="Shape 33"/>
          <p:cNvSpPr/>
          <p:nvPr/>
        </p:nvSpPr>
        <p:spPr>
          <a:xfrm>
            <a:off x="4631436" y="4251960"/>
            <a:ext cx="2926080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494276" y="4306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対策6ヶ月の推移（サンプル）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494276" y="463600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新規ご予約 </a:t>
            </a:r>
            <a:pPr algn="ctr" indent="0" marL="0">
              <a:buNone/>
            </a:pPr>
            <a:r>
              <a:rPr lang="en-US" sz="2800" b="1" dirty="0">
                <a:solidFill>
                  <a:srgbClr val="E548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+160%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4494276" y="527608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前年 月25件  →  今年 月65件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8170164" y="1965960"/>
            <a:ext cx="3566160" cy="397764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398764" y="2167128"/>
            <a:ext cx="3108960" cy="512064"/>
          </a:xfrm>
          <a:prstGeom prst="roundRect">
            <a:avLst>
              <a:gd name="adj" fmla="val 17857"/>
            </a:avLst>
          </a:prstGeom>
          <a:solidFill>
            <a:srgbClr val="2AA775"/>
          </a:solidFill>
          <a:ln/>
        </p:spPr>
      </p:sp>
      <p:sp>
        <p:nvSpPr>
          <p:cNvPr id="42" name="Text 39"/>
          <p:cNvSpPr/>
          <p:nvPr/>
        </p:nvSpPr>
        <p:spPr>
          <a:xfrm>
            <a:off x="8398764" y="2167128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整体サロン 様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8353044" y="277063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「地域＋整体」で上位表示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8581644" y="3936650"/>
            <a:ext cx="310896" cy="315310"/>
          </a:xfrm>
          <a:prstGeom prst="roundRect">
            <a:avLst>
              <a:gd name="adj" fmla="val 8824"/>
            </a:avLst>
          </a:prstGeom>
          <a:solidFill>
            <a:srgbClr val="2AA775"/>
          </a:solidFill>
          <a:ln/>
        </p:spPr>
      </p:sp>
      <p:sp>
        <p:nvSpPr>
          <p:cNvPr id="45" name="Shape 42"/>
          <p:cNvSpPr/>
          <p:nvPr/>
        </p:nvSpPr>
        <p:spPr>
          <a:xfrm>
            <a:off x="9068105" y="3873588"/>
            <a:ext cx="310896" cy="378372"/>
          </a:xfrm>
          <a:prstGeom prst="roundRect">
            <a:avLst>
              <a:gd name="adj" fmla="val 8824"/>
            </a:avLst>
          </a:prstGeom>
          <a:solidFill>
            <a:srgbClr val="2AA775"/>
          </a:solidFill>
          <a:ln/>
        </p:spPr>
      </p:sp>
      <p:sp>
        <p:nvSpPr>
          <p:cNvPr id="46" name="Shape 43"/>
          <p:cNvSpPr/>
          <p:nvPr/>
        </p:nvSpPr>
        <p:spPr>
          <a:xfrm>
            <a:off x="9554566" y="3794760"/>
            <a:ext cx="310896" cy="457200"/>
          </a:xfrm>
          <a:prstGeom prst="roundRect">
            <a:avLst>
              <a:gd name="adj" fmla="val 8824"/>
            </a:avLst>
          </a:prstGeom>
          <a:solidFill>
            <a:srgbClr val="2AA775"/>
          </a:solidFill>
          <a:ln/>
        </p:spPr>
      </p:sp>
      <p:sp>
        <p:nvSpPr>
          <p:cNvPr id="47" name="Shape 44"/>
          <p:cNvSpPr/>
          <p:nvPr/>
        </p:nvSpPr>
        <p:spPr>
          <a:xfrm>
            <a:off x="10041026" y="3700167"/>
            <a:ext cx="310896" cy="551793"/>
          </a:xfrm>
          <a:prstGeom prst="roundRect">
            <a:avLst>
              <a:gd name="adj" fmla="val 8824"/>
            </a:avLst>
          </a:prstGeom>
          <a:solidFill>
            <a:srgbClr val="2AA775"/>
          </a:solidFill>
          <a:ln/>
        </p:spPr>
      </p:sp>
      <p:sp>
        <p:nvSpPr>
          <p:cNvPr id="48" name="Shape 45"/>
          <p:cNvSpPr/>
          <p:nvPr/>
        </p:nvSpPr>
        <p:spPr>
          <a:xfrm>
            <a:off x="10527487" y="3574043"/>
            <a:ext cx="310896" cy="677917"/>
          </a:xfrm>
          <a:prstGeom prst="roundRect">
            <a:avLst>
              <a:gd name="adj" fmla="val 8824"/>
            </a:avLst>
          </a:prstGeom>
          <a:solidFill>
            <a:srgbClr val="2AA775"/>
          </a:solidFill>
          <a:ln/>
        </p:spPr>
      </p:sp>
      <p:sp>
        <p:nvSpPr>
          <p:cNvPr id="49" name="Shape 46"/>
          <p:cNvSpPr/>
          <p:nvPr/>
        </p:nvSpPr>
        <p:spPr>
          <a:xfrm>
            <a:off x="11013948" y="3432153"/>
            <a:ext cx="310896" cy="819807"/>
          </a:xfrm>
          <a:prstGeom prst="roundRect">
            <a:avLst>
              <a:gd name="adj" fmla="val 8824"/>
            </a:avLst>
          </a:prstGeom>
          <a:solidFill>
            <a:srgbClr val="2AA775"/>
          </a:solidFill>
          <a:ln/>
        </p:spPr>
      </p:sp>
      <p:sp>
        <p:nvSpPr>
          <p:cNvPr id="50" name="Shape 47"/>
          <p:cNvSpPr/>
          <p:nvPr/>
        </p:nvSpPr>
        <p:spPr>
          <a:xfrm>
            <a:off x="8490204" y="4251960"/>
            <a:ext cx="2926080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353044" y="4306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対策6ヶ月の推移（サンプル）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8353044" y="463600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お問い合わせ </a:t>
            </a:r>
            <a:pPr algn="ctr" indent="0" marL="0">
              <a:buNone/>
            </a:pPr>
            <a:r>
              <a:rPr lang="en-US" sz="2800" b="1" dirty="0">
                <a:solidFill>
                  <a:srgbClr val="E548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+140%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8353044" y="527608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前年 月18件  →  今年 月43件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548640" y="61722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※成果は業種・地域・競合状況により異なります。数値はサンプルです（効果を保証するものではありません）。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61621" y="365760"/>
            <a:ext cx="1906707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pic>
        <p:nvPicPr>
          <p:cNvPr id="3" name="Image 0" descr="/Users/toukairintakeaki/CantikVault/サービス資料/_build/raku_logo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9637" y="457200"/>
            <a:ext cx="1650675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22876" y="138988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BBD4F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CHAPTER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618988" y="1783080"/>
            <a:ext cx="950976" cy="950976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18988" y="1783080"/>
            <a:ext cx="950976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04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297180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料金プラン・ご導入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914400" y="40690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6E4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まずMEOから。上位プランで4本柱へ。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D3F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運営：株式会社cantik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743200"/>
            <a:ext cx="8412480" cy="6766560"/>
          </a:xfrm>
          <a:prstGeom prst="ellipse">
            <a:avLst/>
          </a:prstGeom>
          <a:solidFill>
            <a:srgbClr val="16304F"/>
          </a:solidFill>
          <a:ln/>
        </p:spPr>
      </p:sp>
      <p:sp>
        <p:nvSpPr>
          <p:cNvPr id="3" name="Shape 1"/>
          <p:cNvSpPr/>
          <p:nvPr/>
        </p:nvSpPr>
        <p:spPr>
          <a:xfrm>
            <a:off x="-3108960" y="4480560"/>
            <a:ext cx="9601200" cy="6858000"/>
          </a:xfrm>
          <a:prstGeom prst="ellipse">
            <a:avLst/>
          </a:prstGeom>
          <a:solidFill>
            <a:srgbClr val="0C1B31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F5B40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8FA6C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Price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料金プラン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8" name="Shape 6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9" name="Shape 7"/>
          <p:cNvSpPr/>
          <p:nvPr/>
        </p:nvSpPr>
        <p:spPr>
          <a:xfrm>
            <a:off x="9861621" y="365760"/>
            <a:ext cx="1906707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pic>
        <p:nvPicPr>
          <p:cNvPr id="10" name="Image 0" descr="/Users/toukairintakeaki/CantikVault/サービス資料/_build/raku_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9637" y="457200"/>
            <a:ext cx="1650675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137160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D8E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月9,800円のMEOから。スタンダードなら </a:t>
            </a:r>
            <a:pPr algn="ctr" indent="0" marL="0">
              <a:buNone/>
            </a:pPr>
            <a:r>
              <a:rPr lang="en-US" sz="1400" b="1" dirty="0">
                <a:solidFill>
                  <a:srgbClr val="FFC8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HP＋MEO＋SEO＋AIOの4本柱</a:t>
            </a:r>
            <a:pPr algn="ctr" indent="0" marL="0">
              <a:buNone/>
            </a:pPr>
            <a:r>
              <a:rPr lang="en-US" sz="1400" b="1" dirty="0">
                <a:solidFill>
                  <a:srgbClr val="C9D8E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が全部込み。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2628" y="2011680"/>
            <a:ext cx="3566160" cy="4279392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2628" y="223113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⚡ ライト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2628" y="2542032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9,800</a:t>
            </a:r>
            <a:pPr algn="ctr" indent="0" marL="0">
              <a:buNone/>
            </a:pPr>
            <a:r>
              <a:rPr lang="en-US" sz="13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円/月</a:t>
            </a:r>
            <a:pPr algn="ctr" indent="0" marL="0">
              <a:buNone/>
            </a:pPr>
            <a:r>
              <a:rPr lang="en-US" sz="9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（税別）</a:t>
            </a:r>
            <a:endParaRPr lang="en-US" sz="3200" dirty="0"/>
          </a:p>
        </p:txBody>
      </p:sp>
      <p:sp>
        <p:nvSpPr>
          <p:cNvPr id="15" name="Shape 12"/>
          <p:cNvSpPr/>
          <p:nvPr/>
        </p:nvSpPr>
        <p:spPr>
          <a:xfrm>
            <a:off x="1229868" y="309067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/>
        </p:spPr>
      </p:sp>
      <p:sp>
        <p:nvSpPr>
          <p:cNvPr id="16" name="Text 13"/>
          <p:cNvSpPr/>
          <p:nvPr/>
        </p:nvSpPr>
        <p:spPr>
          <a:xfrm>
            <a:off x="1229868" y="309067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初期 0円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281428" y="309067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</p:sp>
      <p:sp>
        <p:nvSpPr>
          <p:cNvPr id="18" name="Text 15"/>
          <p:cNvSpPr/>
          <p:nvPr/>
        </p:nvSpPr>
        <p:spPr>
          <a:xfrm>
            <a:off x="2281428" y="309067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最低12ヶ月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961388" y="3493008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E2637"/>
          </a:solidFill>
          <a:ln/>
        </p:spPr>
      </p:sp>
      <p:sp>
        <p:nvSpPr>
          <p:cNvPr id="20" name="Text 17"/>
          <p:cNvSpPr/>
          <p:nvPr/>
        </p:nvSpPr>
        <p:spPr>
          <a:xfrm>
            <a:off x="1961388" y="349300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2628" y="380390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含む柱：MEO特化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72668" y="4114800"/>
            <a:ext cx="2926080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90372" y="4270248"/>
            <a:ext cx="219456" cy="219456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4325112"/>
            <a:ext cx="109728" cy="10972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19556" y="4187952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GBP最適化・対策KW 4つ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90372" y="4654296"/>
            <a:ext cx="219456" cy="219456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" y="4709160"/>
            <a:ext cx="109728" cy="10972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019556" y="4572000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Google投稿 月4回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90372" y="5038344"/>
            <a:ext cx="219456" cy="219456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" y="5093208"/>
            <a:ext cx="109728" cy="10972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019556" y="4956048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口コミ返信 全件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690372" y="5422392"/>
            <a:ext cx="219456" cy="219456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5477256"/>
            <a:ext cx="109728" cy="10972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019556" y="5340096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順位計測ツール＋月次レポート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772668" y="5870448"/>
            <a:ext cx="2926080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452628" y="592531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まず地図集客から始めたい方へ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4311396" y="1847088"/>
            <a:ext cx="3566160" cy="4443984"/>
          </a:xfrm>
          <a:prstGeom prst="roundRect">
            <a:avLst>
              <a:gd name="adj" fmla="val 4103"/>
            </a:avLst>
          </a:prstGeom>
          <a:solidFill>
            <a:srgbClr val="1B6FDE"/>
          </a:solidFill>
          <a:ln w="12700">
            <a:solidFill>
              <a:srgbClr val="1B6FDE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5225796" y="167335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5B400"/>
          </a:solidFill>
          <a:ln/>
        </p:spPr>
      </p:sp>
      <p:sp>
        <p:nvSpPr>
          <p:cNvPr id="39" name="Text 32"/>
          <p:cNvSpPr/>
          <p:nvPr/>
        </p:nvSpPr>
        <p:spPr>
          <a:xfrm>
            <a:off x="5225796" y="167335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いちばん人気・本命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4311396" y="206654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🔥 スタンダード</a:t>
            </a:r>
            <a:endParaRPr lang="en-US" sz="1600" dirty="0"/>
          </a:p>
        </p:txBody>
      </p:sp>
      <p:sp>
        <p:nvSpPr>
          <p:cNvPr id="41" name="Text 34"/>
          <p:cNvSpPr/>
          <p:nvPr/>
        </p:nvSpPr>
        <p:spPr>
          <a:xfrm>
            <a:off x="4311396" y="2377440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19,800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円/月</a:t>
            </a:r>
            <a:pPr algn="ctr" indent="0" marL="0">
              <a:buNone/>
            </a:pPr>
            <a:r>
              <a:rPr lang="en-US" sz="950" dirty="0">
                <a:solidFill>
                  <a:srgbClr val="D6E4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（税別）</a:t>
            </a:r>
            <a:endParaRPr lang="en-US" sz="3200" dirty="0"/>
          </a:p>
        </p:txBody>
      </p:sp>
      <p:sp>
        <p:nvSpPr>
          <p:cNvPr id="42" name="Shape 35"/>
          <p:cNvSpPr/>
          <p:nvPr/>
        </p:nvSpPr>
        <p:spPr>
          <a:xfrm>
            <a:off x="5088636" y="292608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3" name="Text 36"/>
          <p:cNvSpPr/>
          <p:nvPr/>
        </p:nvSpPr>
        <p:spPr>
          <a:xfrm>
            <a:off x="5088636" y="292608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初期 0円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6140196" y="292608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1558B0"/>
          </a:solidFill>
          <a:ln/>
        </p:spPr>
      </p:sp>
      <p:sp>
        <p:nvSpPr>
          <p:cNvPr id="45" name="Text 38"/>
          <p:cNvSpPr/>
          <p:nvPr/>
        </p:nvSpPr>
        <p:spPr>
          <a:xfrm>
            <a:off x="6140196" y="292608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最低24ヶ月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4887468" y="33284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558B0"/>
          </a:solidFill>
          <a:ln/>
        </p:spPr>
      </p:sp>
      <p:sp>
        <p:nvSpPr>
          <p:cNvPr id="47" name="Text 40"/>
          <p:cNvSpPr/>
          <p:nvPr/>
        </p:nvSpPr>
        <p:spPr>
          <a:xfrm>
            <a:off x="4887468" y="33284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</a:t>
            </a:r>
            <a:endParaRPr lang="en-US" sz="900" dirty="0"/>
          </a:p>
        </p:txBody>
      </p:sp>
      <p:sp>
        <p:nvSpPr>
          <p:cNvPr id="48" name="Shape 41"/>
          <p:cNvSpPr/>
          <p:nvPr/>
        </p:nvSpPr>
        <p:spPr>
          <a:xfrm>
            <a:off x="5509260" y="33284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558B0"/>
          </a:solidFill>
          <a:ln/>
        </p:spPr>
      </p:sp>
      <p:sp>
        <p:nvSpPr>
          <p:cNvPr id="49" name="Text 42"/>
          <p:cNvSpPr/>
          <p:nvPr/>
        </p:nvSpPr>
        <p:spPr>
          <a:xfrm>
            <a:off x="5509260" y="33284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HP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6131052" y="33284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558B0"/>
          </a:solidFill>
          <a:ln/>
        </p:spPr>
      </p:sp>
      <p:sp>
        <p:nvSpPr>
          <p:cNvPr id="51" name="Text 44"/>
          <p:cNvSpPr/>
          <p:nvPr/>
        </p:nvSpPr>
        <p:spPr>
          <a:xfrm>
            <a:off x="6131052" y="33284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SEO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6752844" y="33284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558B0"/>
          </a:solidFill>
          <a:ln/>
        </p:spPr>
      </p:sp>
      <p:sp>
        <p:nvSpPr>
          <p:cNvPr id="53" name="Text 46"/>
          <p:cNvSpPr/>
          <p:nvPr/>
        </p:nvSpPr>
        <p:spPr>
          <a:xfrm>
            <a:off x="6752844" y="33284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AIO</a:t>
            </a:r>
            <a:endParaRPr lang="en-US" sz="900" dirty="0"/>
          </a:p>
        </p:txBody>
      </p:sp>
      <p:sp>
        <p:nvSpPr>
          <p:cNvPr id="54" name="Text 47"/>
          <p:cNvSpPr/>
          <p:nvPr/>
        </p:nvSpPr>
        <p:spPr>
          <a:xfrm>
            <a:off x="4311396" y="363931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E4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含む柱：4本柱</a:t>
            </a:r>
            <a:endParaRPr lang="en-US" sz="950" dirty="0"/>
          </a:p>
        </p:txBody>
      </p:sp>
      <p:sp>
        <p:nvSpPr>
          <p:cNvPr id="55" name="Shape 48"/>
          <p:cNvSpPr/>
          <p:nvPr/>
        </p:nvSpPr>
        <p:spPr>
          <a:xfrm>
            <a:off x="4631436" y="3950208"/>
            <a:ext cx="2926080" cy="0"/>
          </a:xfrm>
          <a:prstGeom prst="line">
            <a:avLst/>
          </a:prstGeom>
          <a:noFill/>
          <a:ln w="12700">
            <a:solidFill>
              <a:srgbClr val="5E93E0"/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4549140" y="4105656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4004" y="4160520"/>
            <a:ext cx="109728" cy="109728"/>
          </a:xfrm>
          <a:prstGeom prst="rect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4878324" y="4023360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ライトのMEO対策 すべて</a:t>
            </a:r>
            <a:endParaRPr lang="en-US" sz="1000" dirty="0"/>
          </a:p>
        </p:txBody>
      </p:sp>
      <p:sp>
        <p:nvSpPr>
          <p:cNvPr id="59" name="Shape 51"/>
          <p:cNvSpPr/>
          <p:nvPr/>
        </p:nvSpPr>
        <p:spPr>
          <a:xfrm>
            <a:off x="4549140" y="4489704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4004" y="4544568"/>
            <a:ext cx="109728" cy="109728"/>
          </a:xfrm>
          <a:prstGeom prst="rect">
            <a:avLst/>
          </a:prstGeom>
        </p:spPr>
      </p:pic>
      <p:sp>
        <p:nvSpPr>
          <p:cNvPr id="61" name="Text 52"/>
          <p:cNvSpPr/>
          <p:nvPr/>
        </p:nvSpPr>
        <p:spPr>
          <a:xfrm>
            <a:off x="4878324" y="4407408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サブスク型HP（制作・保守・修正無制限）</a:t>
            </a:r>
            <a:endParaRPr lang="en-US" sz="1000" dirty="0"/>
          </a:p>
        </p:txBody>
      </p:sp>
      <p:sp>
        <p:nvSpPr>
          <p:cNvPr id="62" name="Shape 53"/>
          <p:cNvSpPr/>
          <p:nvPr/>
        </p:nvSpPr>
        <p:spPr>
          <a:xfrm>
            <a:off x="4549140" y="4873752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4004" y="4928616"/>
            <a:ext cx="109728" cy="109728"/>
          </a:xfrm>
          <a:prstGeom prst="rect">
            <a:avLst/>
          </a:prstGeom>
        </p:spPr>
      </p:pic>
      <p:sp>
        <p:nvSpPr>
          <p:cNvPr id="64" name="Text 54"/>
          <p:cNvSpPr/>
          <p:nvPr/>
        </p:nvSpPr>
        <p:spPr>
          <a:xfrm>
            <a:off x="4878324" y="4791456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SEO内部対策＋記事 月2本</a:t>
            </a:r>
            <a:endParaRPr lang="en-US" sz="1000" dirty="0"/>
          </a:p>
        </p:txBody>
      </p:sp>
      <p:sp>
        <p:nvSpPr>
          <p:cNvPr id="65" name="Shape 55"/>
          <p:cNvSpPr/>
          <p:nvPr/>
        </p:nvSpPr>
        <p:spPr>
          <a:xfrm>
            <a:off x="4549140" y="5257800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4004" y="5312664"/>
            <a:ext cx="109728" cy="109728"/>
          </a:xfrm>
          <a:prstGeom prst="rect">
            <a:avLst/>
          </a:prstGeom>
        </p:spPr>
      </p:pic>
      <p:sp>
        <p:nvSpPr>
          <p:cNvPr id="67" name="Text 56"/>
          <p:cNvSpPr/>
          <p:nvPr/>
        </p:nvSpPr>
        <p:spPr>
          <a:xfrm>
            <a:off x="4878324" y="5175504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AIO（AI検索最適化・構造化データ）</a:t>
            </a:r>
            <a:endParaRPr lang="en-US" sz="1000" dirty="0"/>
          </a:p>
        </p:txBody>
      </p:sp>
      <p:sp>
        <p:nvSpPr>
          <p:cNvPr id="68" name="Shape 57"/>
          <p:cNvSpPr/>
          <p:nvPr/>
        </p:nvSpPr>
        <p:spPr>
          <a:xfrm>
            <a:off x="4631436" y="5870448"/>
            <a:ext cx="2926080" cy="0"/>
          </a:xfrm>
          <a:prstGeom prst="line">
            <a:avLst/>
          </a:prstGeom>
          <a:noFill/>
          <a:ln w="12700">
            <a:solidFill>
              <a:srgbClr val="5E93E0"/>
            </a:solidFill>
            <a:prstDash val="solid"/>
          </a:ln>
        </p:spPr>
      </p:sp>
      <p:sp>
        <p:nvSpPr>
          <p:cNvPr id="69" name="Text 58"/>
          <p:cNvSpPr/>
          <p:nvPr/>
        </p:nvSpPr>
        <p:spPr>
          <a:xfrm>
            <a:off x="4311396" y="592531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E4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本格的に集客したい方へ（本命）</a:t>
            </a:r>
            <a:endParaRPr lang="en-US" sz="1000" dirty="0"/>
          </a:p>
        </p:txBody>
      </p:sp>
      <p:sp>
        <p:nvSpPr>
          <p:cNvPr id="70" name="Shape 59"/>
          <p:cNvSpPr/>
          <p:nvPr/>
        </p:nvSpPr>
        <p:spPr>
          <a:xfrm>
            <a:off x="8170164" y="2011680"/>
            <a:ext cx="3566160" cy="4279392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71" name="Text 60"/>
          <p:cNvSpPr/>
          <p:nvPr/>
        </p:nvSpPr>
        <p:spPr>
          <a:xfrm>
            <a:off x="8170164" y="223113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プレミアム</a:t>
            </a:r>
            <a:endParaRPr lang="en-US" sz="1600" dirty="0"/>
          </a:p>
        </p:txBody>
      </p:sp>
      <p:sp>
        <p:nvSpPr>
          <p:cNvPr id="72" name="Text 61"/>
          <p:cNvSpPr/>
          <p:nvPr/>
        </p:nvSpPr>
        <p:spPr>
          <a:xfrm>
            <a:off x="8170164" y="2542032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39,800</a:t>
            </a:r>
            <a:pPr algn="ctr" indent="0" marL="0">
              <a:buNone/>
            </a:pPr>
            <a:r>
              <a:rPr lang="en-US" sz="13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円/月</a:t>
            </a:r>
            <a:pPr algn="ctr" indent="0" marL="0">
              <a:buNone/>
            </a:pPr>
            <a:r>
              <a:rPr lang="en-US" sz="9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（税別）</a:t>
            </a:r>
            <a:endParaRPr lang="en-US" sz="3200" dirty="0"/>
          </a:p>
        </p:txBody>
      </p:sp>
      <p:sp>
        <p:nvSpPr>
          <p:cNvPr id="73" name="Shape 62"/>
          <p:cNvSpPr/>
          <p:nvPr/>
        </p:nvSpPr>
        <p:spPr>
          <a:xfrm>
            <a:off x="8947404" y="309067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/>
        </p:spPr>
      </p:sp>
      <p:sp>
        <p:nvSpPr>
          <p:cNvPr id="74" name="Text 63"/>
          <p:cNvSpPr/>
          <p:nvPr/>
        </p:nvSpPr>
        <p:spPr>
          <a:xfrm>
            <a:off x="8947404" y="309067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初期 0円</a:t>
            </a:r>
            <a:endParaRPr lang="en-US" sz="1000" dirty="0"/>
          </a:p>
        </p:txBody>
      </p:sp>
      <p:sp>
        <p:nvSpPr>
          <p:cNvPr id="75" name="Shape 64"/>
          <p:cNvSpPr/>
          <p:nvPr/>
        </p:nvSpPr>
        <p:spPr>
          <a:xfrm>
            <a:off x="9998964" y="309067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</p:sp>
      <p:sp>
        <p:nvSpPr>
          <p:cNvPr id="76" name="Text 65"/>
          <p:cNvSpPr/>
          <p:nvPr/>
        </p:nvSpPr>
        <p:spPr>
          <a:xfrm>
            <a:off x="9998964" y="309067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最低24ヶ月</a:t>
            </a:r>
            <a:endParaRPr lang="en-US" sz="900" dirty="0"/>
          </a:p>
        </p:txBody>
      </p:sp>
      <p:sp>
        <p:nvSpPr>
          <p:cNvPr id="77" name="Shape 66"/>
          <p:cNvSpPr/>
          <p:nvPr/>
        </p:nvSpPr>
        <p:spPr>
          <a:xfrm>
            <a:off x="8435340" y="3493008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E2637"/>
          </a:solidFill>
          <a:ln/>
        </p:spPr>
      </p:sp>
      <p:sp>
        <p:nvSpPr>
          <p:cNvPr id="78" name="Text 67"/>
          <p:cNvSpPr/>
          <p:nvPr/>
        </p:nvSpPr>
        <p:spPr>
          <a:xfrm>
            <a:off x="8435340" y="349300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</a:t>
            </a:r>
            <a:endParaRPr lang="en-US" sz="900" dirty="0"/>
          </a:p>
        </p:txBody>
      </p:sp>
      <p:sp>
        <p:nvSpPr>
          <p:cNvPr id="79" name="Shape 68"/>
          <p:cNvSpPr/>
          <p:nvPr/>
        </p:nvSpPr>
        <p:spPr>
          <a:xfrm>
            <a:off x="9057132" y="3493008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E2637"/>
          </a:solidFill>
          <a:ln/>
        </p:spPr>
      </p:sp>
      <p:sp>
        <p:nvSpPr>
          <p:cNvPr id="80" name="Text 69"/>
          <p:cNvSpPr/>
          <p:nvPr/>
        </p:nvSpPr>
        <p:spPr>
          <a:xfrm>
            <a:off x="9057132" y="349300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HP</a:t>
            </a:r>
            <a:endParaRPr lang="en-US" sz="900" dirty="0"/>
          </a:p>
        </p:txBody>
      </p:sp>
      <p:sp>
        <p:nvSpPr>
          <p:cNvPr id="81" name="Shape 70"/>
          <p:cNvSpPr/>
          <p:nvPr/>
        </p:nvSpPr>
        <p:spPr>
          <a:xfrm>
            <a:off x="9678924" y="3493008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E2637"/>
          </a:solidFill>
          <a:ln/>
        </p:spPr>
      </p:sp>
      <p:sp>
        <p:nvSpPr>
          <p:cNvPr id="82" name="Text 71"/>
          <p:cNvSpPr/>
          <p:nvPr/>
        </p:nvSpPr>
        <p:spPr>
          <a:xfrm>
            <a:off x="9678924" y="349300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SEO</a:t>
            </a:r>
            <a:endParaRPr lang="en-US" sz="900" dirty="0"/>
          </a:p>
        </p:txBody>
      </p:sp>
      <p:sp>
        <p:nvSpPr>
          <p:cNvPr id="83" name="Shape 72"/>
          <p:cNvSpPr/>
          <p:nvPr/>
        </p:nvSpPr>
        <p:spPr>
          <a:xfrm>
            <a:off x="10300716" y="3493008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E2637"/>
          </a:solidFill>
          <a:ln/>
        </p:spPr>
      </p:sp>
      <p:sp>
        <p:nvSpPr>
          <p:cNvPr id="84" name="Text 73"/>
          <p:cNvSpPr/>
          <p:nvPr/>
        </p:nvSpPr>
        <p:spPr>
          <a:xfrm>
            <a:off x="10300716" y="349300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AIO</a:t>
            </a:r>
            <a:endParaRPr lang="en-US" sz="900" dirty="0"/>
          </a:p>
        </p:txBody>
      </p:sp>
      <p:sp>
        <p:nvSpPr>
          <p:cNvPr id="85" name="Shape 74"/>
          <p:cNvSpPr/>
          <p:nvPr/>
        </p:nvSpPr>
        <p:spPr>
          <a:xfrm>
            <a:off x="10922508" y="3493008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E2637"/>
          </a:solidFill>
          <a:ln/>
        </p:spPr>
      </p:sp>
      <p:sp>
        <p:nvSpPr>
          <p:cNvPr id="86" name="Text 75"/>
          <p:cNvSpPr/>
          <p:nvPr/>
        </p:nvSpPr>
        <p:spPr>
          <a:xfrm>
            <a:off x="10922508" y="349300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AI強化</a:t>
            </a:r>
            <a:endParaRPr lang="en-US" sz="750" dirty="0"/>
          </a:p>
        </p:txBody>
      </p:sp>
      <p:sp>
        <p:nvSpPr>
          <p:cNvPr id="87" name="Text 76"/>
          <p:cNvSpPr/>
          <p:nvPr/>
        </p:nvSpPr>
        <p:spPr>
          <a:xfrm>
            <a:off x="8170164" y="380390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含む柱：4本柱＋AI強化</a:t>
            </a:r>
            <a:endParaRPr lang="en-US" sz="950" dirty="0"/>
          </a:p>
        </p:txBody>
      </p:sp>
      <p:sp>
        <p:nvSpPr>
          <p:cNvPr id="88" name="Shape 77"/>
          <p:cNvSpPr/>
          <p:nvPr/>
        </p:nvSpPr>
        <p:spPr>
          <a:xfrm>
            <a:off x="8490204" y="4114800"/>
            <a:ext cx="2926080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89" name="Shape 78"/>
          <p:cNvSpPr/>
          <p:nvPr/>
        </p:nvSpPr>
        <p:spPr>
          <a:xfrm>
            <a:off x="8407908" y="4270248"/>
            <a:ext cx="219456" cy="219456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9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2772" y="4325112"/>
            <a:ext cx="109728" cy="109728"/>
          </a:xfrm>
          <a:prstGeom prst="rect">
            <a:avLst/>
          </a:prstGeom>
        </p:spPr>
      </p:pic>
      <p:sp>
        <p:nvSpPr>
          <p:cNvPr id="91" name="Text 79"/>
          <p:cNvSpPr/>
          <p:nvPr/>
        </p:nvSpPr>
        <p:spPr>
          <a:xfrm>
            <a:off x="8737092" y="4187952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スタンダードの全内容（4本柱）</a:t>
            </a:r>
            <a:endParaRPr lang="en-US" sz="1000" dirty="0"/>
          </a:p>
        </p:txBody>
      </p:sp>
      <p:sp>
        <p:nvSpPr>
          <p:cNvPr id="92" name="Shape 80"/>
          <p:cNvSpPr/>
          <p:nvPr/>
        </p:nvSpPr>
        <p:spPr>
          <a:xfrm>
            <a:off x="8407908" y="4654296"/>
            <a:ext cx="219456" cy="219456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9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2772" y="4709160"/>
            <a:ext cx="109728" cy="109728"/>
          </a:xfrm>
          <a:prstGeom prst="rect">
            <a:avLst/>
          </a:prstGeom>
        </p:spPr>
      </p:pic>
      <p:sp>
        <p:nvSpPr>
          <p:cNvPr id="94" name="Text 81"/>
          <p:cNvSpPr/>
          <p:nvPr/>
        </p:nvSpPr>
        <p:spPr>
          <a:xfrm>
            <a:off x="8737092" y="4572000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対策KW 10キーワード（他は4KW）</a:t>
            </a:r>
            <a:endParaRPr lang="en-US" sz="1000" dirty="0"/>
          </a:p>
        </p:txBody>
      </p:sp>
      <p:sp>
        <p:nvSpPr>
          <p:cNvPr id="95" name="Shape 82"/>
          <p:cNvSpPr/>
          <p:nvPr/>
        </p:nvSpPr>
        <p:spPr>
          <a:xfrm>
            <a:off x="8407908" y="5038344"/>
            <a:ext cx="219456" cy="219456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9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62772" y="5093208"/>
            <a:ext cx="109728" cy="109728"/>
          </a:xfrm>
          <a:prstGeom prst="rect">
            <a:avLst/>
          </a:prstGeom>
        </p:spPr>
      </p:pic>
      <p:sp>
        <p:nvSpPr>
          <p:cNvPr id="97" name="Text 83"/>
          <p:cNvSpPr/>
          <p:nvPr/>
        </p:nvSpPr>
        <p:spPr>
          <a:xfrm>
            <a:off x="8737092" y="4956048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SEO内部対策＋記事 月4本</a:t>
            </a:r>
            <a:endParaRPr lang="en-US" sz="1000" dirty="0"/>
          </a:p>
        </p:txBody>
      </p:sp>
      <p:sp>
        <p:nvSpPr>
          <p:cNvPr id="98" name="Shape 84"/>
          <p:cNvSpPr/>
          <p:nvPr/>
        </p:nvSpPr>
        <p:spPr>
          <a:xfrm>
            <a:off x="8407908" y="5422392"/>
            <a:ext cx="219456" cy="219456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9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2772" y="5477256"/>
            <a:ext cx="109728" cy="109728"/>
          </a:xfrm>
          <a:prstGeom prst="rect">
            <a:avLst/>
          </a:prstGeom>
        </p:spPr>
      </p:pic>
      <p:sp>
        <p:nvSpPr>
          <p:cNvPr id="100" name="Text 85"/>
          <p:cNvSpPr/>
          <p:nvPr/>
        </p:nvSpPr>
        <p:spPr>
          <a:xfrm>
            <a:off x="8737092" y="5340096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AI強化で露出をさらに拡大</a:t>
            </a:r>
            <a:endParaRPr lang="en-US" sz="1000" dirty="0"/>
          </a:p>
        </p:txBody>
      </p:sp>
      <p:sp>
        <p:nvSpPr>
          <p:cNvPr id="101" name="Shape 86"/>
          <p:cNvSpPr/>
          <p:nvPr/>
        </p:nvSpPr>
        <p:spPr>
          <a:xfrm>
            <a:off x="8490204" y="5870448"/>
            <a:ext cx="2926080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102" name="Text 87"/>
          <p:cNvSpPr/>
          <p:nvPr/>
        </p:nvSpPr>
        <p:spPr>
          <a:xfrm>
            <a:off x="8170164" y="592531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さらに記事を増やしたい方へ</a:t>
            </a:r>
            <a:endParaRPr lang="en-US" sz="1000" dirty="0"/>
          </a:p>
        </p:txBody>
      </p:sp>
      <p:sp>
        <p:nvSpPr>
          <p:cNvPr id="103" name="Text 88"/>
          <p:cNvSpPr/>
          <p:nvPr/>
        </p:nvSpPr>
        <p:spPr>
          <a:xfrm>
            <a:off x="548640" y="651052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FB6D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全プラン共通：初期費用0円（税別・IT導入補助金の活用可）／AIで運用を自動化＝業界最安級を実現</a:t>
            </a:r>
            <a:endParaRPr lang="en-US" sz="1050" dirty="0"/>
          </a:p>
        </p:txBody>
      </p:sp>
      <p:sp>
        <p:nvSpPr>
          <p:cNvPr id="104" name="Shape 89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105" name="Text 90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Flow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導入までの流れ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7" name="Image 0" descr="/Users/toukairintakeaki/CantikVault/サービス資料/_build/raku_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6966" y="457200"/>
            <a:ext cx="140307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運営：株式会社cantik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10" name="Text 7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17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13716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AIだからスピード開始。</a:t>
            </a:r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約1週間で運用スタート</a:t>
            </a:r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が可能です。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40080" y="2743200"/>
            <a:ext cx="228600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45336" y="2505456"/>
            <a:ext cx="475488" cy="475488"/>
          </a:xfrm>
          <a:prstGeom prst="ellipse">
            <a:avLst/>
          </a:prstGeom>
          <a:solidFill>
            <a:srgbClr val="1B6FDE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45336" y="25054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1280160" y="3154680"/>
            <a:ext cx="1005840" cy="1005840"/>
          </a:xfrm>
          <a:prstGeom prst="roundRect">
            <a:avLst>
              <a:gd name="adj" fmla="val 11818"/>
            </a:avLst>
          </a:prstGeom>
          <a:solidFill>
            <a:srgbClr val="EAF2FD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620" y="340614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1520" y="420624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お問い合わせ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・ヒアリング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40080" y="50017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〜3日後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926080" y="3543300"/>
            <a:ext cx="588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3CA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3514344" y="2743200"/>
            <a:ext cx="228600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419600" y="2505456"/>
            <a:ext cx="475488" cy="475488"/>
          </a:xfrm>
          <a:prstGeom prst="ellipse">
            <a:avLst/>
          </a:prstGeom>
          <a:solidFill>
            <a:srgbClr val="1B6FDE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419600" y="25054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4154424" y="3154680"/>
            <a:ext cx="1005840" cy="1005840"/>
          </a:xfrm>
          <a:prstGeom prst="roundRect">
            <a:avLst>
              <a:gd name="adj" fmla="val 11818"/>
            </a:avLst>
          </a:prstGeom>
          <a:solidFill>
            <a:srgbClr val="EAF2FD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5884" y="3406140"/>
            <a:ext cx="502920" cy="5029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605784" y="420624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ご提案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・運用設計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3514344" y="50017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〜5日後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800344" y="3543300"/>
            <a:ext cx="588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3CA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3"/>
          <p:cNvSpPr/>
          <p:nvPr/>
        </p:nvSpPr>
        <p:spPr>
          <a:xfrm>
            <a:off x="6388608" y="2743200"/>
            <a:ext cx="228600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293864" y="2505456"/>
            <a:ext cx="475488" cy="475488"/>
          </a:xfrm>
          <a:prstGeom prst="ellipse">
            <a:avLst/>
          </a:prstGeom>
          <a:solidFill>
            <a:srgbClr val="1B6FDE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293864" y="25054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700" dirty="0"/>
          </a:p>
        </p:txBody>
      </p:sp>
      <p:sp>
        <p:nvSpPr>
          <p:cNvPr id="31" name="Shape 26"/>
          <p:cNvSpPr/>
          <p:nvPr/>
        </p:nvSpPr>
        <p:spPr>
          <a:xfrm>
            <a:off x="7028688" y="3154680"/>
            <a:ext cx="1005840" cy="1005840"/>
          </a:xfrm>
          <a:prstGeom prst="roundRect">
            <a:avLst>
              <a:gd name="adj" fmla="val 11818"/>
            </a:avLst>
          </a:prstGeom>
          <a:solidFill>
            <a:srgbClr val="EAF2FD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0148" y="3406140"/>
            <a:ext cx="502920" cy="5029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480048" y="420624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AI運用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スタート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6388608" y="50017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〜1週間後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8674608" y="3543300"/>
            <a:ext cx="588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3CA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</a:t>
            </a:r>
            <a:endParaRPr lang="en-US" sz="2200" dirty="0"/>
          </a:p>
        </p:txBody>
      </p:sp>
      <p:sp>
        <p:nvSpPr>
          <p:cNvPr id="36" name="Shape 30"/>
          <p:cNvSpPr/>
          <p:nvPr/>
        </p:nvSpPr>
        <p:spPr>
          <a:xfrm>
            <a:off x="9262872" y="2743200"/>
            <a:ext cx="228600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10168128" y="2505456"/>
            <a:ext cx="475488" cy="475488"/>
          </a:xfrm>
          <a:prstGeom prst="ellipse">
            <a:avLst/>
          </a:prstGeom>
          <a:solidFill>
            <a:srgbClr val="1B6FDE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10168128" y="25054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1700" dirty="0"/>
          </a:p>
        </p:txBody>
      </p:sp>
      <p:sp>
        <p:nvSpPr>
          <p:cNvPr id="39" name="Shape 33"/>
          <p:cNvSpPr/>
          <p:nvPr/>
        </p:nvSpPr>
        <p:spPr>
          <a:xfrm>
            <a:off x="9902952" y="3154680"/>
            <a:ext cx="1005840" cy="1005840"/>
          </a:xfrm>
          <a:prstGeom prst="roundRect">
            <a:avLst>
              <a:gd name="adj" fmla="val 11818"/>
            </a:avLst>
          </a:prstGeom>
          <a:solidFill>
            <a:srgbClr val="EAF2FD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4412" y="3406140"/>
            <a:ext cx="502920" cy="50292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354312" y="420624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月次レポート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・改善</a:t>
            </a:r>
            <a:endParaRPr lang="en-US" sz="1350" dirty="0"/>
          </a:p>
        </p:txBody>
      </p:sp>
      <p:sp>
        <p:nvSpPr>
          <p:cNvPr id="42" name="Text 35"/>
          <p:cNvSpPr/>
          <p:nvPr/>
        </p:nvSpPr>
        <p:spPr>
          <a:xfrm>
            <a:off x="9262872" y="50017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毎月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731520" y="580644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原稿・写真もおまかせ。しっかりヒアリングしてからスタートします。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Contact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お問い合わせ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7" name="Image 0" descr="/Users/toukairintakeaki/CantikVault/サービス資料/_build/raku_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6966" y="457200"/>
            <a:ext cx="140307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運営：株式会社cantik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10" name="Text 7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18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まずはお気軽にご相談ください。</a:t>
            </a:r>
            <a:pPr algn="l" indent="0" marL="0">
              <a:buNone/>
            </a:pPr>
            <a:r>
              <a:rPr lang="en-US" sz="17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無料で現状診断いたします。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40080" y="2331720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EAF2F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4917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90472" y="23317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cantik.co.jp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640080" y="3154680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EAF2F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3147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90472" y="3154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080-7084-3102 ／ 070-6526-9295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40080" y="3977640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EAF2FD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413766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90472" y="3977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info@cantik.co.jp ／ kanazashiakito@cantik.co.jp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40080" y="4800600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EAF2FD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496062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90472" y="4800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神奈川県相模原市南区南台5-21-17 セレス南台203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8915400" y="1920240"/>
            <a:ext cx="2697480" cy="36576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pic>
        <p:nvPicPr>
          <p:cNvPr id="25" name="Image 5" descr="/Users/toukairintakeaki/CantikVault/サービス資料/_build/q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2148840"/>
            <a:ext cx="2240280" cy="273405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778240" y="49834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Instagram（CANTIK.INK）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8732520" y="53035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QRから簡単にお問い合わせいただけます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54864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運営：株式会社cantik（ラクラクMEO）　※お電話・メールは2つとも受付可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oukairintakeaki/CantikVault/サービス資料/_build/raku_logo_fu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236" y="1783080"/>
            <a:ext cx="3840480" cy="14373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26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E7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手間ゼロ。AIにおまかせのMEO集客。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457200" y="51206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0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運営：株式会社cantik　｜　cantik.co.jp　｜　080-7084-3102 ／ 070-6526-9295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ラクラクMEO のご提案</dc:title>
  <dc:subject>PptxGenJS Presentation</dc:subject>
  <dc:creator>株式会社cantik</dc:creator>
  <cp:lastModifiedBy>株式会社cantik</cp:lastModifiedBy>
  <cp:revision>1</cp:revision>
  <dcterms:created xsi:type="dcterms:W3CDTF">2026-07-15T01:21:27Z</dcterms:created>
  <dcterms:modified xsi:type="dcterms:W3CDTF">2026-07-15T01:21:27Z</dcterms:modified>
</cp:coreProperties>
</file>