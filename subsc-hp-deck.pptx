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pn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pn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" y="457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株式会社cantik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223760" y="457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サービス紹介資料　｜　2026.07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1792" y="1783080"/>
            <a:ext cx="384048" cy="54864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51790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サブスク型ホームページ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10312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作って終わりにしない、</a:t>
            </a:r>
            <a:endParaRPr lang="en-US" sz="40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“育てる”ホームページ。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03504" y="4526280"/>
            <a:ext cx="233172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" y="4526280"/>
            <a:ext cx="2331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初期費用
</a:t>
            </a:r>
            <a:pPr algn="ctr"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</a:t>
            </a:r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72384" y="4526280"/>
            <a:ext cx="301752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072384" y="4526280"/>
            <a:ext cx="30175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月額（税別）
</a:t>
            </a:r>
            <a:pPr algn="ctr" indent="0" marL="0">
              <a:lnSpc>
                <a:spcPct val="95000"/>
              </a:lnSpc>
              <a:buNone/>
            </a:pPr>
            <a:r>
              <a:rPr lang="en-US" sz="27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19,800</a:t>
            </a:r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円〜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" y="562356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CE7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制作・保守・集客（MEO / SEO / AIO）まで、月額に全部込み。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03720" y="1463040"/>
            <a:ext cx="4892040" cy="3163824"/>
          </a:xfrm>
          <a:prstGeom prst="roundRect">
            <a:avLst>
              <a:gd name="adj" fmla="val 2601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903720" y="1463040"/>
            <a:ext cx="4892040" cy="438912"/>
          </a:xfrm>
          <a:prstGeom prst="roundRect">
            <a:avLst>
              <a:gd name="adj" fmla="val 18750"/>
            </a:avLst>
          </a:prstGeom>
          <a:solidFill>
            <a:srgbClr val="EDEFF3"/>
          </a:solidFill>
          <a:ln/>
        </p:spPr>
      </p:sp>
      <p:pic>
        <p:nvPicPr>
          <p:cNvPr id="14" name="Image 0" descr="/Users/toukairintakeaki/CantikVault/サービス資料/_build/cover_her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31152" y="1773936"/>
            <a:ext cx="4837176" cy="282549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068312" y="1578072"/>
            <a:ext cx="80833" cy="80833"/>
          </a:xfrm>
          <a:prstGeom prst="ellipse">
            <a:avLst/>
          </a:prstGeom>
          <a:solidFill>
            <a:srgbClr val="F26D64"/>
          </a:solidFill>
          <a:ln/>
        </p:spPr>
      </p:sp>
      <p:sp>
        <p:nvSpPr>
          <p:cNvPr id="16" name="Shape 13"/>
          <p:cNvSpPr/>
          <p:nvPr/>
        </p:nvSpPr>
        <p:spPr>
          <a:xfrm>
            <a:off x="7213153" y="1578072"/>
            <a:ext cx="80833" cy="80833"/>
          </a:xfrm>
          <a:prstGeom prst="ellipse">
            <a:avLst/>
          </a:prstGeom>
          <a:solidFill>
            <a:srgbClr val="F7BE4E"/>
          </a:solidFill>
          <a:ln/>
        </p:spPr>
      </p:sp>
      <p:sp>
        <p:nvSpPr>
          <p:cNvPr id="17" name="Shape 14"/>
          <p:cNvSpPr/>
          <p:nvPr/>
        </p:nvSpPr>
        <p:spPr>
          <a:xfrm>
            <a:off x="7357994" y="1578072"/>
            <a:ext cx="80833" cy="80833"/>
          </a:xfrm>
          <a:prstGeom prst="ellipse">
            <a:avLst/>
          </a:prstGeom>
          <a:solidFill>
            <a:srgbClr val="5DC466"/>
          </a:solidFill>
          <a:ln/>
        </p:spPr>
      </p:sp>
      <p:sp>
        <p:nvSpPr>
          <p:cNvPr id="18" name="Shape 15"/>
          <p:cNvSpPr/>
          <p:nvPr/>
        </p:nvSpPr>
        <p:spPr>
          <a:xfrm>
            <a:off x="7630851" y="1522110"/>
            <a:ext cx="2834640" cy="192756"/>
          </a:xfrm>
          <a:prstGeom prst="roundRect">
            <a:avLst>
              <a:gd name="adj" fmla="val 18975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2291" y="1522110"/>
            <a:ext cx="2670048" cy="192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🔒 </a:t>
            </a:r>
            <a:pPr algn="l" indent="0" marL="0">
              <a:buNone/>
            </a:pPr>
            <a:r>
              <a:rPr lang="en-US" sz="950" dirty="0">
                <a:solidFill>
                  <a:srgbClr val="7C869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sanwadental-kanayamaekimae.com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903720" y="1463040"/>
            <a:ext cx="4892040" cy="3163824"/>
          </a:xfrm>
          <a:prstGeom prst="roundRect">
            <a:avLst>
              <a:gd name="adj" fmla="val 2601"/>
            </a:avLst>
          </a:prstGeom>
          <a:ln w="12700">
            <a:solidFill>
              <a:srgbClr val="D5DD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03720" y="4700016"/>
            <a:ext cx="4892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実際の制作実績（サンワデンタルクリニック金山 様）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903720" y="5230368"/>
            <a:ext cx="1536192" cy="822960"/>
          </a:xfrm>
          <a:prstGeom prst="roundRect">
            <a:avLst>
              <a:gd name="adj" fmla="val 11111"/>
            </a:avLst>
          </a:prstGeom>
          <a:solidFill>
            <a:srgbClr val="2E7BE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903720" y="5230368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制作実績
</a:t>
            </a:r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400件超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595360" y="5230368"/>
            <a:ext cx="1536192" cy="822960"/>
          </a:xfrm>
          <a:prstGeom prst="roundRect">
            <a:avLst>
              <a:gd name="adj" fmla="val 11111"/>
            </a:avLst>
          </a:prstGeom>
          <a:solidFill>
            <a:srgbClr val="2E7BE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95360" y="5230368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対応
</a:t>
            </a:r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全業種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0287000" y="5230368"/>
            <a:ext cx="1536192" cy="822960"/>
          </a:xfrm>
          <a:prstGeom prst="roundRect">
            <a:avLst>
              <a:gd name="adj" fmla="val 11111"/>
            </a:avLst>
          </a:prstGeom>
          <a:solidFill>
            <a:srgbClr val="2E7BE4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287000" y="5230368"/>
            <a:ext cx="15361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ご対応
</a:t>
            </a:r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全国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754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cantik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618988" y="1783080"/>
            <a:ext cx="950976" cy="950976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18988" y="1783080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サブスク型ホームページとは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914400" y="40690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4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作って終わりにしない、育てるホームページ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3F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Issues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ホームページの、よくあるお悩み</a:t>
            </a:r>
            <a:endParaRPr lang="en-US" sz="3000" dirty="0"/>
          </a:p>
        </p:txBody>
      </p:sp>
      <p:pic>
        <p:nvPicPr>
          <p:cNvPr id="5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8" name="Text 5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13716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ひとつでも当てはまれば、</a:t>
            </a:r>
            <a:pPr algn="ctr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改善の余地があります。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2011680" y="2148840"/>
            <a:ext cx="8165592" cy="658368"/>
          </a:xfrm>
          <a:prstGeom prst="roundRect">
            <a:avLst>
              <a:gd name="adj" fmla="val 13889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67712" y="2295144"/>
            <a:ext cx="365760" cy="36576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2" y="2386584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80360" y="2148840"/>
            <a:ext cx="7068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高い費用で作ったのに、問い合わせが増えない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2011680" y="2926080"/>
            <a:ext cx="8165592" cy="658368"/>
          </a:xfrm>
          <a:prstGeom prst="roundRect">
            <a:avLst>
              <a:gd name="adj" fmla="val 13889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267712" y="3072384"/>
            <a:ext cx="365760" cy="36576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152" y="3163824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880360" y="2926080"/>
            <a:ext cx="7068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公開したきり、更新も改善もできていない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2011680" y="3703320"/>
            <a:ext cx="8165592" cy="658368"/>
          </a:xfrm>
          <a:prstGeom prst="roundRect">
            <a:avLst>
              <a:gd name="adj" fmla="val 13889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2267712" y="3849624"/>
            <a:ext cx="365760" cy="36576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152" y="3941064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880360" y="3703320"/>
            <a:ext cx="7068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検索やGoogleマップで、自社が出てこない</a:t>
            </a:r>
            <a:endParaRPr lang="en-US" sz="1550" dirty="0"/>
          </a:p>
        </p:txBody>
      </p:sp>
      <p:sp>
        <p:nvSpPr>
          <p:cNvPr id="22" name="Shape 16"/>
          <p:cNvSpPr/>
          <p:nvPr/>
        </p:nvSpPr>
        <p:spPr>
          <a:xfrm>
            <a:off x="2011680" y="4480560"/>
            <a:ext cx="8165592" cy="658368"/>
          </a:xfrm>
          <a:prstGeom prst="roundRect">
            <a:avLst>
              <a:gd name="adj" fmla="val 13889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2267712" y="4626864"/>
            <a:ext cx="365760" cy="36576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9152" y="4718304"/>
            <a:ext cx="182880" cy="1828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2880360" y="4480560"/>
            <a:ext cx="7068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制作・保守・集客が別会社で、バラバラ・割高</a:t>
            </a:r>
            <a:endParaRPr lang="en-US" sz="1550" dirty="0"/>
          </a:p>
        </p:txBody>
      </p:sp>
      <p:sp>
        <p:nvSpPr>
          <p:cNvPr id="26" name="Shape 19"/>
          <p:cNvSpPr/>
          <p:nvPr/>
        </p:nvSpPr>
        <p:spPr>
          <a:xfrm>
            <a:off x="2011680" y="5257800"/>
            <a:ext cx="8165592" cy="658368"/>
          </a:xfrm>
          <a:prstGeom prst="roundRect">
            <a:avLst>
              <a:gd name="adj" fmla="val 13889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2267712" y="5404104"/>
            <a:ext cx="365760" cy="365760"/>
          </a:xfrm>
          <a:prstGeom prst="ellipse">
            <a:avLst/>
          </a:prstGeom>
          <a:solidFill>
            <a:srgbClr val="E5484D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9152" y="5495544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880360" y="5257800"/>
            <a:ext cx="70683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生成AI（ChatGPT等）で、自社が紹介されない</a:t>
            </a:r>
            <a:endParaRPr lang="en-US" sz="1550" dirty="0"/>
          </a:p>
        </p:txBody>
      </p:sp>
      <p:sp>
        <p:nvSpPr>
          <p:cNvPr id="30" name="Text 22"/>
          <p:cNvSpPr/>
          <p:nvPr/>
        </p:nvSpPr>
        <p:spPr>
          <a:xfrm>
            <a:off x="731520" y="594360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 これらは、</a:t>
            </a:r>
            <a:pPr algn="ctr" indent="0" marL="0">
              <a:buNone/>
            </a:pPr>
            <a:r>
              <a:rPr lang="en-US" sz="16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サブスク型ホームページ</a:t>
            </a:r>
            <a:pPr algn="ctr" indent="0" marL="0">
              <a:buNone/>
            </a:pPr>
            <a:r>
              <a:rPr lang="en-US" sz="16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でまとめて解決できます。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About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サブスク型ホームページとは</a:t>
            </a:r>
            <a:endParaRPr lang="en-US" sz="3000" dirty="0"/>
          </a:p>
        </p:txBody>
      </p:sp>
      <p:pic>
        <p:nvPicPr>
          <p:cNvPr id="5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8" name="Text 5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13258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制作・サーバー・保守・集客まで、</a:t>
            </a:r>
            <a:pPr algn="ctr"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すべて月額に込み。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99516" y="2148840"/>
            <a:ext cx="338328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9516" y="24048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初期費用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99516" y="280720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</a:t>
            </a:r>
            <a:pPr algn="ctr" indent="0" marL="0">
              <a:buNone/>
            </a:pPr>
            <a:r>
              <a:rPr lang="en-US" sz="2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円</a:t>
            </a:r>
            <a:endParaRPr lang="en-US" sz="5200" dirty="0"/>
          </a:p>
        </p:txBody>
      </p:sp>
      <p:sp>
        <p:nvSpPr>
          <p:cNvPr id="13" name="Shape 10"/>
          <p:cNvSpPr/>
          <p:nvPr/>
        </p:nvSpPr>
        <p:spPr>
          <a:xfrm>
            <a:off x="4402836" y="2148840"/>
            <a:ext cx="338328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02836" y="24048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月額（税別）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402836" y="280720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19,800</a:t>
            </a:r>
            <a:pPr algn="ctr" indent="0" marL="0">
              <a:buNone/>
            </a:pPr>
            <a:r>
              <a:rPr lang="en-US" sz="2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円〜</a:t>
            </a:r>
            <a:endParaRPr lang="en-US" sz="3400" dirty="0"/>
          </a:p>
        </p:txBody>
      </p:sp>
      <p:sp>
        <p:nvSpPr>
          <p:cNvPr id="16" name="Shape 13"/>
          <p:cNvSpPr/>
          <p:nvPr/>
        </p:nvSpPr>
        <p:spPr>
          <a:xfrm>
            <a:off x="8106156" y="2148840"/>
            <a:ext cx="3383280" cy="173736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06156" y="240487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文言・画像の修正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06156" y="2807208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し放題</a:t>
            </a:r>
            <a:endParaRPr lang="en-US" sz="4000" dirty="0"/>
          </a:p>
        </p:txBody>
      </p:sp>
      <p:sp>
        <p:nvSpPr>
          <p:cNvPr id="19" name="Shape 16"/>
          <p:cNvSpPr/>
          <p:nvPr/>
        </p:nvSpPr>
        <p:spPr>
          <a:xfrm>
            <a:off x="699516" y="4297680"/>
            <a:ext cx="10789920" cy="1417320"/>
          </a:xfrm>
          <a:prstGeom prst="roundRect">
            <a:avLst>
              <a:gd name="adj" fmla="val 9032"/>
            </a:avLst>
          </a:prstGeom>
          <a:solidFill>
            <a:srgbClr val="EAF2FD"/>
          </a:solidFill>
          <a:ln/>
        </p:spPr>
      </p:sp>
      <p:sp>
        <p:nvSpPr>
          <p:cNvPr id="20" name="Text 17"/>
          <p:cNvSpPr/>
          <p:nvPr/>
        </p:nvSpPr>
        <p:spPr>
          <a:xfrm>
            <a:off x="973836" y="4434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プランに標準で含まれるもの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1019556" y="4864608"/>
            <a:ext cx="310896" cy="310896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852" y="4951476"/>
            <a:ext cx="146304" cy="14630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476756" y="4809744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基本5ページ＋毎月2ページ追加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094476" y="4864608"/>
            <a:ext cx="310896" cy="310896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772" y="4951476"/>
            <a:ext cx="146304" cy="14630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51676" y="4809744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 / SEO / AIO を標準搭載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1019556" y="5285232"/>
            <a:ext cx="310896" cy="310896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" y="5372100"/>
            <a:ext cx="146304" cy="14630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476756" y="5230368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常時SSL・サーバー・保守管理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6094476" y="5285232"/>
            <a:ext cx="310896" cy="310896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772" y="5372100"/>
            <a:ext cx="146304" cy="14630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551676" y="5230368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原稿作成・写真手配に対応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731520" y="59436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初期0円だから、低リスクで始めて公開後もずっと育てられます。（最低契約24ヶ月・IT導入補助金の活用可）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Services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cantikで、できること</a:t>
            </a:r>
            <a:endParaRPr lang="en-US" sz="3000" dirty="0"/>
          </a:p>
        </p:txBody>
      </p:sp>
      <p:pic>
        <p:nvPicPr>
          <p:cNvPr id="5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8" name="Text 5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13258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「制作」だけでなく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「集客」と「運用」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まで、まるごとワンストップ。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70916" y="2103120"/>
            <a:ext cx="3566160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3524" y="2414016"/>
            <a:ext cx="841248" cy="841248"/>
          </a:xfrm>
          <a:prstGeom prst="roundRect">
            <a:avLst>
              <a:gd name="adj" fmla="val 14130"/>
            </a:avLst>
          </a:prstGeom>
          <a:solidFill>
            <a:srgbClr val="EAF2F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" y="262432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69364" y="2414016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ホームページ制作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81812" y="33101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コーポレート・店舗・採用。高品質を低コストで。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311396" y="2103120"/>
            <a:ext cx="3566160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04004" y="2414016"/>
            <a:ext cx="841248" cy="841248"/>
          </a:xfrm>
          <a:prstGeom prst="roundRect">
            <a:avLst>
              <a:gd name="adj" fmla="val 14130"/>
            </a:avLst>
          </a:prstGeom>
          <a:solidFill>
            <a:srgbClr val="EAF2F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316" y="262432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09844" y="2414016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LP（ランディングページ）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4622292" y="33101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CVR重視の1枚もの。広告の受け皿・販促に。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151876" y="2103120"/>
            <a:ext cx="3566160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444484" y="2414016"/>
            <a:ext cx="841248" cy="841248"/>
          </a:xfrm>
          <a:prstGeom prst="roundRect">
            <a:avLst>
              <a:gd name="adj" fmla="val 14130"/>
            </a:avLst>
          </a:prstGeom>
          <a:solidFill>
            <a:srgbClr val="EAF2F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4796" y="2624328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50324" y="2414016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ECサイト制作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8462772" y="33101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Shopify・BASE・EC-CUBE等。ネット販売に。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70916" y="4142232"/>
            <a:ext cx="3566160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63524" y="4453128"/>
            <a:ext cx="841248" cy="841248"/>
          </a:xfrm>
          <a:prstGeom prst="roundRect">
            <a:avLst>
              <a:gd name="adj" fmla="val 14130"/>
            </a:avLst>
          </a:prstGeom>
          <a:solidFill>
            <a:srgbClr val="EAF2F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" y="4663440"/>
            <a:ext cx="420624" cy="4206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769364" y="4453128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MEO（地図集客）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781812" y="5349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Googleビジネスプロフィール最適化で来店を。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4311396" y="4142232"/>
            <a:ext cx="3566160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604004" y="4453128"/>
            <a:ext cx="841248" cy="841248"/>
          </a:xfrm>
          <a:prstGeom prst="roundRect">
            <a:avLst>
              <a:gd name="adj" fmla="val 14130"/>
            </a:avLst>
          </a:prstGeom>
          <a:solidFill>
            <a:srgbClr val="EAF2FD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316" y="4663440"/>
            <a:ext cx="420624" cy="42062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609844" y="4453128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SEO（自然検索）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4622292" y="5349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設計〜内部対策で広告に頼らない集客基盤。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8151876" y="4142232"/>
            <a:ext cx="3566160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444484" y="4453128"/>
            <a:ext cx="841248" cy="841248"/>
          </a:xfrm>
          <a:prstGeom prst="roundRect">
            <a:avLst>
              <a:gd name="adj" fmla="val 14130"/>
            </a:avLst>
          </a:prstGeom>
          <a:solidFill>
            <a:srgbClr val="EAF2FD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4796" y="4663440"/>
            <a:ext cx="420624" cy="42062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450324" y="4453128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AIO / LLMO / GEO</a:t>
            </a:r>
            <a:endParaRPr lang="en-US" sz="1550" dirty="0"/>
          </a:p>
        </p:txBody>
      </p:sp>
      <p:sp>
        <p:nvSpPr>
          <p:cNvPr id="39" name="Text 30"/>
          <p:cNvSpPr/>
          <p:nvPr/>
        </p:nvSpPr>
        <p:spPr>
          <a:xfrm>
            <a:off x="8462772" y="5349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ChatGPT・Gemini・AI Overviewsに引用を。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Comparison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料金で、比べる</a:t>
            </a:r>
            <a:endParaRPr lang="en-US" sz="3000" dirty="0"/>
          </a:p>
        </p:txBody>
      </p:sp>
      <p:pic>
        <p:nvPicPr>
          <p:cNvPr id="5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8" name="Text 5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1298448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制作も集客も保守も、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初期0円・月額定額に“込み”。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645664" cy="548640"/>
          </a:xfrm>
          <a:prstGeom prst="roundRect">
            <a:avLst>
              <a:gd name="adj" fmla="val 13333"/>
            </a:avLst>
          </a:prstGeom>
          <a:solidFill>
            <a:srgbClr val="8A94A6"/>
          </a:solidFill>
          <a:ln/>
        </p:spPr>
      </p:sp>
      <p:sp>
        <p:nvSpPr>
          <p:cNvPr id="11" name="Text 8"/>
          <p:cNvSpPr/>
          <p:nvPr/>
        </p:nvSpPr>
        <p:spPr>
          <a:xfrm>
            <a:off x="3337560" y="2011680"/>
            <a:ext cx="2737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自作（AIツール）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120384" y="2011680"/>
            <a:ext cx="2645664" cy="548640"/>
          </a:xfrm>
          <a:prstGeom prst="roundRect">
            <a:avLst>
              <a:gd name="adj" fmla="val 13333"/>
            </a:avLst>
          </a:prstGeom>
          <a:solidFill>
            <a:srgbClr val="8A94A6"/>
          </a:solidFill>
          <a:ln/>
        </p:spPr>
      </p:sp>
      <p:sp>
        <p:nvSpPr>
          <p:cNvPr id="13" name="Text 10"/>
          <p:cNvSpPr/>
          <p:nvPr/>
        </p:nvSpPr>
        <p:spPr>
          <a:xfrm>
            <a:off x="6074664" y="2011680"/>
            <a:ext cx="2737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従来の制作会社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857488" y="2011680"/>
            <a:ext cx="2645664" cy="548640"/>
          </a:xfrm>
          <a:prstGeom prst="roundRect">
            <a:avLst>
              <a:gd name="adj" fmla="val 13333"/>
            </a:avLst>
          </a:prstGeom>
          <a:solidFill>
            <a:srgbClr val="1B6FDE"/>
          </a:solidFill>
          <a:ln/>
        </p:spPr>
      </p:sp>
      <p:sp>
        <p:nvSpPr>
          <p:cNvPr id="15" name="Text 12"/>
          <p:cNvSpPr/>
          <p:nvPr/>
        </p:nvSpPr>
        <p:spPr>
          <a:xfrm>
            <a:off x="8811768" y="2011680"/>
            <a:ext cx="2737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cantik サブスク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40080" y="2706624"/>
            <a:ext cx="2587752" cy="438912"/>
          </a:xfrm>
          <a:prstGeom prst="roundRect">
            <a:avLst>
              <a:gd name="adj" fmla="val 16667"/>
            </a:avLst>
          </a:prstGeom>
          <a:solidFill>
            <a:srgbClr val="EAF2FD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2670048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制作費用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337560" y="2670048"/>
            <a:ext cx="2737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ツール代＋作業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074664" y="2670048"/>
            <a:ext cx="2737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70万円〜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811768" y="2670048"/>
            <a:ext cx="2737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0円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337560" y="3236976"/>
            <a:ext cx="8211312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3273552"/>
            <a:ext cx="2587752" cy="438912"/>
          </a:xfrm>
          <a:prstGeom prst="roundRect">
            <a:avLst>
              <a:gd name="adj" fmla="val 16667"/>
            </a:avLst>
          </a:prstGeom>
          <a:solidFill>
            <a:srgbClr val="EAF2FD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236976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月額運用費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337560" y="3236976"/>
            <a:ext cx="2737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月1千〜3万円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074664" y="3236976"/>
            <a:ext cx="2737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月3万円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811768" y="3236976"/>
            <a:ext cx="2737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月19,800円〜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337560" y="3803904"/>
            <a:ext cx="8211312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0080" y="3840480"/>
            <a:ext cx="2587752" cy="438912"/>
          </a:xfrm>
          <a:prstGeom prst="roundRect">
            <a:avLst>
              <a:gd name="adj" fmla="val 16667"/>
            </a:avLst>
          </a:prstGeom>
          <a:solidFill>
            <a:srgbClr val="EAF2FD"/>
          </a:solidFill>
          <a:ln/>
        </p:spPr>
      </p:sp>
      <p:sp>
        <p:nvSpPr>
          <p:cNvPr id="29" name="Text 26"/>
          <p:cNvSpPr/>
          <p:nvPr/>
        </p:nvSpPr>
        <p:spPr>
          <a:xfrm>
            <a:off x="731520" y="380390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集客対策(MEO/SEO/AIO)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337560" y="3803904"/>
            <a:ext cx="2737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自分で実装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074664" y="3803904"/>
            <a:ext cx="2737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別途費用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811768" y="3803904"/>
            <a:ext cx="2737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標準で対応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337560" y="4370832"/>
            <a:ext cx="8211312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0080" y="4407408"/>
            <a:ext cx="2587752" cy="438912"/>
          </a:xfrm>
          <a:prstGeom prst="roundRect">
            <a:avLst>
              <a:gd name="adj" fmla="val 16667"/>
            </a:avLst>
          </a:prstGeom>
          <a:solidFill>
            <a:srgbClr val="EAF2FD"/>
          </a:solidFill>
          <a:ln/>
        </p:spPr>
      </p:sp>
      <p:sp>
        <p:nvSpPr>
          <p:cNvPr id="35" name="Text 32"/>
          <p:cNvSpPr/>
          <p:nvPr/>
        </p:nvSpPr>
        <p:spPr>
          <a:xfrm>
            <a:off x="731520" y="437083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保守・管理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3337560" y="4370832"/>
            <a:ext cx="2737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自分で対応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074664" y="4370832"/>
            <a:ext cx="2737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納品時のみ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811768" y="4370832"/>
            <a:ext cx="2737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常時管理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3337560" y="4937760"/>
            <a:ext cx="8211312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40080" y="4974336"/>
            <a:ext cx="2587752" cy="438912"/>
          </a:xfrm>
          <a:prstGeom prst="roundRect">
            <a:avLst>
              <a:gd name="adj" fmla="val 16667"/>
            </a:avLst>
          </a:prstGeom>
          <a:solidFill>
            <a:srgbClr val="EAF2FD"/>
          </a:solidFill>
          <a:ln/>
        </p:spPr>
      </p:sp>
      <p:sp>
        <p:nvSpPr>
          <p:cNvPr id="41" name="Text 38"/>
          <p:cNvSpPr/>
          <p:nvPr/>
        </p:nvSpPr>
        <p:spPr>
          <a:xfrm>
            <a:off x="731520" y="493776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修正・更新対応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3337560" y="4937760"/>
            <a:ext cx="2737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自分で対応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6074664" y="4937760"/>
            <a:ext cx="2737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都度費用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8811768" y="4937760"/>
            <a:ext cx="2737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し放題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8857488" y="2633472"/>
            <a:ext cx="2645664" cy="2898648"/>
          </a:xfrm>
          <a:prstGeom prst="roundRect">
            <a:avLst>
              <a:gd name="adj" fmla="val 2765"/>
            </a:avLst>
          </a:prstGeom>
          <a:ln w="19050">
            <a:solidFill>
              <a:srgbClr val="CFE0F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48640" y="6053328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※他社金額は一般的な相場目安。cantik料金は公式プラン（初期0円・月額19,800円〜／税別・最低24ヶ月）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Why cantik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「作って終わり」にしない</a:t>
            </a:r>
            <a:endParaRPr lang="en-US" sz="3000" dirty="0"/>
          </a:p>
        </p:txBody>
      </p:sp>
      <p:pic>
        <p:nvPicPr>
          <p:cNvPr id="5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8" name="Text 5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1298448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ホームページは、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公開してからが本番です。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063240" y="2057400"/>
            <a:ext cx="2752344" cy="548640"/>
          </a:xfrm>
          <a:prstGeom prst="roundRect">
            <a:avLst>
              <a:gd name="adj" fmla="val 13333"/>
            </a:avLst>
          </a:prstGeom>
          <a:solidFill>
            <a:srgbClr val="8A94A6"/>
          </a:solidFill>
          <a:ln/>
        </p:spPr>
      </p:sp>
      <p:sp>
        <p:nvSpPr>
          <p:cNvPr id="11" name="Text 8"/>
          <p:cNvSpPr/>
          <p:nvPr/>
        </p:nvSpPr>
        <p:spPr>
          <a:xfrm>
            <a:off x="3017520" y="205740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自作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907024" y="2057400"/>
            <a:ext cx="2752344" cy="548640"/>
          </a:xfrm>
          <a:prstGeom prst="roundRect">
            <a:avLst>
              <a:gd name="adj" fmla="val 13333"/>
            </a:avLst>
          </a:prstGeom>
          <a:solidFill>
            <a:srgbClr val="8A94A6"/>
          </a:solidFill>
          <a:ln/>
        </p:spPr>
      </p:sp>
      <p:sp>
        <p:nvSpPr>
          <p:cNvPr id="13" name="Text 10"/>
          <p:cNvSpPr/>
          <p:nvPr/>
        </p:nvSpPr>
        <p:spPr>
          <a:xfrm>
            <a:off x="5861304" y="205740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従来の制作会社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750808" y="2057400"/>
            <a:ext cx="2752344" cy="548640"/>
          </a:xfrm>
          <a:prstGeom prst="roundRect">
            <a:avLst>
              <a:gd name="adj" fmla="val 13333"/>
            </a:avLst>
          </a:prstGeom>
          <a:solidFill>
            <a:srgbClr val="1B6FDE"/>
          </a:solidFill>
          <a:ln/>
        </p:spPr>
      </p:sp>
      <p:sp>
        <p:nvSpPr>
          <p:cNvPr id="15" name="Text 12"/>
          <p:cNvSpPr/>
          <p:nvPr/>
        </p:nvSpPr>
        <p:spPr>
          <a:xfrm>
            <a:off x="8705088" y="205740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cantik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40080" y="2752344"/>
            <a:ext cx="2267712" cy="585216"/>
          </a:xfrm>
          <a:prstGeom prst="roundRect">
            <a:avLst>
              <a:gd name="adj" fmla="val 12500"/>
            </a:avLst>
          </a:prstGeom>
          <a:solidFill>
            <a:srgbClr val="EAF2FD"/>
          </a:solidFill>
          <a:ln/>
        </p:spPr>
      </p:sp>
      <p:sp>
        <p:nvSpPr>
          <p:cNvPr id="17" name="Text 14"/>
          <p:cNvSpPr/>
          <p:nvPr/>
        </p:nvSpPr>
        <p:spPr>
          <a:xfrm>
            <a:off x="731520" y="2715768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集客対策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017520" y="2715768"/>
            <a:ext cx="2843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自分で実装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861304" y="2715768"/>
            <a:ext cx="2843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別途費用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705088" y="2715768"/>
            <a:ext cx="2843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標準で対応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3017520" y="3429000"/>
            <a:ext cx="8531352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3465576"/>
            <a:ext cx="2267712" cy="585216"/>
          </a:xfrm>
          <a:prstGeom prst="roundRect">
            <a:avLst>
              <a:gd name="adj" fmla="val 12500"/>
            </a:avLst>
          </a:prstGeom>
          <a:solidFill>
            <a:srgbClr val="EAF2FD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429000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保守管理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017520" y="3429000"/>
            <a:ext cx="2843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自分で対応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861304" y="3429000"/>
            <a:ext cx="2843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納品時設定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8705088" y="3429000"/>
            <a:ext cx="2843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常時管理を徹底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017520" y="4142232"/>
            <a:ext cx="8531352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0080" y="4178808"/>
            <a:ext cx="2267712" cy="585216"/>
          </a:xfrm>
          <a:prstGeom prst="roundRect">
            <a:avLst>
              <a:gd name="adj" fmla="val 12500"/>
            </a:avLst>
          </a:prstGeom>
          <a:solidFill>
            <a:srgbClr val="EAF2FD"/>
          </a:solidFill>
          <a:ln/>
        </p:spPr>
      </p:sp>
      <p:sp>
        <p:nvSpPr>
          <p:cNvPr id="29" name="Text 26"/>
          <p:cNvSpPr/>
          <p:nvPr/>
        </p:nvSpPr>
        <p:spPr>
          <a:xfrm>
            <a:off x="731520" y="4142232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分析・改善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017520" y="4142232"/>
            <a:ext cx="2843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自分で実装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5861304" y="4142232"/>
            <a:ext cx="2843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別途契約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705088" y="4142232"/>
            <a:ext cx="2843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AI＋プロが実装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3017520" y="4855464"/>
            <a:ext cx="8531352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40080" y="4892040"/>
            <a:ext cx="2267712" cy="585216"/>
          </a:xfrm>
          <a:prstGeom prst="roundRect">
            <a:avLst>
              <a:gd name="adj" fmla="val 12500"/>
            </a:avLst>
          </a:prstGeom>
          <a:solidFill>
            <a:srgbClr val="EAF2FD"/>
          </a:solidFill>
          <a:ln/>
        </p:spPr>
      </p:sp>
      <p:sp>
        <p:nvSpPr>
          <p:cNvPr id="35" name="Text 32"/>
          <p:cNvSpPr/>
          <p:nvPr/>
        </p:nvSpPr>
        <p:spPr>
          <a:xfrm>
            <a:off x="731520" y="4855464"/>
            <a:ext cx="21031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公開後の成長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3017520" y="4855464"/>
            <a:ext cx="2843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自力が必要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5861304" y="4855464"/>
            <a:ext cx="2843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止まりがち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8705088" y="4855464"/>
            <a:ext cx="284378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作った後も育てる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8750808" y="2679192"/>
            <a:ext cx="2752344" cy="2916936"/>
          </a:xfrm>
          <a:prstGeom prst="roundRect">
            <a:avLst>
              <a:gd name="adj" fmla="val 2658"/>
            </a:avLst>
          </a:prstGeom>
          <a:ln w="19050">
            <a:solidFill>
              <a:srgbClr val="CFE0F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31520" y="598932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制作会社の“納品ゴール”ではなく、成果までを一緒に走ります。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754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cantik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618988" y="1783080"/>
            <a:ext cx="950976" cy="950976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18988" y="1783080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ホームページ制作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914400" y="40690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4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デザインも中身も、成果につながるサイトを。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3F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Website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制作できるホームページ</a:t>
            </a:r>
            <a:endParaRPr lang="en-US" sz="3000" dirty="0"/>
          </a:p>
        </p:txBody>
      </p:sp>
      <p:pic>
        <p:nvPicPr>
          <p:cNvPr id="5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8" name="Text 5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132588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目的に合わせて、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“成果につながる”サイト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を制作します。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70916" y="2103120"/>
            <a:ext cx="3566160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3524" y="2414016"/>
            <a:ext cx="841248" cy="841248"/>
          </a:xfrm>
          <a:prstGeom prst="roundRect">
            <a:avLst>
              <a:gd name="adj" fmla="val 14130"/>
            </a:avLst>
          </a:prstGeom>
          <a:solidFill>
            <a:srgbClr val="EAF2F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836" y="262432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69364" y="2414016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コーポレートサイト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81812" y="33101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企業情報・実績・問い合わせ導線を整理した“企業の顔”。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311396" y="2103120"/>
            <a:ext cx="3566160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04004" y="2414016"/>
            <a:ext cx="841248" cy="841248"/>
          </a:xfrm>
          <a:prstGeom prst="roundRect">
            <a:avLst>
              <a:gd name="adj" fmla="val 14130"/>
            </a:avLst>
          </a:prstGeom>
          <a:solidFill>
            <a:srgbClr val="EAF2F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4316" y="2624328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609844" y="2414016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店舗・集客サイト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4622292" y="33101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Googleマップ連携で、来店・予約へ導きます。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151876" y="2103120"/>
            <a:ext cx="3566160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444484" y="2414016"/>
            <a:ext cx="841248" cy="841248"/>
          </a:xfrm>
          <a:prstGeom prst="roundRect">
            <a:avLst>
              <a:gd name="adj" fmla="val 14130"/>
            </a:avLst>
          </a:prstGeom>
          <a:solidFill>
            <a:srgbClr val="EAF2F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4796" y="2624328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450324" y="2414016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採用サイト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8462772" y="331012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社員紹介・募集要項でエントリーを増やします。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70916" y="4142232"/>
            <a:ext cx="3566160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63524" y="4453128"/>
            <a:ext cx="841248" cy="841248"/>
          </a:xfrm>
          <a:prstGeom prst="roundRect">
            <a:avLst>
              <a:gd name="adj" fmla="val 14130"/>
            </a:avLst>
          </a:prstGeom>
          <a:solidFill>
            <a:srgbClr val="EAF2F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836" y="4663440"/>
            <a:ext cx="420624" cy="42062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769364" y="4453128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サービス・製品サイト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781812" y="5349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強みと導入事例で、特定サービスを訴求。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4311396" y="4142232"/>
            <a:ext cx="3566160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604004" y="4453128"/>
            <a:ext cx="841248" cy="841248"/>
          </a:xfrm>
          <a:prstGeom prst="roundRect">
            <a:avLst>
              <a:gd name="adj" fmla="val 14130"/>
            </a:avLst>
          </a:prstGeom>
          <a:solidFill>
            <a:srgbClr val="EAF2FD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316" y="4663440"/>
            <a:ext cx="420624" cy="42062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609844" y="4453128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ブランディングサイト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4622292" y="5349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デザインと世界観で、競合と差別化します。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8151876" y="4142232"/>
            <a:ext cx="3566160" cy="17830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8444484" y="4453128"/>
            <a:ext cx="841248" cy="841248"/>
          </a:xfrm>
          <a:prstGeom prst="roundRect">
            <a:avLst>
              <a:gd name="adj" fmla="val 14130"/>
            </a:avLst>
          </a:prstGeom>
          <a:solidFill>
            <a:srgbClr val="EAF2FD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4796" y="4663440"/>
            <a:ext cx="420624" cy="42062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450324" y="4453128"/>
            <a:ext cx="2103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オウンドメディア</a:t>
            </a:r>
            <a:endParaRPr lang="en-US" sz="1550" dirty="0"/>
          </a:p>
        </p:txBody>
      </p:sp>
      <p:sp>
        <p:nvSpPr>
          <p:cNvPr id="39" name="Text 30"/>
          <p:cNvSpPr/>
          <p:nvPr/>
        </p:nvSpPr>
        <p:spPr>
          <a:xfrm>
            <a:off x="8462772" y="53492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SEO記事で、継続的に見込み客を集めます。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Structure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標準の構成と機能</a:t>
            </a:r>
            <a:endParaRPr lang="en-US" sz="3000" dirty="0"/>
          </a:p>
        </p:txBody>
      </p:sp>
      <p:pic>
        <p:nvPicPr>
          <p:cNvPr id="5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8" name="Text 5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07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1298448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基本5ページ＋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集客に必要な機能を標準搭載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1920240"/>
            <a:ext cx="4160520" cy="4114800"/>
          </a:xfrm>
          <a:prstGeom prst="roundRect">
            <a:avLst>
              <a:gd name="adj" fmla="val 3556"/>
            </a:avLst>
          </a:prstGeom>
          <a:solidFill>
            <a:srgbClr val="1B6FDE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221284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基本のページ構成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14400" y="263347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5ページ〜／毎月2ページ追加OK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14400" y="3200400"/>
            <a:ext cx="365760" cy="3657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463040" y="3154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トップページ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14400" y="3749040"/>
            <a:ext cx="365760" cy="3657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3749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463040" y="37033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サービス・商品紹介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914400" y="4297680"/>
            <a:ext cx="365760" cy="3657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4400" y="4297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463040" y="425196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実績・お客様の声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914400" y="4846320"/>
            <a:ext cx="365760" cy="3657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463040" y="480060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会社案内・アクセス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914400" y="5394960"/>
            <a:ext cx="365760" cy="36576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" y="5394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463040" y="53492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お問い合わせ（フォーム）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983480" y="19385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標準搭載の機能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4983480" y="2487168"/>
            <a:ext cx="384048" cy="384048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4064" y="2587752"/>
            <a:ext cx="182880" cy="1828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513832" y="2441448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レスポンシブ（スマホ対応）</a:t>
            </a:r>
            <a:endParaRPr lang="en-US" sz="1350" dirty="0"/>
          </a:p>
        </p:txBody>
      </p:sp>
      <p:sp>
        <p:nvSpPr>
          <p:cNvPr id="32" name="Shape 28"/>
          <p:cNvSpPr/>
          <p:nvPr/>
        </p:nvSpPr>
        <p:spPr>
          <a:xfrm>
            <a:off x="8412480" y="2487168"/>
            <a:ext cx="384048" cy="384048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587752"/>
            <a:ext cx="182880" cy="18288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942832" y="2441448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常時SSL（暗号化）</a:t>
            </a:r>
            <a:endParaRPr lang="en-US" sz="1350" dirty="0"/>
          </a:p>
        </p:txBody>
      </p:sp>
      <p:sp>
        <p:nvSpPr>
          <p:cNvPr id="35" name="Shape 30"/>
          <p:cNvSpPr/>
          <p:nvPr/>
        </p:nvSpPr>
        <p:spPr>
          <a:xfrm>
            <a:off x="4983480" y="3346704"/>
            <a:ext cx="384048" cy="384048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3447288"/>
            <a:ext cx="182880" cy="18288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513832" y="3300984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お問い合わせフォーム</a:t>
            </a:r>
            <a:endParaRPr lang="en-US" sz="1350" dirty="0"/>
          </a:p>
        </p:txBody>
      </p:sp>
      <p:sp>
        <p:nvSpPr>
          <p:cNvPr id="38" name="Shape 32"/>
          <p:cNvSpPr/>
          <p:nvPr/>
        </p:nvSpPr>
        <p:spPr>
          <a:xfrm>
            <a:off x="8412480" y="3346704"/>
            <a:ext cx="384048" cy="384048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3064" y="3447288"/>
            <a:ext cx="182880" cy="18288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8942832" y="3300984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CMSで自社更新</a:t>
            </a:r>
            <a:endParaRPr lang="en-US" sz="1350" dirty="0"/>
          </a:p>
        </p:txBody>
      </p:sp>
      <p:sp>
        <p:nvSpPr>
          <p:cNvPr id="41" name="Shape 34"/>
          <p:cNvSpPr/>
          <p:nvPr/>
        </p:nvSpPr>
        <p:spPr>
          <a:xfrm>
            <a:off x="4983480" y="4206240"/>
            <a:ext cx="384048" cy="384048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4064" y="4306824"/>
            <a:ext cx="182880" cy="18288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513832" y="4160520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お知らせ・ブログ機能</a:t>
            </a:r>
            <a:endParaRPr lang="en-US" sz="1350" dirty="0"/>
          </a:p>
        </p:txBody>
      </p:sp>
      <p:sp>
        <p:nvSpPr>
          <p:cNvPr id="44" name="Shape 36"/>
          <p:cNvSpPr/>
          <p:nvPr/>
        </p:nvSpPr>
        <p:spPr>
          <a:xfrm>
            <a:off x="8412480" y="4206240"/>
            <a:ext cx="384048" cy="384048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3064" y="4306824"/>
            <a:ext cx="182880" cy="18288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8942832" y="4160520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Googleマップ連携</a:t>
            </a:r>
            <a:endParaRPr lang="en-US" sz="1350" dirty="0"/>
          </a:p>
        </p:txBody>
      </p:sp>
      <p:sp>
        <p:nvSpPr>
          <p:cNvPr id="47" name="Shape 38"/>
          <p:cNvSpPr/>
          <p:nvPr/>
        </p:nvSpPr>
        <p:spPr>
          <a:xfrm>
            <a:off x="4983480" y="5065776"/>
            <a:ext cx="384048" cy="384048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84064" y="5166360"/>
            <a:ext cx="182880" cy="18288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5513832" y="5020056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アクセス解析</a:t>
            </a:r>
            <a:endParaRPr lang="en-US" sz="1350" dirty="0"/>
          </a:p>
        </p:txBody>
      </p:sp>
      <p:sp>
        <p:nvSpPr>
          <p:cNvPr id="50" name="Shape 40"/>
          <p:cNvSpPr/>
          <p:nvPr/>
        </p:nvSpPr>
        <p:spPr>
          <a:xfrm>
            <a:off x="8412480" y="5065776"/>
            <a:ext cx="384048" cy="384048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13064" y="5166360"/>
            <a:ext cx="182880" cy="18288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8942832" y="5020056"/>
            <a:ext cx="2880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SEO内部対策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Quality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デザイン品質と、対応の幅</a:t>
            </a:r>
            <a:endParaRPr lang="en-US" sz="3000" dirty="0"/>
          </a:p>
        </p:txBody>
      </p:sp>
      <p:pic>
        <p:nvPicPr>
          <p:cNvPr id="5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8" name="Text 5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08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13716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ブランドの魅力を引き出す、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唯一無二のWEBサイト。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2286000"/>
            <a:ext cx="3483864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3644" y="2743200"/>
            <a:ext cx="1133856" cy="1133856"/>
          </a:xfrm>
          <a:prstGeom prst="roundRect">
            <a:avLst>
              <a:gd name="adj" fmla="val 10484"/>
            </a:avLst>
          </a:prstGeom>
          <a:solidFill>
            <a:srgbClr val="EAF2F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108" y="3026664"/>
            <a:ext cx="566928" cy="5669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4069080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プロのデザイン品質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59536" y="461772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UX/UI設計と世界観で、印象と成果を両立します。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352544" y="2286000"/>
            <a:ext cx="3483864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527548" y="2743200"/>
            <a:ext cx="1133856" cy="1133856"/>
          </a:xfrm>
          <a:prstGeom prst="roundRect">
            <a:avLst>
              <a:gd name="adj" fmla="val 10484"/>
            </a:avLst>
          </a:prstGeom>
          <a:solidFill>
            <a:srgbClr val="EAF2F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012" y="3026664"/>
            <a:ext cx="566928" cy="5669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35424" y="4069080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業種ノウハウ × 400件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4663440" y="461772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医療・飲食・士業など、業種特化の勝ちパターンで制作。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156448" y="2286000"/>
            <a:ext cx="3483864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331452" y="2743200"/>
            <a:ext cx="1133856" cy="1133856"/>
          </a:xfrm>
          <a:prstGeom prst="roundRect">
            <a:avLst>
              <a:gd name="adj" fmla="val 10484"/>
            </a:avLst>
          </a:prstGeom>
          <a:solidFill>
            <a:srgbClr val="EAF2F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4916" y="3026664"/>
            <a:ext cx="566928" cy="5669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39328" y="4069080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原稿・写真もお任せ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8467344" y="461772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原稿作成・写真手配まで対応。素材が無くても始められます。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31520" y="58064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LP・ECサイト・ロゴ／バナー／名刺</a:t>
            </a:r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まで、まとめて対応できます。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754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cantik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618988" y="1783080"/>
            <a:ext cx="950976" cy="950976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18988" y="1783080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集客対策（MEO / SEO / AIO）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914400" y="40690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4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検索・地図・生成AI。すべての“見つけられる”を最適化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3F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</a:t>
            </a:r>
            <a:pPr algn="l" indent="0" marL="0">
              <a:buNone/>
            </a:pPr>
            <a:r>
              <a:rPr lang="en-US" sz="2700" b="1" dirty="0">
                <a:solidFill>
                  <a:srgbClr val="C3CA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｜  </a:t>
            </a:r>
            <a:pPr algn="l" indent="0" marL="0">
              <a:buNone/>
            </a:pPr>
            <a:r>
              <a:rPr lang="en-US" sz="2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来店を、検索の最初の一歩から</a:t>
            </a:r>
            <a:endParaRPr lang="en-US" sz="2700" dirty="0"/>
          </a:p>
        </p:txBody>
      </p:sp>
      <p:pic>
        <p:nvPicPr>
          <p:cNvPr id="5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8" name="Text 5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13716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「地域名＋業種」で探すユーザーに、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Googleマップ上位で見つけてもらう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対策です。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286000"/>
            <a:ext cx="3483864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3644" y="2743200"/>
            <a:ext cx="1133856" cy="1133856"/>
          </a:xfrm>
          <a:prstGeom prst="roundRect">
            <a:avLst>
              <a:gd name="adj" fmla="val 10484"/>
            </a:avLst>
          </a:prstGeom>
          <a:solidFill>
            <a:srgbClr val="EAF2F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108" y="3026664"/>
            <a:ext cx="566928" cy="5669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4069080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検索行動の変化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59536" y="461772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「近くの○○」で探し、地図・口コミを見てその場で来店先を決める行動が定着。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352544" y="2286000"/>
            <a:ext cx="3483864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527548" y="2743200"/>
            <a:ext cx="1133856" cy="1133856"/>
          </a:xfrm>
          <a:prstGeom prst="roundRect">
            <a:avLst>
              <a:gd name="adj" fmla="val 10484"/>
            </a:avLst>
          </a:prstGeom>
          <a:solidFill>
            <a:srgbClr val="EAF2F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012" y="3026664"/>
            <a:ext cx="566928" cy="5669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35424" y="4069080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上位3枠が主戦場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4663440" y="461772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マップの上位3枠に入るかどうかで、電話・経路・来店の行動が大きく変わります。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156448" y="2286000"/>
            <a:ext cx="3483864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331452" y="2743200"/>
            <a:ext cx="1133856" cy="1133856"/>
          </a:xfrm>
          <a:prstGeom prst="roundRect">
            <a:avLst>
              <a:gd name="adj" fmla="val 10484"/>
            </a:avLst>
          </a:prstGeom>
          <a:solidFill>
            <a:srgbClr val="EAF2F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4916" y="3026664"/>
            <a:ext cx="566928" cy="5669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39328" y="4069080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評価が集客を左右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8467344" y="461772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口コミ件数・評価・返信の丁寧さが、選ばれる店とそうでない店を分けます。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31520" y="58064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マップで見つからない店は、</a:t>
            </a:r>
            <a:pPr algn="ctr"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来店候補にすら入りません。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MEOで、できること</a:t>
            </a:r>
            <a:endParaRPr lang="en-US" sz="3000" dirty="0"/>
          </a:p>
        </p:txBody>
      </p:sp>
      <p:pic>
        <p:nvPicPr>
          <p:cNvPr id="5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8" name="Text 5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794760" cy="4160520"/>
          </a:xfrm>
          <a:prstGeom prst="roundRect">
            <a:avLst>
              <a:gd name="adj" fmla="val 3855"/>
            </a:avLst>
          </a:prstGeom>
          <a:solidFill>
            <a:srgbClr val="1B6FDE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2240280"/>
            <a:ext cx="1005840" cy="1005840"/>
          </a:xfrm>
          <a:prstGeom prst="ellipse">
            <a:avLst/>
          </a:prstGeom>
          <a:solidFill>
            <a:srgbClr val="4A90E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249631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34290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932688" y="39776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来店を、検索の</a:t>
            </a:r>
            <a:endParaRPr lang="en-US" sz="15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最初の一歩から。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932688" y="51206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FC8E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パスワード共有不要の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FC8E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正規の代理運用（OAuth）で対応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09160" y="1915668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208026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77840" y="1842516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口コミの確認と返信代行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577840" y="2189988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店舗のトーンに合わせた返信文を作成・投稿します。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577840" y="2660904"/>
            <a:ext cx="58978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09160" y="2747772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91236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2674620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Google投稿の作成・配信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577840" y="3022092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お知らせ・キャンペーンを定期発信し来店を後押し。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577840" y="3493008"/>
            <a:ext cx="58978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09160" y="3579876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374446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77840" y="3506724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MEO順位の計測と改善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577840" y="3854196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地図検索順位を測定し、改善策を施策に反映します。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5577840" y="4325112"/>
            <a:ext cx="58978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709160" y="4411980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4576572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577840" y="4338828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店舗情報の最新化・管理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5577840" y="4686300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営業時間・住所・電話・写真を正確に維持します。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577840" y="5157216"/>
            <a:ext cx="58978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4709160" y="5244084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5408676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577840" y="5170932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複数店舗の一元管理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5577840" y="5518404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専用ツールで可視化し、月次レポートで報告します。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SEO</a:t>
            </a:r>
            <a:pPr algn="l" indent="0" marL="0">
              <a:buNone/>
            </a:pPr>
            <a:r>
              <a:rPr lang="en-US" sz="2700" b="1" dirty="0">
                <a:solidFill>
                  <a:srgbClr val="C3CA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｜  </a:t>
            </a:r>
            <a:pPr algn="l" indent="0" marL="0">
              <a:buNone/>
            </a:pPr>
            <a:r>
              <a:rPr lang="en-US" sz="2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検索を、最強の集客チャネルへ</a:t>
            </a:r>
            <a:endParaRPr lang="en-US" sz="2700" dirty="0"/>
          </a:p>
        </p:txBody>
      </p:sp>
      <p:pic>
        <p:nvPicPr>
          <p:cNvPr id="5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8" name="Text 5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13716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広告に頼らず、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自然検索から安定的に集客できる仕組み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をつくります。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8640" y="2286000"/>
            <a:ext cx="3483864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3644" y="2743200"/>
            <a:ext cx="1133856" cy="1133856"/>
          </a:xfrm>
          <a:prstGeom prst="roundRect">
            <a:avLst>
              <a:gd name="adj" fmla="val 10484"/>
            </a:avLst>
          </a:prstGeom>
          <a:solidFill>
            <a:srgbClr val="EAF2F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108" y="3026664"/>
            <a:ext cx="566928" cy="5669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4069080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広告費に依存しない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59536" y="461772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上位表示は“止めたら消える広告”と違い、積み上げるほど資産として集客し続けます。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352544" y="2286000"/>
            <a:ext cx="3483864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527548" y="2743200"/>
            <a:ext cx="1133856" cy="1133856"/>
          </a:xfrm>
          <a:prstGeom prst="roundRect">
            <a:avLst>
              <a:gd name="adj" fmla="val 10484"/>
            </a:avLst>
          </a:prstGeom>
          <a:solidFill>
            <a:srgbClr val="EAF2F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012" y="3026664"/>
            <a:ext cx="566928" cy="5669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35424" y="4069080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購買意欲の高い流入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4663440" y="461772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自ら検索して訪れるユーザーは目的が明確。問い合わせ・成約につながりやすい層です。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156448" y="2286000"/>
            <a:ext cx="3483864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331452" y="2743200"/>
            <a:ext cx="1133856" cy="1133856"/>
          </a:xfrm>
          <a:prstGeom prst="roundRect">
            <a:avLst>
              <a:gd name="adj" fmla="val 10484"/>
            </a:avLst>
          </a:prstGeom>
          <a:solidFill>
            <a:srgbClr val="EAF2F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4916" y="3026664"/>
            <a:ext cx="566928" cy="5669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39328" y="4069080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改善し続ける仕組み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8467344" y="461772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Search Console等で計測し継続改善。成果実感の目安は3〜6ヶ月です。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31520" y="58064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検索を、</a:t>
            </a:r>
            <a:pPr algn="ctr"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広告に頼らない“資産”の集客チャネルへ。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SEOで、できること</a:t>
            </a:r>
            <a:endParaRPr lang="en-US" sz="3000" dirty="0"/>
          </a:p>
        </p:txBody>
      </p:sp>
      <p:pic>
        <p:nvPicPr>
          <p:cNvPr id="5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8" name="Text 5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794760" cy="4160520"/>
          </a:xfrm>
          <a:prstGeom prst="roundRect">
            <a:avLst>
              <a:gd name="adj" fmla="val 3855"/>
            </a:avLst>
          </a:prstGeom>
          <a:solidFill>
            <a:srgbClr val="1B6FDE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2240280"/>
            <a:ext cx="1005840" cy="1005840"/>
          </a:xfrm>
          <a:prstGeom prst="ellipse">
            <a:avLst/>
          </a:prstGeom>
          <a:solidFill>
            <a:srgbClr val="4A90E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249631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34290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SEO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932688" y="39776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検索を、最強の</a:t>
            </a:r>
            <a:endParaRPr lang="en-US" sz="15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集客チャネルへ。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932688" y="51206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FC8E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成果実感の目安は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FC8E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3〜6ヶ月（競合性による）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09160" y="1915668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208026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77840" y="1842516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キーワード調査・検索意図分析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577840" y="2189988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需要と競合を分析し、成果につながる語を選定。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577840" y="2660904"/>
            <a:ext cx="58978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09160" y="2747772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91236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2674620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コンテンツ制作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577840" y="3022092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検索上位を狙う質の高い記事を企画・制作します。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577840" y="3493008"/>
            <a:ext cx="58978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09160" y="3579876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374446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77840" y="3506724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内部SEO対策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577840" y="3854196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タイトル・見出し・内部リンク・速度・構造化を最適化。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5577840" y="4325112"/>
            <a:ext cx="58978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709160" y="4411980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4576572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577840" y="4338828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効果測定・改善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5577840" y="4686300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Search Console等で継続改善し月次で報告します。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577840" y="5157216"/>
            <a:ext cx="58978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4709160" y="5244084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5408676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577840" y="5170932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MEO・SNS連携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5577840" y="5518404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地図集客・SNSまで含めた集客全体を設計します。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AIO / LLMO / GEO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AIO</a:t>
            </a:r>
            <a:pPr algn="l" indent="0" marL="0">
              <a:buNone/>
            </a:pPr>
            <a:r>
              <a:rPr lang="en-US" sz="2700" b="1" dirty="0">
                <a:solidFill>
                  <a:srgbClr val="C3CA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 ｜  </a:t>
            </a:r>
            <a:pPr algn="l" indent="0" marL="0">
              <a:buNone/>
            </a:pPr>
            <a:r>
              <a:rPr lang="en-US" sz="2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AIに、見つけられ・引用される</a:t>
            </a:r>
            <a:endParaRPr lang="en-US" sz="2700" dirty="0"/>
          </a:p>
        </p:txBody>
      </p:sp>
      <p:pic>
        <p:nvPicPr>
          <p:cNvPr id="5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8" name="Text 5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13716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ChatGPT・Gemini・AI Overviewsなど、</a:t>
            </a:r>
            <a:pPr algn="ctr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生成AI検索で選ばれる企業</a:t>
            </a:r>
            <a:pPr algn="ctr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になるための最適化です。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548640" y="2286000"/>
            <a:ext cx="3483864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3644" y="2743200"/>
            <a:ext cx="1133856" cy="1133856"/>
          </a:xfrm>
          <a:prstGeom prst="roundRect">
            <a:avLst>
              <a:gd name="adj" fmla="val 10484"/>
            </a:avLst>
          </a:prstGeom>
          <a:solidFill>
            <a:srgbClr val="EAF2F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108" y="3026664"/>
            <a:ext cx="566928" cy="5669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" y="4069080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検索が“回答”に変わる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859536" y="461772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ユーザーはリンクを辿らず、AIの回答で判断。答えに引用されるかが勝負です。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352544" y="2286000"/>
            <a:ext cx="3483864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527548" y="2743200"/>
            <a:ext cx="1133856" cy="1133856"/>
          </a:xfrm>
          <a:prstGeom prst="roundRect">
            <a:avLst>
              <a:gd name="adj" fmla="val 10484"/>
            </a:avLst>
          </a:prstGeom>
          <a:solidFill>
            <a:srgbClr val="EAF2F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012" y="3026664"/>
            <a:ext cx="566928" cy="5669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35424" y="4069080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指名・比較で登場する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4663440" y="461772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「◯◯のおすすめは？」の回答に自社が挙がるかで、認知と問い合わせが変わります。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156448" y="2286000"/>
            <a:ext cx="3483864" cy="31089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331452" y="2743200"/>
            <a:ext cx="1133856" cy="1133856"/>
          </a:xfrm>
          <a:prstGeom prst="roundRect">
            <a:avLst>
              <a:gd name="adj" fmla="val 10484"/>
            </a:avLst>
          </a:prstGeom>
          <a:solidFill>
            <a:srgbClr val="EAF2FD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4916" y="3026664"/>
            <a:ext cx="566928" cy="5669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39328" y="4069080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信頼できる一次情報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8467344" y="4617720"/>
            <a:ext cx="28620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AIは出典・専門性・独自性を重視。E-E-A-Tの整った情報ほど引用されます。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731520" y="58064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従来のSEO/MEOに、</a:t>
            </a:r>
            <a:pPr algn="ctr" indent="0" marL="0">
              <a:buNone/>
            </a:pPr>
            <a:r>
              <a:rPr lang="en-US" sz="1600" b="1" dirty="0">
                <a:solidFill>
                  <a:srgbClr val="E5484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“AIに選ばれる”次世代対策を。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AIO / LLMO / GEO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AIOで、できること</a:t>
            </a:r>
            <a:endParaRPr lang="en-US" sz="3000" dirty="0"/>
          </a:p>
        </p:txBody>
      </p:sp>
      <p:pic>
        <p:nvPicPr>
          <p:cNvPr id="5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8" name="Text 5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828800"/>
            <a:ext cx="3794760" cy="4160520"/>
          </a:xfrm>
          <a:prstGeom prst="roundRect">
            <a:avLst>
              <a:gd name="adj" fmla="val 3855"/>
            </a:avLst>
          </a:prstGeom>
          <a:solidFill>
            <a:srgbClr val="1B6FDE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2240280"/>
            <a:ext cx="1005840" cy="1005840"/>
          </a:xfrm>
          <a:prstGeom prst="ellipse">
            <a:avLst/>
          </a:prstGeom>
          <a:solidFill>
            <a:srgbClr val="4A90E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249631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342900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AIO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932688" y="397764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AIに、見つけられ・</a:t>
            </a:r>
            <a:endParaRPr lang="en-US" sz="15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引用される企業へ。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932688" y="51206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FC8E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ChatGPT / Gemini /</a:t>
            </a:r>
            <a:endParaRPr lang="en-US" sz="1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FC8E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Perplexity / AI Overview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09160" y="1915668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208026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77840" y="1842516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AI検索の現状分析・引用把握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577840" y="2189988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生成AIでの自社・競合の扱われ方を可視化します。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577840" y="2660904"/>
            <a:ext cx="58978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09160" y="2747772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291236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2674620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AIに引用されるコンテンツ制作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577840" y="3022092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「AIが答えに使いやすい」記事を企画・制作します。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577840" y="3493008"/>
            <a:ext cx="58978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09160" y="3579876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374446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77840" y="3506724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構造化データ・技術的最適化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577840" y="3854196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schema.org・見出し構造・内部リンクを最適化。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5577840" y="4325112"/>
            <a:ext cx="58978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709160" y="4411980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4576572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577840" y="4338828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E-E-A-T（専門性・信頼性）強化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5577840" y="4686300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著者情報・出典・独自性を整備します。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5577840" y="5157216"/>
            <a:ext cx="5897880" cy="0"/>
          </a:xfrm>
          <a:prstGeom prst="line">
            <a:avLst/>
          </a:prstGeom>
          <a:noFill/>
          <a:ln w="12700">
            <a:solidFill>
              <a:srgbClr val="E4E8EF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4709160" y="5244084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5408676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577840" y="5170932"/>
            <a:ext cx="6035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SEO・MEOと連携した設計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5577840" y="5518404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従来検索・地図検索と一体で集客基盤を設計。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47548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cantik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5618988" y="1783080"/>
            <a:ext cx="950976" cy="950976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18988" y="1783080"/>
            <a:ext cx="95097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297180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料金プラン・制作実績・ご導入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914400" y="406908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6E4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目的に合わせて選べる3プラン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3F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Price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料金プラン</a:t>
            </a:r>
            <a:endParaRPr lang="en-US" sz="3000" dirty="0"/>
          </a:p>
        </p:txBody>
      </p:sp>
      <p:pic>
        <p:nvPicPr>
          <p:cNvPr id="5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8" name="Text 5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1261872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MEO・SEO・AIOは全プラン標準対応。上位ほど </a:t>
            </a:r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施策量が増え、成果が早くなります</a:t>
            </a:r>
            <a:pPr algn="ct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93776" y="1874520"/>
            <a:ext cx="35204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B6FD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" y="1874520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ライト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93776" y="2532888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19,800</a:t>
            </a:r>
            <a:pPr algn="ctr" indent="0" marL="0">
              <a:buNone/>
            </a:pPr>
            <a:r>
              <a:rPr lang="en-US" sz="14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円〜/月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93776" y="317296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着実に積み上げたい方へ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3776" y="3502152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3712464"/>
            <a:ext cx="237744" cy="237744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3771900"/>
            <a:ext cx="118872" cy="1188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15568" y="3630168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SEO記事：月2本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49808" y="4133088"/>
            <a:ext cx="237744" cy="237744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4192524"/>
            <a:ext cx="118872" cy="1188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15568" y="4050792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MEO：情報更新・口コミ返信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49808" y="4553712"/>
            <a:ext cx="237744" cy="237744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4613148"/>
            <a:ext cx="118872" cy="1188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15568" y="4471416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SEO内部改善：四半期ごと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49808" y="4974336"/>
            <a:ext cx="237744" cy="237744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5033772"/>
            <a:ext cx="118872" cy="1188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115568" y="4892040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AIO：初期設計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749808" y="5394960"/>
            <a:ext cx="237744" cy="237744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" y="5454396"/>
            <a:ext cx="118872" cy="1188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115568" y="5312664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サポート：メール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334256" y="1874520"/>
            <a:ext cx="3520440" cy="566928"/>
          </a:xfrm>
          <a:prstGeom prst="roundRect">
            <a:avLst>
              <a:gd name="adj" fmla="val 16129"/>
            </a:avLst>
          </a:prstGeom>
          <a:solidFill>
            <a:srgbClr val="1B6FDE"/>
          </a:solidFill>
          <a:ln w="19050">
            <a:solidFill>
              <a:srgbClr val="1B6FDE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4334256" y="1874520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スタンダード（人気）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4334256" y="2532888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39,800</a:t>
            </a:r>
            <a:pPr algn="ctr" indent="0" marL="0">
              <a:buNone/>
            </a:pPr>
            <a:r>
              <a:rPr lang="en-US" sz="14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円〜/月</a:t>
            </a:r>
            <a:endParaRPr lang="en-US" sz="3000" dirty="0"/>
          </a:p>
        </p:txBody>
      </p:sp>
      <p:sp>
        <p:nvSpPr>
          <p:cNvPr id="33" name="Text 25"/>
          <p:cNvSpPr/>
          <p:nvPr/>
        </p:nvSpPr>
        <p:spPr>
          <a:xfrm>
            <a:off x="4334256" y="317296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バランスよく早めに成果を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4334256" y="3502152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4590288" y="3712464"/>
            <a:ext cx="237744" cy="237744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9724" y="3771900"/>
            <a:ext cx="118872" cy="11887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956048" y="3630168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SEO記事：月4本</a:t>
            </a:r>
            <a:endParaRPr lang="en-US" sz="1100" dirty="0"/>
          </a:p>
        </p:txBody>
      </p:sp>
      <p:sp>
        <p:nvSpPr>
          <p:cNvPr id="38" name="Shape 29"/>
          <p:cNvSpPr/>
          <p:nvPr/>
        </p:nvSpPr>
        <p:spPr>
          <a:xfrm>
            <a:off x="4590288" y="4133088"/>
            <a:ext cx="237744" cy="237744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9724" y="4192524"/>
            <a:ext cx="118872" cy="118872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956048" y="4050792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MEO：＋Google投稿 月2回</a:t>
            </a:r>
            <a:endParaRPr lang="en-US" sz="1100" dirty="0"/>
          </a:p>
        </p:txBody>
      </p:sp>
      <p:sp>
        <p:nvSpPr>
          <p:cNvPr id="41" name="Shape 31"/>
          <p:cNvSpPr/>
          <p:nvPr/>
        </p:nvSpPr>
        <p:spPr>
          <a:xfrm>
            <a:off x="4590288" y="4553712"/>
            <a:ext cx="237744" cy="237744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9724" y="4613148"/>
            <a:ext cx="118872" cy="118872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4956048" y="4471416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SEO内部改善：月次</a:t>
            </a:r>
            <a:endParaRPr lang="en-US" sz="1100" dirty="0"/>
          </a:p>
        </p:txBody>
      </p:sp>
      <p:sp>
        <p:nvSpPr>
          <p:cNvPr id="44" name="Shape 33"/>
          <p:cNvSpPr/>
          <p:nvPr/>
        </p:nvSpPr>
        <p:spPr>
          <a:xfrm>
            <a:off x="4590288" y="4974336"/>
            <a:ext cx="237744" cy="237744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9724" y="5033772"/>
            <a:ext cx="118872" cy="118872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4956048" y="4892040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AIO：構造化データ整備</a:t>
            </a:r>
            <a:endParaRPr lang="en-US" sz="1100" dirty="0"/>
          </a:p>
        </p:txBody>
      </p:sp>
      <p:sp>
        <p:nvSpPr>
          <p:cNvPr id="47" name="Shape 35"/>
          <p:cNvSpPr/>
          <p:nvPr/>
        </p:nvSpPr>
        <p:spPr>
          <a:xfrm>
            <a:off x="4590288" y="5394960"/>
            <a:ext cx="237744" cy="237744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9724" y="5454396"/>
            <a:ext cx="118872" cy="118872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4956048" y="5312664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月次レポート／チャット</a:t>
            </a:r>
            <a:endParaRPr lang="en-US" sz="1100" dirty="0"/>
          </a:p>
        </p:txBody>
      </p:sp>
      <p:sp>
        <p:nvSpPr>
          <p:cNvPr id="50" name="Shape 37"/>
          <p:cNvSpPr/>
          <p:nvPr/>
        </p:nvSpPr>
        <p:spPr>
          <a:xfrm>
            <a:off x="8174736" y="1874520"/>
            <a:ext cx="3520440" cy="566928"/>
          </a:xfrm>
          <a:prstGeom prst="roundRect">
            <a:avLst>
              <a:gd name="adj" fmla="val 16129"/>
            </a:avLst>
          </a:prstGeom>
          <a:solidFill>
            <a:srgbClr val="1558B0"/>
          </a:solidFill>
          <a:ln w="19050">
            <a:solidFill>
              <a:srgbClr val="1558B0"/>
            </a:solidFill>
            <a:prstDash val="solid"/>
          </a:ln>
        </p:spPr>
      </p:sp>
      <p:sp>
        <p:nvSpPr>
          <p:cNvPr id="51" name="Text 38"/>
          <p:cNvSpPr/>
          <p:nvPr/>
        </p:nvSpPr>
        <p:spPr>
          <a:xfrm>
            <a:off x="8174736" y="1874520"/>
            <a:ext cx="3520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プレミアム</a:t>
            </a:r>
            <a:endParaRPr lang="en-US" sz="1600" dirty="0"/>
          </a:p>
        </p:txBody>
      </p:sp>
      <p:sp>
        <p:nvSpPr>
          <p:cNvPr id="52" name="Text 39"/>
          <p:cNvSpPr/>
          <p:nvPr/>
        </p:nvSpPr>
        <p:spPr>
          <a:xfrm>
            <a:off x="8174736" y="2532888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69,800</a:t>
            </a:r>
            <a:pPr algn="ctr" indent="0" marL="0">
              <a:buNone/>
            </a:pPr>
            <a:r>
              <a:rPr lang="en-US" sz="1400" b="1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円〜/月</a:t>
            </a:r>
            <a:endParaRPr lang="en-US" sz="3000" dirty="0"/>
          </a:p>
        </p:txBody>
      </p:sp>
      <p:sp>
        <p:nvSpPr>
          <p:cNvPr id="53" name="Text 40"/>
          <p:cNvSpPr/>
          <p:nvPr/>
        </p:nvSpPr>
        <p:spPr>
          <a:xfrm>
            <a:off x="8174736" y="317296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今すぐ成果を出したい方へ</a:t>
            </a:r>
            <a:endParaRPr lang="en-US" sz="1100" dirty="0"/>
          </a:p>
        </p:txBody>
      </p:sp>
      <p:sp>
        <p:nvSpPr>
          <p:cNvPr id="54" name="Shape 41"/>
          <p:cNvSpPr/>
          <p:nvPr/>
        </p:nvSpPr>
        <p:spPr>
          <a:xfrm>
            <a:off x="8174736" y="3502152"/>
            <a:ext cx="3520440" cy="2331720"/>
          </a:xfrm>
          <a:prstGeom prst="roundRect">
            <a:avLst>
              <a:gd name="adj" fmla="val 4706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55" name="Shape 42"/>
          <p:cNvSpPr/>
          <p:nvPr/>
        </p:nvSpPr>
        <p:spPr>
          <a:xfrm>
            <a:off x="8430768" y="3712464"/>
            <a:ext cx="237744" cy="237744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90204" y="3771900"/>
            <a:ext cx="118872" cy="118872"/>
          </a:xfrm>
          <a:prstGeom prst="rect">
            <a:avLst/>
          </a:prstGeom>
        </p:spPr>
      </p:pic>
      <p:sp>
        <p:nvSpPr>
          <p:cNvPr id="57" name="Text 43"/>
          <p:cNvSpPr/>
          <p:nvPr/>
        </p:nvSpPr>
        <p:spPr>
          <a:xfrm>
            <a:off x="8796528" y="3630168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SEO記事：月8本</a:t>
            </a:r>
            <a:endParaRPr lang="en-US" sz="1100" dirty="0"/>
          </a:p>
        </p:txBody>
      </p:sp>
      <p:sp>
        <p:nvSpPr>
          <p:cNvPr id="58" name="Shape 44"/>
          <p:cNvSpPr/>
          <p:nvPr/>
        </p:nvSpPr>
        <p:spPr>
          <a:xfrm>
            <a:off x="8430768" y="4133088"/>
            <a:ext cx="237744" cy="237744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5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0204" y="4192524"/>
            <a:ext cx="118872" cy="118872"/>
          </a:xfrm>
          <a:prstGeom prst="rect">
            <a:avLst/>
          </a:prstGeom>
        </p:spPr>
      </p:pic>
      <p:sp>
        <p:nvSpPr>
          <p:cNvPr id="60" name="Text 45"/>
          <p:cNvSpPr/>
          <p:nvPr/>
        </p:nvSpPr>
        <p:spPr>
          <a:xfrm>
            <a:off x="8796528" y="4050792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MEO：＋投稿月4回・競合分析</a:t>
            </a:r>
            <a:endParaRPr lang="en-US" sz="1100" dirty="0"/>
          </a:p>
        </p:txBody>
      </p:sp>
      <p:sp>
        <p:nvSpPr>
          <p:cNvPr id="61" name="Shape 46"/>
          <p:cNvSpPr/>
          <p:nvPr/>
        </p:nvSpPr>
        <p:spPr>
          <a:xfrm>
            <a:off x="8430768" y="4553712"/>
            <a:ext cx="237744" cy="237744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6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90204" y="4613148"/>
            <a:ext cx="118872" cy="118872"/>
          </a:xfrm>
          <a:prstGeom prst="rect">
            <a:avLst/>
          </a:prstGeom>
        </p:spPr>
      </p:pic>
      <p:sp>
        <p:nvSpPr>
          <p:cNvPr id="63" name="Text 47"/>
          <p:cNvSpPr/>
          <p:nvPr/>
        </p:nvSpPr>
        <p:spPr>
          <a:xfrm>
            <a:off x="8796528" y="4471416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SEO内部改善：月次＋強化</a:t>
            </a:r>
            <a:endParaRPr lang="en-US" sz="1100" dirty="0"/>
          </a:p>
        </p:txBody>
      </p:sp>
      <p:sp>
        <p:nvSpPr>
          <p:cNvPr id="64" name="Shape 48"/>
          <p:cNvSpPr/>
          <p:nvPr/>
        </p:nvSpPr>
        <p:spPr>
          <a:xfrm>
            <a:off x="8430768" y="4974336"/>
            <a:ext cx="237744" cy="237744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6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90204" y="5033772"/>
            <a:ext cx="118872" cy="118872"/>
          </a:xfrm>
          <a:prstGeom prst="rect">
            <a:avLst/>
          </a:prstGeom>
        </p:spPr>
      </p:pic>
      <p:sp>
        <p:nvSpPr>
          <p:cNvPr id="66" name="Text 49"/>
          <p:cNvSpPr/>
          <p:nvPr/>
        </p:nvSpPr>
        <p:spPr>
          <a:xfrm>
            <a:off x="8796528" y="4892040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AIO：AI引用コンテンツ運用</a:t>
            </a:r>
            <a:endParaRPr lang="en-US" sz="1100" dirty="0"/>
          </a:p>
        </p:txBody>
      </p:sp>
      <p:sp>
        <p:nvSpPr>
          <p:cNvPr id="67" name="Shape 50"/>
          <p:cNvSpPr/>
          <p:nvPr/>
        </p:nvSpPr>
        <p:spPr>
          <a:xfrm>
            <a:off x="8430768" y="5394960"/>
            <a:ext cx="237744" cy="237744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6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90204" y="5454396"/>
            <a:ext cx="118872" cy="118872"/>
          </a:xfrm>
          <a:prstGeom prst="rect">
            <a:avLst/>
          </a:prstGeom>
        </p:spPr>
      </p:pic>
      <p:sp>
        <p:nvSpPr>
          <p:cNvPr id="69" name="Text 51"/>
          <p:cNvSpPr/>
          <p:nvPr/>
        </p:nvSpPr>
        <p:spPr>
          <a:xfrm>
            <a:off x="8796528" y="5312664"/>
            <a:ext cx="2715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月次+改善提案／優先伴走</a:t>
            </a:r>
            <a:endParaRPr lang="en-US" sz="1100" dirty="0"/>
          </a:p>
        </p:txBody>
      </p:sp>
      <p:sp>
        <p:nvSpPr>
          <p:cNvPr id="70" name="Text 52"/>
          <p:cNvSpPr/>
          <p:nvPr/>
        </p:nvSpPr>
        <p:spPr>
          <a:xfrm>
            <a:off x="548640" y="5961888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全プラン共通：初期0円／基本5ページ＋毎月2ページ追加／文言・画像の修正し放題／制作・サーバー・SSL・保守（最低24ヶ月・IT補助金可）</a:t>
            </a:r>
            <a:endParaRPr lang="en-US" sz="1050" dirty="0"/>
          </a:p>
        </p:txBody>
      </p:sp>
      <p:sp>
        <p:nvSpPr>
          <p:cNvPr id="71" name="Text 53"/>
          <p:cNvSpPr/>
          <p:nvPr/>
        </p:nvSpPr>
        <p:spPr>
          <a:xfrm>
            <a:off x="777240" y="6291072"/>
            <a:ext cx="10268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※ライトは公式プラン（月額19,800円〜／税別）。スタンダード・プレミアムの金額・施策量はモデル例（cantik基準で要確定）。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Works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制作実績・ポートフォリオ</a:t>
            </a:r>
            <a:endParaRPr lang="en-US" sz="3000" dirty="0"/>
          </a:p>
        </p:txBody>
      </p:sp>
      <p:pic>
        <p:nvPicPr>
          <p:cNvPr id="5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8" name="Text 5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16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1298448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400件以上の制作実績。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実際の制作サイトの一部</a:t>
            </a:r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 をご紹介します。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0916" y="1965960"/>
            <a:ext cx="356616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70916" y="1965960"/>
            <a:ext cx="3566160" cy="329184"/>
          </a:xfrm>
          <a:prstGeom prst="roundRect">
            <a:avLst>
              <a:gd name="adj" fmla="val 25000"/>
            </a:avLst>
          </a:prstGeom>
          <a:solidFill>
            <a:srgbClr val="EDEFF3"/>
          </a:solidFill>
          <a:ln/>
        </p:spPr>
      </p:sp>
      <p:pic>
        <p:nvPicPr>
          <p:cNvPr id="12" name="Image 1" descr="/Users/toukairintakeaki/CantikVault/サービス資料/_build/work_dent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98348" y="2167128"/>
            <a:ext cx="3511296" cy="1344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5508" y="2040392"/>
            <a:ext cx="52304" cy="52304"/>
          </a:xfrm>
          <a:prstGeom prst="ellipse">
            <a:avLst/>
          </a:prstGeom>
          <a:solidFill>
            <a:srgbClr val="F26D64"/>
          </a:solidFill>
          <a:ln/>
        </p:spPr>
      </p:sp>
      <p:sp>
        <p:nvSpPr>
          <p:cNvPr id="14" name="Shape 10"/>
          <p:cNvSpPr/>
          <p:nvPr/>
        </p:nvSpPr>
        <p:spPr>
          <a:xfrm>
            <a:off x="751820" y="2040392"/>
            <a:ext cx="52304" cy="52304"/>
          </a:xfrm>
          <a:prstGeom prst="ellipse">
            <a:avLst/>
          </a:prstGeom>
          <a:solidFill>
            <a:srgbClr val="F7BE4E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131" y="2040392"/>
            <a:ext cx="52304" cy="52304"/>
          </a:xfrm>
          <a:prstGeom prst="ellipse">
            <a:avLst/>
          </a:prstGeom>
          <a:solidFill>
            <a:srgbClr val="5DC466"/>
          </a:solidFill>
          <a:ln/>
        </p:spPr>
      </p:sp>
      <p:sp>
        <p:nvSpPr>
          <p:cNvPr id="16" name="Shape 12"/>
          <p:cNvSpPr/>
          <p:nvPr/>
        </p:nvSpPr>
        <p:spPr>
          <a:xfrm>
            <a:off x="1112459" y="2004182"/>
            <a:ext cx="2011680" cy="124724"/>
          </a:xfrm>
          <a:prstGeom prst="roundRect">
            <a:avLst>
              <a:gd name="adj" fmla="val 29326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203899" y="2004182"/>
            <a:ext cx="1847088" cy="124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🔒 </a:t>
            </a:r>
            <a:pPr algn="l" indent="0" marL="0">
              <a:buNone/>
            </a:pPr>
            <a:r>
              <a:rPr lang="en-US" sz="700" dirty="0">
                <a:solidFill>
                  <a:srgbClr val="7C869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sanwadental-kanayamaekimae.com</a:t>
            </a:r>
            <a:endParaRPr lang="en-US" sz="700" dirty="0"/>
          </a:p>
        </p:txBody>
      </p:sp>
      <p:sp>
        <p:nvSpPr>
          <p:cNvPr id="18" name="Shape 14"/>
          <p:cNvSpPr/>
          <p:nvPr/>
        </p:nvSpPr>
        <p:spPr>
          <a:xfrm>
            <a:off x="470916" y="1965960"/>
            <a:ext cx="3566160" cy="1572768"/>
          </a:xfrm>
          <a:prstGeom prst="roundRect">
            <a:avLst>
              <a:gd name="adj" fmla="val 5233"/>
            </a:avLst>
          </a:prstGeom>
          <a:ln w="12700">
            <a:solidFill>
              <a:srgbClr val="D5DDE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5780" y="3593592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サンワデンタルクリニック金山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525780" y="3822192"/>
            <a:ext cx="3456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医療・歯科／HP制作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311396" y="1965960"/>
            <a:ext cx="356616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</p:spPr>
      </p:sp>
      <p:sp>
        <p:nvSpPr>
          <p:cNvPr id="22" name="Shape 18"/>
          <p:cNvSpPr/>
          <p:nvPr/>
        </p:nvSpPr>
        <p:spPr>
          <a:xfrm>
            <a:off x="4311396" y="1965960"/>
            <a:ext cx="3566160" cy="329184"/>
          </a:xfrm>
          <a:prstGeom prst="roundRect">
            <a:avLst>
              <a:gd name="adj" fmla="val 25000"/>
            </a:avLst>
          </a:prstGeom>
          <a:solidFill>
            <a:srgbClr val="EDEFF3"/>
          </a:solidFill>
          <a:ln/>
        </p:spPr>
      </p:sp>
      <p:pic>
        <p:nvPicPr>
          <p:cNvPr id="23" name="Image 2" descr="/Users/toukairintakeaki/CantikVault/サービス資料/_build/work_jinzai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38828" y="2167128"/>
            <a:ext cx="3511296" cy="1344168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4475988" y="2040392"/>
            <a:ext cx="52304" cy="52304"/>
          </a:xfrm>
          <a:prstGeom prst="ellipse">
            <a:avLst/>
          </a:prstGeom>
          <a:solidFill>
            <a:srgbClr val="F26D64"/>
          </a:solidFill>
          <a:ln/>
        </p:spPr>
      </p:sp>
      <p:sp>
        <p:nvSpPr>
          <p:cNvPr id="25" name="Shape 20"/>
          <p:cNvSpPr/>
          <p:nvPr/>
        </p:nvSpPr>
        <p:spPr>
          <a:xfrm>
            <a:off x="4592300" y="2040392"/>
            <a:ext cx="52304" cy="52304"/>
          </a:xfrm>
          <a:prstGeom prst="ellipse">
            <a:avLst/>
          </a:prstGeom>
          <a:solidFill>
            <a:srgbClr val="F7BE4E"/>
          </a:solidFill>
          <a:ln/>
        </p:spPr>
      </p:sp>
      <p:sp>
        <p:nvSpPr>
          <p:cNvPr id="26" name="Shape 21"/>
          <p:cNvSpPr/>
          <p:nvPr/>
        </p:nvSpPr>
        <p:spPr>
          <a:xfrm>
            <a:off x="4708611" y="2040392"/>
            <a:ext cx="52304" cy="52304"/>
          </a:xfrm>
          <a:prstGeom prst="ellipse">
            <a:avLst/>
          </a:prstGeom>
          <a:solidFill>
            <a:srgbClr val="5DC466"/>
          </a:solidFill>
          <a:ln/>
        </p:spPr>
      </p:sp>
      <p:sp>
        <p:nvSpPr>
          <p:cNvPr id="27" name="Shape 22"/>
          <p:cNvSpPr/>
          <p:nvPr/>
        </p:nvSpPr>
        <p:spPr>
          <a:xfrm>
            <a:off x="4952939" y="2004182"/>
            <a:ext cx="2011680" cy="124724"/>
          </a:xfrm>
          <a:prstGeom prst="roundRect">
            <a:avLst>
              <a:gd name="adj" fmla="val 29326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044379" y="2004182"/>
            <a:ext cx="1847088" cy="124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🔒 </a:t>
            </a:r>
            <a:pPr algn="l" indent="0" marL="0">
              <a:buNone/>
            </a:pPr>
            <a:r>
              <a:rPr lang="en-US" sz="700" dirty="0">
                <a:solidFill>
                  <a:srgbClr val="7C869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jinzai-kouryu.metro.tokyo.lg.jp</a:t>
            </a:r>
            <a:endParaRPr lang="en-US" sz="700" dirty="0"/>
          </a:p>
        </p:txBody>
      </p:sp>
      <p:sp>
        <p:nvSpPr>
          <p:cNvPr id="29" name="Shape 24"/>
          <p:cNvSpPr/>
          <p:nvPr/>
        </p:nvSpPr>
        <p:spPr>
          <a:xfrm>
            <a:off x="4311396" y="1965960"/>
            <a:ext cx="3566160" cy="1572768"/>
          </a:xfrm>
          <a:prstGeom prst="roundRect">
            <a:avLst>
              <a:gd name="adj" fmla="val 5233"/>
            </a:avLst>
          </a:prstGeom>
          <a:ln w="12700">
            <a:solidFill>
              <a:srgbClr val="D5DDE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366260" y="3593592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人材交流支援事業（東京都）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4366260" y="3822192"/>
            <a:ext cx="3456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官公庁・人材／HP制作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8151876" y="1965960"/>
            <a:ext cx="356616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</p:spPr>
      </p:sp>
      <p:sp>
        <p:nvSpPr>
          <p:cNvPr id="33" name="Shape 28"/>
          <p:cNvSpPr/>
          <p:nvPr/>
        </p:nvSpPr>
        <p:spPr>
          <a:xfrm>
            <a:off x="8151876" y="1965960"/>
            <a:ext cx="3566160" cy="329184"/>
          </a:xfrm>
          <a:prstGeom prst="roundRect">
            <a:avLst>
              <a:gd name="adj" fmla="val 25000"/>
            </a:avLst>
          </a:prstGeom>
          <a:solidFill>
            <a:srgbClr val="EDEFF3"/>
          </a:solidFill>
          <a:ln/>
        </p:spPr>
      </p:sp>
      <p:pic>
        <p:nvPicPr>
          <p:cNvPr id="34" name="Image 3" descr="/Users/toukairintakeaki/CantikVault/サービス資料/_build/work_watch3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79308" y="2167128"/>
            <a:ext cx="3511296" cy="1344168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8316468" y="2040392"/>
            <a:ext cx="52304" cy="52304"/>
          </a:xfrm>
          <a:prstGeom prst="ellipse">
            <a:avLst/>
          </a:prstGeom>
          <a:solidFill>
            <a:srgbClr val="F26D64"/>
          </a:solidFill>
          <a:ln/>
        </p:spPr>
      </p:sp>
      <p:sp>
        <p:nvSpPr>
          <p:cNvPr id="36" name="Shape 30"/>
          <p:cNvSpPr/>
          <p:nvPr/>
        </p:nvSpPr>
        <p:spPr>
          <a:xfrm>
            <a:off x="8432780" y="2040392"/>
            <a:ext cx="52304" cy="52304"/>
          </a:xfrm>
          <a:prstGeom prst="ellipse">
            <a:avLst/>
          </a:prstGeom>
          <a:solidFill>
            <a:srgbClr val="F7BE4E"/>
          </a:solidFill>
          <a:ln/>
        </p:spPr>
      </p:sp>
      <p:sp>
        <p:nvSpPr>
          <p:cNvPr id="37" name="Shape 31"/>
          <p:cNvSpPr/>
          <p:nvPr/>
        </p:nvSpPr>
        <p:spPr>
          <a:xfrm>
            <a:off x="8549091" y="2040392"/>
            <a:ext cx="52304" cy="52304"/>
          </a:xfrm>
          <a:prstGeom prst="ellipse">
            <a:avLst/>
          </a:prstGeom>
          <a:solidFill>
            <a:srgbClr val="5DC466"/>
          </a:solidFill>
          <a:ln/>
        </p:spPr>
      </p:sp>
      <p:sp>
        <p:nvSpPr>
          <p:cNvPr id="38" name="Shape 32"/>
          <p:cNvSpPr/>
          <p:nvPr/>
        </p:nvSpPr>
        <p:spPr>
          <a:xfrm>
            <a:off x="8793419" y="2004182"/>
            <a:ext cx="2011680" cy="124724"/>
          </a:xfrm>
          <a:prstGeom prst="roundRect">
            <a:avLst>
              <a:gd name="adj" fmla="val 29326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8884859" y="2004182"/>
            <a:ext cx="1847088" cy="124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🔒 </a:t>
            </a:r>
            <a:pPr algn="l" indent="0" marL="0">
              <a:buNone/>
            </a:pPr>
            <a:r>
              <a:rPr lang="en-US" sz="700" dirty="0">
                <a:solidFill>
                  <a:srgbClr val="7C869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watch3.co.jp</a:t>
            </a:r>
            <a:endParaRPr lang="en-US" sz="700" dirty="0"/>
          </a:p>
        </p:txBody>
      </p:sp>
      <p:sp>
        <p:nvSpPr>
          <p:cNvPr id="40" name="Shape 34"/>
          <p:cNvSpPr/>
          <p:nvPr/>
        </p:nvSpPr>
        <p:spPr>
          <a:xfrm>
            <a:off x="8151876" y="1965960"/>
            <a:ext cx="3566160" cy="1572768"/>
          </a:xfrm>
          <a:prstGeom prst="roundRect">
            <a:avLst>
              <a:gd name="adj" fmla="val 5233"/>
            </a:avLst>
          </a:prstGeom>
          <a:ln w="12700">
            <a:solidFill>
              <a:srgbClr val="D5DDEA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8206740" y="3593592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WATCH THREE（株式会社３）</a:t>
            </a:r>
            <a:endParaRPr lang="en-US" sz="1150" dirty="0"/>
          </a:p>
        </p:txBody>
      </p:sp>
      <p:sp>
        <p:nvSpPr>
          <p:cNvPr id="42" name="Text 36"/>
          <p:cNvSpPr/>
          <p:nvPr/>
        </p:nvSpPr>
        <p:spPr>
          <a:xfrm>
            <a:off x="8206740" y="3822192"/>
            <a:ext cx="3456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時計販売／HP制作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470916" y="4050792"/>
            <a:ext cx="356616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</p:spPr>
      </p:sp>
      <p:sp>
        <p:nvSpPr>
          <p:cNvPr id="44" name="Shape 38"/>
          <p:cNvSpPr/>
          <p:nvPr/>
        </p:nvSpPr>
        <p:spPr>
          <a:xfrm>
            <a:off x="470916" y="4050792"/>
            <a:ext cx="3566160" cy="329184"/>
          </a:xfrm>
          <a:prstGeom prst="roundRect">
            <a:avLst>
              <a:gd name="adj" fmla="val 25000"/>
            </a:avLst>
          </a:prstGeom>
          <a:solidFill>
            <a:srgbClr val="EDEFF3"/>
          </a:solidFill>
          <a:ln/>
        </p:spPr>
      </p:sp>
      <p:pic>
        <p:nvPicPr>
          <p:cNvPr id="45" name="Image 4" descr="/Users/toukairintakeaki/CantikVault/サービス資料/_build/work_yuuki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98348" y="4251960"/>
            <a:ext cx="3511296" cy="134416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635508" y="4125224"/>
            <a:ext cx="52304" cy="52304"/>
          </a:xfrm>
          <a:prstGeom prst="ellipse">
            <a:avLst/>
          </a:prstGeom>
          <a:solidFill>
            <a:srgbClr val="F26D64"/>
          </a:solidFill>
          <a:ln/>
        </p:spPr>
      </p:sp>
      <p:sp>
        <p:nvSpPr>
          <p:cNvPr id="47" name="Shape 40"/>
          <p:cNvSpPr/>
          <p:nvPr/>
        </p:nvSpPr>
        <p:spPr>
          <a:xfrm>
            <a:off x="751820" y="4125224"/>
            <a:ext cx="52304" cy="52304"/>
          </a:xfrm>
          <a:prstGeom prst="ellipse">
            <a:avLst/>
          </a:prstGeom>
          <a:solidFill>
            <a:srgbClr val="F7BE4E"/>
          </a:solidFill>
          <a:ln/>
        </p:spPr>
      </p:sp>
      <p:sp>
        <p:nvSpPr>
          <p:cNvPr id="48" name="Shape 41"/>
          <p:cNvSpPr/>
          <p:nvPr/>
        </p:nvSpPr>
        <p:spPr>
          <a:xfrm>
            <a:off x="868131" y="4125224"/>
            <a:ext cx="52304" cy="52304"/>
          </a:xfrm>
          <a:prstGeom prst="ellipse">
            <a:avLst/>
          </a:prstGeom>
          <a:solidFill>
            <a:srgbClr val="5DC466"/>
          </a:solidFill>
          <a:ln/>
        </p:spPr>
      </p:sp>
      <p:sp>
        <p:nvSpPr>
          <p:cNvPr id="49" name="Shape 42"/>
          <p:cNvSpPr/>
          <p:nvPr/>
        </p:nvSpPr>
        <p:spPr>
          <a:xfrm>
            <a:off x="1112459" y="4089014"/>
            <a:ext cx="2011680" cy="124724"/>
          </a:xfrm>
          <a:prstGeom prst="roundRect">
            <a:avLst>
              <a:gd name="adj" fmla="val 29326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1203899" y="4089014"/>
            <a:ext cx="1847088" cy="124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🔒 </a:t>
            </a:r>
            <a:pPr algn="l" indent="0" marL="0">
              <a:buNone/>
            </a:pPr>
            <a:r>
              <a:rPr lang="en-US" sz="700" dirty="0">
                <a:solidFill>
                  <a:srgbClr val="7C869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yuuki-shihoushoshi.jp</a:t>
            </a:r>
            <a:endParaRPr lang="en-US" sz="700" dirty="0"/>
          </a:p>
        </p:txBody>
      </p:sp>
      <p:sp>
        <p:nvSpPr>
          <p:cNvPr id="51" name="Shape 44"/>
          <p:cNvSpPr/>
          <p:nvPr/>
        </p:nvSpPr>
        <p:spPr>
          <a:xfrm>
            <a:off x="470916" y="4050792"/>
            <a:ext cx="3566160" cy="1572768"/>
          </a:xfrm>
          <a:prstGeom prst="roundRect">
            <a:avLst>
              <a:gd name="adj" fmla="val 5233"/>
            </a:avLst>
          </a:prstGeom>
          <a:ln w="12700">
            <a:solidFill>
              <a:srgbClr val="D5DDEA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525780" y="5678424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ゆうき司法書士事務所</a:t>
            </a:r>
            <a:endParaRPr lang="en-US" sz="1150" dirty="0"/>
          </a:p>
        </p:txBody>
      </p:sp>
      <p:sp>
        <p:nvSpPr>
          <p:cNvPr id="53" name="Text 46"/>
          <p:cNvSpPr/>
          <p:nvPr/>
        </p:nvSpPr>
        <p:spPr>
          <a:xfrm>
            <a:off x="525780" y="5907024"/>
            <a:ext cx="3456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士業／HP制作</a:t>
            </a:r>
            <a:endParaRPr lang="en-US" sz="950" dirty="0"/>
          </a:p>
        </p:txBody>
      </p:sp>
      <p:sp>
        <p:nvSpPr>
          <p:cNvPr id="54" name="Shape 47"/>
          <p:cNvSpPr/>
          <p:nvPr/>
        </p:nvSpPr>
        <p:spPr>
          <a:xfrm>
            <a:off x="4311396" y="4050792"/>
            <a:ext cx="356616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/>
        </p:spPr>
      </p:sp>
      <p:sp>
        <p:nvSpPr>
          <p:cNvPr id="55" name="Shape 48"/>
          <p:cNvSpPr/>
          <p:nvPr/>
        </p:nvSpPr>
        <p:spPr>
          <a:xfrm>
            <a:off x="4311396" y="4050792"/>
            <a:ext cx="3566160" cy="329184"/>
          </a:xfrm>
          <a:prstGeom prst="roundRect">
            <a:avLst>
              <a:gd name="adj" fmla="val 25000"/>
            </a:avLst>
          </a:prstGeom>
          <a:solidFill>
            <a:srgbClr val="EDEFF3"/>
          </a:solidFill>
          <a:ln/>
        </p:spPr>
      </p:sp>
      <p:pic>
        <p:nvPicPr>
          <p:cNvPr id="56" name="Image 5" descr="/Users/toukairintakeaki/CantikVault/サービス資料/_build/work_next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38828" y="4251960"/>
            <a:ext cx="3511296" cy="1344168"/>
          </a:xfrm>
          <a:prstGeom prst="rect">
            <a:avLst/>
          </a:prstGeom>
        </p:spPr>
      </p:pic>
      <p:sp>
        <p:nvSpPr>
          <p:cNvPr id="57" name="Shape 49"/>
          <p:cNvSpPr/>
          <p:nvPr/>
        </p:nvSpPr>
        <p:spPr>
          <a:xfrm>
            <a:off x="4475988" y="4125224"/>
            <a:ext cx="52304" cy="52304"/>
          </a:xfrm>
          <a:prstGeom prst="ellipse">
            <a:avLst/>
          </a:prstGeom>
          <a:solidFill>
            <a:srgbClr val="F26D64"/>
          </a:solidFill>
          <a:ln/>
        </p:spPr>
      </p:sp>
      <p:sp>
        <p:nvSpPr>
          <p:cNvPr id="58" name="Shape 50"/>
          <p:cNvSpPr/>
          <p:nvPr/>
        </p:nvSpPr>
        <p:spPr>
          <a:xfrm>
            <a:off x="4592300" y="4125224"/>
            <a:ext cx="52304" cy="52304"/>
          </a:xfrm>
          <a:prstGeom prst="ellipse">
            <a:avLst/>
          </a:prstGeom>
          <a:solidFill>
            <a:srgbClr val="F7BE4E"/>
          </a:solidFill>
          <a:ln/>
        </p:spPr>
      </p:sp>
      <p:sp>
        <p:nvSpPr>
          <p:cNvPr id="59" name="Shape 51"/>
          <p:cNvSpPr/>
          <p:nvPr/>
        </p:nvSpPr>
        <p:spPr>
          <a:xfrm>
            <a:off x="4708611" y="4125224"/>
            <a:ext cx="52304" cy="52304"/>
          </a:xfrm>
          <a:prstGeom prst="ellipse">
            <a:avLst/>
          </a:prstGeom>
          <a:solidFill>
            <a:srgbClr val="5DC466"/>
          </a:solidFill>
          <a:ln/>
        </p:spPr>
      </p:sp>
      <p:sp>
        <p:nvSpPr>
          <p:cNvPr id="60" name="Shape 52"/>
          <p:cNvSpPr/>
          <p:nvPr/>
        </p:nvSpPr>
        <p:spPr>
          <a:xfrm>
            <a:off x="4952939" y="4089014"/>
            <a:ext cx="2011680" cy="124724"/>
          </a:xfrm>
          <a:prstGeom prst="roundRect">
            <a:avLst>
              <a:gd name="adj" fmla="val 29326"/>
            </a:avLst>
          </a:prstGeom>
          <a:solidFill>
            <a:srgbClr val="FFFFFF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61" name="Text 53"/>
          <p:cNvSpPr/>
          <p:nvPr/>
        </p:nvSpPr>
        <p:spPr>
          <a:xfrm>
            <a:off x="5044379" y="4089014"/>
            <a:ext cx="1847088" cy="1247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🔒 </a:t>
            </a:r>
            <a:pPr algn="l" indent="0" marL="0">
              <a:buNone/>
            </a:pPr>
            <a:r>
              <a:rPr lang="en-US" sz="700" dirty="0">
                <a:solidFill>
                  <a:srgbClr val="7C8698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nextkaitaipro.com</a:t>
            </a:r>
            <a:endParaRPr lang="en-US" sz="700" dirty="0"/>
          </a:p>
        </p:txBody>
      </p:sp>
      <p:sp>
        <p:nvSpPr>
          <p:cNvPr id="62" name="Shape 54"/>
          <p:cNvSpPr/>
          <p:nvPr/>
        </p:nvSpPr>
        <p:spPr>
          <a:xfrm>
            <a:off x="4311396" y="4050792"/>
            <a:ext cx="3566160" cy="1572768"/>
          </a:xfrm>
          <a:prstGeom prst="roundRect">
            <a:avLst>
              <a:gd name="adj" fmla="val 5233"/>
            </a:avLst>
          </a:prstGeom>
          <a:ln w="12700">
            <a:solidFill>
              <a:srgbClr val="D5DDEA"/>
            </a:solidFill>
            <a:prstDash val="solid"/>
          </a:ln>
        </p:spPr>
      </p:sp>
      <p:sp>
        <p:nvSpPr>
          <p:cNvPr id="63" name="Text 55"/>
          <p:cNvSpPr/>
          <p:nvPr/>
        </p:nvSpPr>
        <p:spPr>
          <a:xfrm>
            <a:off x="4366260" y="5678424"/>
            <a:ext cx="34564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ネクスト解体プロ</a:t>
            </a:r>
            <a:endParaRPr lang="en-US" sz="1150" dirty="0"/>
          </a:p>
        </p:txBody>
      </p:sp>
      <p:sp>
        <p:nvSpPr>
          <p:cNvPr id="64" name="Text 56"/>
          <p:cNvSpPr/>
          <p:nvPr/>
        </p:nvSpPr>
        <p:spPr>
          <a:xfrm>
            <a:off x="4366260" y="5907024"/>
            <a:ext cx="34564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解体・建設／HP制作</a:t>
            </a:r>
            <a:endParaRPr lang="en-US" sz="950" dirty="0"/>
          </a:p>
        </p:txBody>
      </p:sp>
      <p:sp>
        <p:nvSpPr>
          <p:cNvPr id="65" name="Shape 57"/>
          <p:cNvSpPr/>
          <p:nvPr/>
        </p:nvSpPr>
        <p:spPr>
          <a:xfrm>
            <a:off x="8151876" y="4050792"/>
            <a:ext cx="3566160" cy="1956816"/>
          </a:xfrm>
          <a:prstGeom prst="roundRect">
            <a:avLst>
              <a:gd name="adj" fmla="val 5607"/>
            </a:avLst>
          </a:prstGeom>
          <a:solidFill>
            <a:srgbClr val="1B6FDE"/>
          </a:solidFill>
          <a:ln/>
        </p:spPr>
      </p:sp>
      <p:sp>
        <p:nvSpPr>
          <p:cNvPr id="66" name="Text 58"/>
          <p:cNvSpPr/>
          <p:nvPr/>
        </p:nvSpPr>
        <p:spPr>
          <a:xfrm>
            <a:off x="8151876" y="42702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制作実績（累計）</a:t>
            </a:r>
            <a:endParaRPr lang="en-US" sz="1300" dirty="0"/>
          </a:p>
        </p:txBody>
      </p:sp>
      <p:sp>
        <p:nvSpPr>
          <p:cNvPr id="67" name="Text 59"/>
          <p:cNvSpPr/>
          <p:nvPr/>
        </p:nvSpPr>
        <p:spPr>
          <a:xfrm>
            <a:off x="8151876" y="4562856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400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件超</a:t>
            </a:r>
            <a:endParaRPr lang="en-US" sz="5000" dirty="0"/>
          </a:p>
        </p:txBody>
      </p:sp>
      <p:sp>
        <p:nvSpPr>
          <p:cNvPr id="68" name="Text 60"/>
          <p:cNvSpPr/>
          <p:nvPr/>
        </p:nvSpPr>
        <p:spPr>
          <a:xfrm>
            <a:off x="8334756" y="544068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EAF2F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HP 205・LP 108・EC 19</a:t>
            </a:r>
            <a:endParaRPr lang="en-US" sz="11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EAF2FD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オウンドメディア 12・採用 2</a:t>
            </a:r>
            <a:endParaRPr lang="en-US" sz="1150" dirty="0"/>
          </a:p>
        </p:txBody>
      </p:sp>
      <p:sp>
        <p:nvSpPr>
          <p:cNvPr id="69" name="Text 61"/>
          <p:cNvSpPr/>
          <p:nvPr/>
        </p:nvSpPr>
        <p:spPr>
          <a:xfrm>
            <a:off x="548640" y="6089904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対応業種：医療43・飲食27・建築25・美容20・不動産17・人材17・IT16 ほか（全業種対応）　／　CloudWorks TOPプロクラウドワーカー・ランサーズ認定ランサー・Web幹事掲載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Flow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導入までの流れ</a:t>
            </a:r>
            <a:endParaRPr lang="en-US" sz="3000" dirty="0"/>
          </a:p>
        </p:txBody>
      </p:sp>
      <p:pic>
        <p:nvPicPr>
          <p:cNvPr id="5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8" name="Text 5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17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137160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無料相談からスタート。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原稿・素材のご準備もサポート</a:t>
            </a:r>
            <a:pPr algn="ctr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します。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2743200"/>
            <a:ext cx="1975104" cy="2148840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389888" y="2505456"/>
            <a:ext cx="475488" cy="475488"/>
          </a:xfrm>
          <a:prstGeom prst="ellipse">
            <a:avLst/>
          </a:prstGeom>
          <a:solidFill>
            <a:srgbClr val="1B6FD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389888" y="2505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1124712" y="3200400"/>
            <a:ext cx="1005840" cy="1005840"/>
          </a:xfrm>
          <a:prstGeom prst="roundRect">
            <a:avLst>
              <a:gd name="adj" fmla="val 11818"/>
            </a:avLst>
          </a:prstGeom>
          <a:solidFill>
            <a:srgbClr val="EAF2FD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172" y="345186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" y="4279392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無料相談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・ヒアリング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615184" y="3543300"/>
            <a:ext cx="2583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3CA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2873502" y="2743200"/>
            <a:ext cx="1975104" cy="2148840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623310" y="2505456"/>
            <a:ext cx="475488" cy="475488"/>
          </a:xfrm>
          <a:prstGeom prst="ellipse">
            <a:avLst/>
          </a:prstGeom>
          <a:solidFill>
            <a:srgbClr val="1B6FD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23310" y="2505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2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3358134" y="3200400"/>
            <a:ext cx="1005840" cy="1005840"/>
          </a:xfrm>
          <a:prstGeom prst="roundRect">
            <a:avLst>
              <a:gd name="adj" fmla="val 11818"/>
            </a:avLst>
          </a:prstGeom>
          <a:solidFill>
            <a:srgbClr val="EAF2FD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9594" y="345186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964942" y="4279392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ご契約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・プラン確定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4848606" y="3543300"/>
            <a:ext cx="2583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3CA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5106924" y="2743200"/>
            <a:ext cx="1975104" cy="2148840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856732" y="2505456"/>
            <a:ext cx="475488" cy="475488"/>
          </a:xfrm>
          <a:prstGeom prst="ellipse">
            <a:avLst/>
          </a:prstGeom>
          <a:solidFill>
            <a:srgbClr val="1B6FD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856732" y="2505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5591556" y="3200400"/>
            <a:ext cx="1005840" cy="1005840"/>
          </a:xfrm>
          <a:prstGeom prst="roundRect">
            <a:avLst>
              <a:gd name="adj" fmla="val 11818"/>
            </a:avLst>
          </a:prstGeom>
          <a:solidFill>
            <a:srgbClr val="EAF2FD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3451860"/>
            <a:ext cx="502920" cy="5029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198364" y="4279392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原稿・素材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の準備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7082028" y="3543300"/>
            <a:ext cx="2583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3CA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2200" dirty="0"/>
          </a:p>
        </p:txBody>
      </p:sp>
      <p:sp>
        <p:nvSpPr>
          <p:cNvPr id="31" name="Shape 25"/>
          <p:cNvSpPr/>
          <p:nvPr/>
        </p:nvSpPr>
        <p:spPr>
          <a:xfrm>
            <a:off x="7340346" y="2743200"/>
            <a:ext cx="1975104" cy="2148840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8090154" y="2505456"/>
            <a:ext cx="475488" cy="475488"/>
          </a:xfrm>
          <a:prstGeom prst="ellipse">
            <a:avLst/>
          </a:prstGeom>
          <a:solidFill>
            <a:srgbClr val="1B6FD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8090154" y="2505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4</a:t>
            </a:r>
            <a:endParaRPr lang="en-US" sz="1700" dirty="0"/>
          </a:p>
        </p:txBody>
      </p:sp>
      <p:sp>
        <p:nvSpPr>
          <p:cNvPr id="34" name="Shape 28"/>
          <p:cNvSpPr/>
          <p:nvPr/>
        </p:nvSpPr>
        <p:spPr>
          <a:xfrm>
            <a:off x="7824978" y="3200400"/>
            <a:ext cx="1005840" cy="1005840"/>
          </a:xfrm>
          <a:prstGeom prst="roundRect">
            <a:avLst>
              <a:gd name="adj" fmla="val 11818"/>
            </a:avLst>
          </a:prstGeom>
          <a:solidFill>
            <a:srgbClr val="EAF2FD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6438" y="3451860"/>
            <a:ext cx="502920" cy="50292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431786" y="4279392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デザイン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・制作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9315450" y="3543300"/>
            <a:ext cx="25831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3CAD6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→</a:t>
            </a:r>
            <a:endParaRPr lang="en-US" sz="2200" dirty="0"/>
          </a:p>
        </p:txBody>
      </p:sp>
      <p:sp>
        <p:nvSpPr>
          <p:cNvPr id="38" name="Shape 31"/>
          <p:cNvSpPr/>
          <p:nvPr/>
        </p:nvSpPr>
        <p:spPr>
          <a:xfrm>
            <a:off x="9573768" y="2743200"/>
            <a:ext cx="1975104" cy="2148840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10323576" y="2505456"/>
            <a:ext cx="475488" cy="475488"/>
          </a:xfrm>
          <a:prstGeom prst="ellipse">
            <a:avLst/>
          </a:prstGeom>
          <a:solidFill>
            <a:srgbClr val="1B6FDE"/>
          </a:solidFill>
          <a:ln w="31750">
            <a:solidFill>
              <a:srgbClr val="FFFFFF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10323576" y="2505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5</a:t>
            </a:r>
            <a:endParaRPr lang="en-US" sz="1700" dirty="0"/>
          </a:p>
        </p:txBody>
      </p:sp>
      <p:sp>
        <p:nvSpPr>
          <p:cNvPr id="41" name="Shape 34"/>
          <p:cNvSpPr/>
          <p:nvPr/>
        </p:nvSpPr>
        <p:spPr>
          <a:xfrm>
            <a:off x="10058400" y="3200400"/>
            <a:ext cx="1005840" cy="1005840"/>
          </a:xfrm>
          <a:prstGeom prst="roundRect">
            <a:avLst>
              <a:gd name="adj" fmla="val 11818"/>
            </a:avLst>
          </a:prstGeom>
          <a:solidFill>
            <a:srgbClr val="EAF2FD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9860" y="3451860"/>
            <a:ext cx="502920" cy="50292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665208" y="4279392"/>
            <a:ext cx="17922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公開・</a:t>
            </a:r>
            <a:endParaRPr lang="en-US" sz="13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集客スタート</a:t>
            </a:r>
            <a:endParaRPr lang="en-US" sz="1350" dirty="0"/>
          </a:p>
        </p:txBody>
      </p:sp>
      <p:sp>
        <p:nvSpPr>
          <p:cNvPr id="44" name="Shape 36"/>
          <p:cNvSpPr/>
          <p:nvPr/>
        </p:nvSpPr>
        <p:spPr>
          <a:xfrm>
            <a:off x="2011680" y="5532120"/>
            <a:ext cx="8165592" cy="658368"/>
          </a:xfrm>
          <a:prstGeom prst="roundRect">
            <a:avLst>
              <a:gd name="adj" fmla="val 13889"/>
            </a:avLst>
          </a:prstGeom>
          <a:solidFill>
            <a:srgbClr val="EAF2FD"/>
          </a:solidFill>
          <a:ln/>
        </p:spPr>
      </p:sp>
      <p:sp>
        <p:nvSpPr>
          <p:cNvPr id="45" name="Shape 37"/>
          <p:cNvSpPr/>
          <p:nvPr/>
        </p:nvSpPr>
        <p:spPr>
          <a:xfrm>
            <a:off x="2286000" y="5715000"/>
            <a:ext cx="310896" cy="310896"/>
          </a:xfrm>
          <a:prstGeom prst="ellipse">
            <a:avLst/>
          </a:prstGeom>
          <a:solidFill>
            <a:srgbClr val="1B6FDE"/>
          </a:solidFill>
          <a:ln/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8296" y="5792724"/>
            <a:ext cx="146304" cy="146304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2788920" y="5532120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558B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公開後も、修正・ページ追加・集客改善をずっと伴走します。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FAQ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よくある質問</a:t>
            </a:r>
            <a:endParaRPr lang="en-US" sz="3000" dirty="0"/>
          </a:p>
        </p:txBody>
      </p:sp>
      <p:pic>
        <p:nvPicPr>
          <p:cNvPr id="5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8" name="Text 5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18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1508760"/>
            <a:ext cx="10908792" cy="457200"/>
          </a:xfrm>
          <a:prstGeom prst="roundRect">
            <a:avLst>
              <a:gd name="adj" fmla="val 50000"/>
            </a:avLst>
          </a:prstGeom>
          <a:solidFill>
            <a:srgbClr val="1B6FDE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1508760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FD7F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Q. </a:t>
            </a:r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本当に初期費用0円ですか？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005840" y="2020824"/>
            <a:ext cx="10268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A. </a:t>
            </a:r>
            <a:pPr algn="l"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はい。月額19,800円〜（税別）のみで、制作から公開まで対応します（最低契約24ヶ月）。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2478024"/>
            <a:ext cx="10908792" cy="457200"/>
          </a:xfrm>
          <a:prstGeom prst="roundRect">
            <a:avLst>
              <a:gd name="adj" fmla="val 50000"/>
            </a:avLst>
          </a:prstGeom>
          <a:solidFill>
            <a:srgbClr val="1B6FDE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2478024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FD7F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Q. </a:t>
            </a:r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途中でページを増やせますか？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005840" y="2990088"/>
            <a:ext cx="10268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A. </a:t>
            </a:r>
            <a:pPr algn="l"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基本5ページ＋毎月2ページまで追加可能。文言・画像の修正は無制限です。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3447288"/>
            <a:ext cx="10908792" cy="457200"/>
          </a:xfrm>
          <a:prstGeom prst="roundRect">
            <a:avLst>
              <a:gd name="adj" fmla="val 50000"/>
            </a:avLst>
          </a:prstGeom>
          <a:solidFill>
            <a:srgbClr val="1B6FDE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3447288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FD7F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Q. </a:t>
            </a:r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MEO・SEO・AIOは全部込みですか？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05840" y="3959352"/>
            <a:ext cx="10268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A. </a:t>
            </a:r>
            <a:pPr algn="l"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全プラン標準対応です。上位プランほど施策量（記事本数・投稿頻度等）が増えます。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" y="4416552"/>
            <a:ext cx="10908792" cy="457200"/>
          </a:xfrm>
          <a:prstGeom prst="roundRect">
            <a:avLst>
              <a:gd name="adj" fmla="val 50000"/>
            </a:avLst>
          </a:prstGeom>
          <a:solidFill>
            <a:srgbClr val="1B6FDE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4416552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FD7F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Q. </a:t>
            </a:r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補助金は使えますか？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005840" y="4928616"/>
            <a:ext cx="10268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A. </a:t>
            </a:r>
            <a:pPr algn="l"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条件を満たせば、IT導入補助金の活用で自己負担を抑えられます。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" y="5385816"/>
            <a:ext cx="10908792" cy="457200"/>
          </a:xfrm>
          <a:prstGeom prst="roundRect">
            <a:avLst>
              <a:gd name="adj" fmla="val 50000"/>
            </a:avLst>
          </a:prstGeom>
          <a:solidFill>
            <a:srgbClr val="1B6FDE"/>
          </a:solidFill>
          <a:ln/>
        </p:spPr>
      </p:sp>
      <p:sp>
        <p:nvSpPr>
          <p:cNvPr id="22" name="Text 19"/>
          <p:cNvSpPr/>
          <p:nvPr/>
        </p:nvSpPr>
        <p:spPr>
          <a:xfrm>
            <a:off x="1005840" y="5385816"/>
            <a:ext cx="102687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BFD7F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Q. </a:t>
            </a:r>
            <a:pPr algn="l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途中で解約はできますか？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1005840" y="5897880"/>
            <a:ext cx="10268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A. </a:t>
            </a:r>
            <a:pPr algn="l" indent="0" marL="0">
              <a:buNone/>
            </a:pPr>
            <a:r>
              <a:rPr lang="en-US" sz="1250" dirty="0">
                <a:solidFill>
                  <a:srgbClr val="51607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最低契約期間は24ヶ月です。期間内の解約は残月数分の料金が発生します。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" y="402336"/>
            <a:ext cx="128016" cy="128016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92608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Contact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03504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お問い合わせ</a:t>
            </a:r>
            <a:endParaRPr lang="en-US" sz="3000" dirty="0"/>
          </a:p>
        </p:txBody>
      </p:sp>
      <p:pic>
        <p:nvPicPr>
          <p:cNvPr id="5" name="Image 0" descr="/Users/toukairintakeaki/CantikVault/サービス資料/_build/logo_lockup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512064"/>
            <a:ext cx="2148840" cy="3017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51052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© 株式会社cantik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1686032" y="6355080"/>
            <a:ext cx="1097280" cy="1097280"/>
          </a:xfrm>
          <a:prstGeom prst="ellipse">
            <a:avLst/>
          </a:prstGeom>
          <a:solidFill>
            <a:srgbClr val="1B6FDE"/>
          </a:solidFill>
          <a:ln/>
        </p:spPr>
      </p:sp>
      <p:sp>
        <p:nvSpPr>
          <p:cNvPr id="8" name="Text 5"/>
          <p:cNvSpPr/>
          <p:nvPr/>
        </p:nvSpPr>
        <p:spPr>
          <a:xfrm>
            <a:off x="11686032" y="63825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19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まずはお気軽にご相談ください。</a:t>
            </a:r>
            <a:pPr algn="l" indent="0" marL="0">
              <a:buNone/>
            </a:pPr>
            <a:r>
              <a:rPr lang="en-US" sz="1700" b="1" dirty="0">
                <a:solidFill>
                  <a:srgbClr val="1B6FD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無料で現状診断いたします。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2377440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254203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37744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cantik.co.jp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40080" y="3246120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41071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24612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080-7084-3102（平日9:00〜18:00）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640080" y="4114800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27939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411480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info@cantik.co.jp</a:t>
            </a:r>
            <a:endParaRPr lang="en-US" sz="2000" dirty="0"/>
          </a:p>
        </p:txBody>
      </p:sp>
      <p:sp>
        <p:nvSpPr>
          <p:cNvPr id="19" name="Shape 13"/>
          <p:cNvSpPr/>
          <p:nvPr/>
        </p:nvSpPr>
        <p:spPr>
          <a:xfrm>
            <a:off x="640080" y="4983480"/>
            <a:ext cx="658368" cy="658368"/>
          </a:xfrm>
          <a:prstGeom prst="roundRect">
            <a:avLst>
              <a:gd name="adj" fmla="val 18056"/>
            </a:avLst>
          </a:prstGeom>
          <a:solidFill>
            <a:srgbClr val="EAF2FD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5148072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08760" y="4983480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神奈川県相模原市南区南台5-21-17 セレス南台203</a:t>
            </a:r>
            <a:endParaRPr lang="en-US" sz="1550" dirty="0"/>
          </a:p>
        </p:txBody>
      </p:sp>
      <p:sp>
        <p:nvSpPr>
          <p:cNvPr id="22" name="Shape 15"/>
          <p:cNvSpPr/>
          <p:nvPr/>
        </p:nvSpPr>
        <p:spPr>
          <a:xfrm>
            <a:off x="8915400" y="1920240"/>
            <a:ext cx="2697480" cy="365760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5875">
            <a:solidFill>
              <a:srgbClr val="E4E8EF"/>
            </a:solidFill>
            <a:prstDash val="solid"/>
          </a:ln>
        </p:spPr>
      </p:sp>
      <p:pic>
        <p:nvPicPr>
          <p:cNvPr id="23" name="Image 5" descr="/Users/toukairintakeaki/CantikVault/サービス資料/_build/q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2148840"/>
            <a:ext cx="2240280" cy="273405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778240" y="4983480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637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Instagram（CANTIK.INK）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8732520" y="5303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AA3B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QRから簡単にお問い合わせいただけます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488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spc="200" kern="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cantik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457200" y="34290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CE7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作って終わりにしない、“育てる”ホームページを。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FE0FA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cantik.co.jp　｜　080-7084-3102　｜　info@cantik.co.jp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サブスク型ホームページのご提案</dc:title>
  <dc:subject>PptxGenJS Presentation</dc:subject>
  <dc:creator>株式会社cantik</dc:creator>
  <cp:lastModifiedBy>株式会社cantik</cp:lastModifiedBy>
  <cp:revision>1</cp:revision>
  <dcterms:created xsi:type="dcterms:W3CDTF">2026-07-10T07:19:55Z</dcterms:created>
  <dcterms:modified xsi:type="dcterms:W3CDTF">2026-07-10T07:19:55Z</dcterms:modified>
</cp:coreProperties>
</file>