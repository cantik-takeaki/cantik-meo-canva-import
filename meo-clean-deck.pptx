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57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株式会社cantik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223760" y="457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サービス紹介資料　｜　2026.07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21792" y="128016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400" kern="0" dirty="0">
                <a:solidFill>
                  <a:srgbClr val="A9C9F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 MARKETING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874520"/>
            <a:ext cx="384048" cy="54864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0934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 マーケティング事業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2194560"/>
            <a:ext cx="6035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店舗集客の、</a:t>
            </a:r>
            <a:endParaRPr lang="en-US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新しい常識。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03504" y="42062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CE7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〜 Googleマップ集客（MEO）のご提案 〜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3504" y="5029200"/>
            <a:ext cx="1572768" cy="841248"/>
          </a:xfrm>
          <a:prstGeom prst="roundRect">
            <a:avLst>
              <a:gd name="adj" fmla="val 10870"/>
            </a:avLst>
          </a:prstGeom>
          <a:solidFill>
            <a:srgbClr val="2E7BE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5029200"/>
            <a:ext cx="1572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実績
</a:t>
            </a:r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400件超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40864" y="5029200"/>
            <a:ext cx="1572768" cy="841248"/>
          </a:xfrm>
          <a:prstGeom prst="roundRect">
            <a:avLst>
              <a:gd name="adj" fmla="val 10870"/>
            </a:avLst>
          </a:prstGeom>
          <a:solidFill>
            <a:srgbClr val="2E7BE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40864" y="5029200"/>
            <a:ext cx="1572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対応
</a:t>
            </a:r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全業種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78224" y="5029200"/>
            <a:ext cx="1572768" cy="841248"/>
          </a:xfrm>
          <a:prstGeom prst="roundRect">
            <a:avLst>
              <a:gd name="adj" fmla="val 10870"/>
            </a:avLst>
          </a:prstGeom>
          <a:solidFill>
            <a:srgbClr val="2E7BE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78224" y="5029200"/>
            <a:ext cx="157276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ご対応
</a:t>
            </a:r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全国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915400" y="1371600"/>
            <a:ext cx="2514600" cy="4709160"/>
          </a:xfrm>
          <a:prstGeom prst="roundRect">
            <a:avLst>
              <a:gd name="adj" fmla="val 10182"/>
            </a:avLst>
          </a:prstGeom>
          <a:solidFill>
            <a:srgbClr val="16294D"/>
          </a:solidFill>
          <a:ln/>
        </p:spPr>
      </p:sp>
      <p:pic>
        <p:nvPicPr>
          <p:cNvPr id="16" name="Image 0" descr="/Users/toukairintakeaki/CantikVault/サービス資料/_build/screen_map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025128" y="1517904"/>
            <a:ext cx="2295144" cy="44165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754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cantik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722876" y="138988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BBD4F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CHAPTER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18988" y="1783080"/>
            <a:ext cx="950976" cy="950976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18988" y="1783080"/>
            <a:ext cx="95097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なぜ今、MEOなのか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E4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店舗集客の主戦場は、Googleマップへ移りました。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3F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Issues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店舗集客の、よくあるお悩み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3716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ひとつでも当てはまれば、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改善の余地があります。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011680" y="2103120"/>
            <a:ext cx="8165592" cy="658368"/>
          </a:xfrm>
          <a:prstGeom prst="roundRect">
            <a:avLst>
              <a:gd name="adj" fmla="val 13889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67712" y="2249424"/>
            <a:ext cx="365760" cy="365760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152" y="2340864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80360" y="2103120"/>
            <a:ext cx="7068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広告費をかけても、新規客が増えない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2011680" y="2880360"/>
            <a:ext cx="8165592" cy="658368"/>
          </a:xfrm>
          <a:prstGeom prst="roundRect">
            <a:avLst>
              <a:gd name="adj" fmla="val 13889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267712" y="3026664"/>
            <a:ext cx="365760" cy="365760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152" y="3118104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880360" y="2880360"/>
            <a:ext cx="7068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ポータルサイトの掲載料が負担になっている</a:t>
            </a:r>
            <a:endParaRPr lang="en-US" sz="1550" dirty="0"/>
          </a:p>
        </p:txBody>
      </p:sp>
      <p:sp>
        <p:nvSpPr>
          <p:cNvPr id="20" name="Shape 15"/>
          <p:cNvSpPr/>
          <p:nvPr/>
        </p:nvSpPr>
        <p:spPr>
          <a:xfrm>
            <a:off x="2011680" y="3657600"/>
            <a:ext cx="8165592" cy="658368"/>
          </a:xfrm>
          <a:prstGeom prst="roundRect">
            <a:avLst>
              <a:gd name="adj" fmla="val 13889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267712" y="3803904"/>
            <a:ext cx="365760" cy="365760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9152" y="3895344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880360" y="3657600"/>
            <a:ext cx="7068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Googleマップで、競合より下に表示される</a:t>
            </a:r>
            <a:endParaRPr lang="en-US" sz="1550" dirty="0"/>
          </a:p>
        </p:txBody>
      </p:sp>
      <p:sp>
        <p:nvSpPr>
          <p:cNvPr id="24" name="Shape 18"/>
          <p:cNvSpPr/>
          <p:nvPr/>
        </p:nvSpPr>
        <p:spPr>
          <a:xfrm>
            <a:off x="2011680" y="4434840"/>
            <a:ext cx="8165592" cy="658368"/>
          </a:xfrm>
          <a:prstGeom prst="roundRect">
            <a:avLst>
              <a:gd name="adj" fmla="val 13889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2267712" y="4581144"/>
            <a:ext cx="365760" cy="365760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9152" y="4672584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880360" y="4434840"/>
            <a:ext cx="7068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口コミが集まらず、評価も上がらない</a:t>
            </a:r>
            <a:endParaRPr lang="en-US" sz="1550" dirty="0"/>
          </a:p>
        </p:txBody>
      </p:sp>
      <p:sp>
        <p:nvSpPr>
          <p:cNvPr id="28" name="Shape 21"/>
          <p:cNvSpPr/>
          <p:nvPr/>
        </p:nvSpPr>
        <p:spPr>
          <a:xfrm>
            <a:off x="2011680" y="5212080"/>
            <a:ext cx="8165592" cy="658368"/>
          </a:xfrm>
          <a:prstGeom prst="roundRect">
            <a:avLst>
              <a:gd name="adj" fmla="val 13889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2267712" y="5358384"/>
            <a:ext cx="365760" cy="365760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9152" y="5449824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880360" y="5212080"/>
            <a:ext cx="7068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何から手を付ければいいか分からない</a:t>
            </a:r>
            <a:endParaRPr lang="en-US" sz="1550" dirty="0"/>
          </a:p>
        </p:txBody>
      </p:sp>
      <p:sp>
        <p:nvSpPr>
          <p:cNvPr id="32" name="Text 24"/>
          <p:cNvSpPr/>
          <p:nvPr/>
        </p:nvSpPr>
        <p:spPr>
          <a:xfrm>
            <a:off x="731520" y="594360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 これらは、</a:t>
            </a:r>
            <a:pPr algn="ctr" indent="0" marL="0">
              <a:buNone/>
            </a:pPr>
            <a:r>
              <a:rPr lang="en-US" sz="16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MEO（地図集客）</a:t>
            </a:r>
            <a:pPr algn="ctr" indent="0" marL="0">
              <a:buNone/>
            </a:pPr>
            <a:r>
              <a:rPr lang="en-US" sz="16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で解決できます。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Background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なぜ、その課題が起きているのか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3716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集客の「構造」が、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ここ数年で大きく変わった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からです。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2286000"/>
            <a:ext cx="3502152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69364" y="267004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540" y="2935224"/>
            <a:ext cx="530352" cy="5303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5800" y="3913632"/>
            <a:ext cx="3227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広告費の高騰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804672" y="4480560"/>
            <a:ext cx="29900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Web広告・チラシの単価は年々上昇。同じ予算で獲得できる新規客が減り、費用対効果が悪化。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343400" y="2286000"/>
            <a:ext cx="3502152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564124" y="267004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935224"/>
            <a:ext cx="530352" cy="5303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480560" y="3913632"/>
            <a:ext cx="3227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ポータル依存のリスク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4599432" y="4480560"/>
            <a:ext cx="29900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掲載料は上がり続け、解約すれば露出はゼロに。広告費が自社の“資産”として残りません。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138160" y="2286000"/>
            <a:ext cx="3502152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358884" y="267004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4060" y="2935224"/>
            <a:ext cx="530352" cy="5303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275320" y="3913632"/>
            <a:ext cx="3227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検索行動の変化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8394192" y="4480560"/>
            <a:ext cx="299008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ユーザーは広告よりも、地図・口コミ・評価を見て来店先を決めるようになりました。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31520" y="580644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やり方を </a:t>
            </a:r>
            <a:pPr algn="ctr" indent="0" marL="0">
              <a:buNone/>
            </a:pPr>
            <a:r>
              <a:rPr lang="en-US" sz="16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「今の集客構造」</a:t>
            </a:r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に合わせる必要があります。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Change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店舗集客の、大きな変化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298448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お店探しの主役は、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グルメサイトからGoogleへ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3200400" y="1874520"/>
            <a:ext cx="274320" cy="164592"/>
          </a:xfrm>
          <a:prstGeom prst="rect">
            <a:avLst/>
          </a:prstGeom>
          <a:solidFill>
            <a:srgbClr val="C3CAD6"/>
          </a:solidFill>
          <a:ln/>
        </p:spPr>
      </p:sp>
      <p:sp>
        <p:nvSpPr>
          <p:cNvPr id="13" name="Text 10"/>
          <p:cNvSpPr/>
          <p:nvPr/>
        </p:nvSpPr>
        <p:spPr>
          <a:xfrm>
            <a:off x="3529584" y="180136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2020年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26280" y="1874520"/>
            <a:ext cx="274320" cy="1645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15" name="Text 12"/>
          <p:cNvSpPr/>
          <p:nvPr/>
        </p:nvSpPr>
        <p:spPr>
          <a:xfrm>
            <a:off x="4855464" y="1801368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2022年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48640" y="228600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グルメサイト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3200400" y="2286000"/>
            <a:ext cx="4040185" cy="292608"/>
          </a:xfrm>
          <a:prstGeom prst="roundRect">
            <a:avLst>
              <a:gd name="adj" fmla="val 15625"/>
            </a:avLst>
          </a:prstGeom>
          <a:solidFill>
            <a:srgbClr val="C3CAD6"/>
          </a:solidFill>
          <a:ln/>
        </p:spPr>
      </p:sp>
      <p:sp>
        <p:nvSpPr>
          <p:cNvPr id="18" name="Text 15"/>
          <p:cNvSpPr/>
          <p:nvPr/>
        </p:nvSpPr>
        <p:spPr>
          <a:xfrm>
            <a:off x="7313737" y="228600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78.9%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00400" y="2651760"/>
            <a:ext cx="3138952" cy="292608"/>
          </a:xfrm>
          <a:prstGeom prst="roundRect">
            <a:avLst>
              <a:gd name="adj" fmla="val 15625"/>
            </a:avLst>
          </a:prstGeom>
          <a:solidFill>
            <a:srgbClr val="6E86A8"/>
          </a:solidFill>
          <a:ln/>
        </p:spPr>
      </p:sp>
      <p:sp>
        <p:nvSpPr>
          <p:cNvPr id="20" name="Text 17"/>
          <p:cNvSpPr/>
          <p:nvPr/>
        </p:nvSpPr>
        <p:spPr>
          <a:xfrm>
            <a:off x="6412504" y="265176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61.3%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3218688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Google検索/マップ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3200400" y="3218688"/>
            <a:ext cx="4019702" cy="292608"/>
          </a:xfrm>
          <a:prstGeom prst="roundRect">
            <a:avLst>
              <a:gd name="adj" fmla="val 15625"/>
            </a:avLst>
          </a:prstGeom>
          <a:solidFill>
            <a:srgbClr val="C3CAD6"/>
          </a:solidFill>
          <a:ln/>
        </p:spPr>
      </p:sp>
      <p:sp>
        <p:nvSpPr>
          <p:cNvPr id="23" name="Text 20"/>
          <p:cNvSpPr/>
          <p:nvPr/>
        </p:nvSpPr>
        <p:spPr>
          <a:xfrm>
            <a:off x="7293254" y="321868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78.5%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200400" y="3584448"/>
            <a:ext cx="4408871" cy="292608"/>
          </a:xfrm>
          <a:prstGeom prst="roundRect">
            <a:avLst>
              <a:gd name="adj" fmla="val 15625"/>
            </a:avLst>
          </a:prstGeom>
          <a:solidFill>
            <a:srgbClr val="1B6FDE"/>
          </a:solidFill>
          <a:ln/>
        </p:spPr>
      </p:sp>
      <p:sp>
        <p:nvSpPr>
          <p:cNvPr id="25" name="Text 22"/>
          <p:cNvSpPr/>
          <p:nvPr/>
        </p:nvSpPr>
        <p:spPr>
          <a:xfrm>
            <a:off x="7682423" y="358444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86.1%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48640" y="4151376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知人に聞く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3200400" y="4151376"/>
            <a:ext cx="2063618" cy="292608"/>
          </a:xfrm>
          <a:prstGeom prst="roundRect">
            <a:avLst>
              <a:gd name="adj" fmla="val 15625"/>
            </a:avLst>
          </a:prstGeom>
          <a:solidFill>
            <a:srgbClr val="C3CAD6"/>
          </a:solidFill>
          <a:ln/>
        </p:spPr>
      </p:sp>
      <p:sp>
        <p:nvSpPr>
          <p:cNvPr id="28" name="Text 25"/>
          <p:cNvSpPr/>
          <p:nvPr/>
        </p:nvSpPr>
        <p:spPr>
          <a:xfrm>
            <a:off x="5337170" y="415137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40.3%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200400" y="4517136"/>
            <a:ext cx="1592519" cy="292608"/>
          </a:xfrm>
          <a:prstGeom prst="roundRect">
            <a:avLst>
              <a:gd name="adj" fmla="val 15625"/>
            </a:avLst>
          </a:prstGeom>
          <a:solidFill>
            <a:srgbClr val="6E86A8"/>
          </a:solidFill>
          <a:ln/>
        </p:spPr>
      </p:sp>
      <p:sp>
        <p:nvSpPr>
          <p:cNvPr id="30" name="Text 27"/>
          <p:cNvSpPr/>
          <p:nvPr/>
        </p:nvSpPr>
        <p:spPr>
          <a:xfrm>
            <a:off x="4866071" y="451713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31.1%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48640" y="5084064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3200400" y="5084064"/>
            <a:ext cx="1208471" cy="292608"/>
          </a:xfrm>
          <a:prstGeom prst="roundRect">
            <a:avLst>
              <a:gd name="adj" fmla="val 15625"/>
            </a:avLst>
          </a:prstGeom>
          <a:solidFill>
            <a:srgbClr val="C3CAD6"/>
          </a:solidFill>
          <a:ln/>
        </p:spPr>
      </p:sp>
      <p:sp>
        <p:nvSpPr>
          <p:cNvPr id="33" name="Text 30"/>
          <p:cNvSpPr/>
          <p:nvPr/>
        </p:nvSpPr>
        <p:spPr>
          <a:xfrm>
            <a:off x="4482023" y="50840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23.6%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3200400" y="5449824"/>
            <a:ext cx="742493" cy="292608"/>
          </a:xfrm>
          <a:prstGeom prst="roundRect">
            <a:avLst>
              <a:gd name="adj" fmla="val 15625"/>
            </a:avLst>
          </a:prstGeom>
          <a:solidFill>
            <a:srgbClr val="6E86A8"/>
          </a:solidFill>
          <a:ln/>
        </p:spPr>
      </p:sp>
      <p:sp>
        <p:nvSpPr>
          <p:cNvPr id="35" name="Text 32"/>
          <p:cNvSpPr/>
          <p:nvPr/>
        </p:nvSpPr>
        <p:spPr>
          <a:xfrm>
            <a:off x="4016045" y="544982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14.5%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2022年にはGoogle（検索＋マップ）が86.1%でグルメサイトを逆転し最多に。「地図で探して、その場で来店」が新しい行動様式です。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548640" y="6455664"/>
            <a:ext cx="11091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参照：TableCheck 第3回グルメサイト意識調査（2022年）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Users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アプリ利用者ランキング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04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298448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Googleマップは 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4,700万人規模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が、お店探しに利用。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48640" y="205740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LINE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606040" y="2057400"/>
            <a:ext cx="6583680" cy="402336"/>
          </a:xfrm>
          <a:prstGeom prst="roundRect">
            <a:avLst>
              <a:gd name="adj" fmla="val 13636"/>
            </a:avLst>
          </a:prstGeom>
          <a:solidFill>
            <a:srgbClr val="C6D3E6"/>
          </a:solidFill>
          <a:ln/>
        </p:spPr>
      </p:sp>
      <p:sp>
        <p:nvSpPr>
          <p:cNvPr id="14" name="Text 11"/>
          <p:cNvSpPr/>
          <p:nvPr/>
        </p:nvSpPr>
        <p:spPr>
          <a:xfrm>
            <a:off x="9281160" y="205740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9,800万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260604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YouTube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2606040" y="2606040"/>
            <a:ext cx="4951196" cy="402336"/>
          </a:xfrm>
          <a:prstGeom prst="roundRect">
            <a:avLst>
              <a:gd name="adj" fmla="val 13636"/>
            </a:avLst>
          </a:prstGeom>
          <a:solidFill>
            <a:srgbClr val="C6D3E6"/>
          </a:solidFill>
          <a:ln/>
        </p:spPr>
      </p:sp>
      <p:sp>
        <p:nvSpPr>
          <p:cNvPr id="17" name="Text 14"/>
          <p:cNvSpPr/>
          <p:nvPr/>
        </p:nvSpPr>
        <p:spPr>
          <a:xfrm>
            <a:off x="7648676" y="260604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7,370万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48640" y="31546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X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2606040" y="3154680"/>
            <a:ext cx="4568268" cy="402336"/>
          </a:xfrm>
          <a:prstGeom prst="roundRect">
            <a:avLst>
              <a:gd name="adj" fmla="val 13636"/>
            </a:avLst>
          </a:prstGeom>
          <a:solidFill>
            <a:srgbClr val="C6D3E6"/>
          </a:solidFill>
          <a:ln/>
        </p:spPr>
      </p:sp>
      <p:sp>
        <p:nvSpPr>
          <p:cNvPr id="20" name="Text 17"/>
          <p:cNvSpPr/>
          <p:nvPr/>
        </p:nvSpPr>
        <p:spPr>
          <a:xfrm>
            <a:off x="7265748" y="315468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6,800万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8640" y="370332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Instagram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2606040" y="3703320"/>
            <a:ext cx="4433907" cy="402336"/>
          </a:xfrm>
          <a:prstGeom prst="roundRect">
            <a:avLst>
              <a:gd name="adj" fmla="val 13636"/>
            </a:avLst>
          </a:prstGeom>
          <a:solidFill>
            <a:srgbClr val="C6D3E6"/>
          </a:solidFill>
          <a:ln/>
        </p:spPr>
      </p:sp>
      <p:sp>
        <p:nvSpPr>
          <p:cNvPr id="23" name="Text 20"/>
          <p:cNvSpPr/>
          <p:nvPr/>
        </p:nvSpPr>
        <p:spPr>
          <a:xfrm>
            <a:off x="7131387" y="370332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6,600万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" y="425196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Googleマップ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2606040" y="4251960"/>
            <a:ext cx="3157479" cy="402336"/>
          </a:xfrm>
          <a:prstGeom prst="roundRect">
            <a:avLst>
              <a:gd name="adj" fmla="val 13636"/>
            </a:avLst>
          </a:prstGeom>
          <a:solidFill>
            <a:srgbClr val="1B6FDE"/>
          </a:solidFill>
          <a:ln/>
        </p:spPr>
      </p:sp>
      <p:sp>
        <p:nvSpPr>
          <p:cNvPr id="26" name="Shape 23"/>
          <p:cNvSpPr/>
          <p:nvPr/>
        </p:nvSpPr>
        <p:spPr>
          <a:xfrm>
            <a:off x="2551176" y="4197096"/>
            <a:ext cx="3267207" cy="512064"/>
          </a:xfrm>
          <a:prstGeom prst="roundRect">
            <a:avLst>
              <a:gd name="adj" fmla="val 14286"/>
            </a:avLst>
          </a:prstGeom>
          <a:ln w="25400">
            <a:solidFill>
              <a:srgbClr val="E5484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54959" y="425196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4,700万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548640" y="480060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TikTok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2606040" y="4800600"/>
            <a:ext cx="2821577" cy="402336"/>
          </a:xfrm>
          <a:prstGeom prst="roundRect">
            <a:avLst>
              <a:gd name="adj" fmla="val 13636"/>
            </a:avLst>
          </a:prstGeom>
          <a:solidFill>
            <a:srgbClr val="C6D3E6"/>
          </a:solidFill>
          <a:ln/>
        </p:spPr>
      </p:sp>
      <p:sp>
        <p:nvSpPr>
          <p:cNvPr id="30" name="Text 27"/>
          <p:cNvSpPr/>
          <p:nvPr/>
        </p:nvSpPr>
        <p:spPr>
          <a:xfrm>
            <a:off x="5519057" y="480060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4,200万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548640" y="534924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Facebook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2606040" y="5349240"/>
            <a:ext cx="1746691" cy="402336"/>
          </a:xfrm>
          <a:prstGeom prst="roundRect">
            <a:avLst>
              <a:gd name="adj" fmla="val 13636"/>
            </a:avLst>
          </a:prstGeom>
          <a:solidFill>
            <a:srgbClr val="C6D3E6"/>
          </a:solidFill>
          <a:ln/>
        </p:spPr>
      </p:sp>
      <p:sp>
        <p:nvSpPr>
          <p:cNvPr id="33" name="Text 30"/>
          <p:cNvSpPr/>
          <p:nvPr/>
        </p:nvSpPr>
        <p:spPr>
          <a:xfrm>
            <a:off x="4444171" y="534924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2,600万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548640" y="6455664"/>
            <a:ext cx="11091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出典：各社公表値・各種調査（時点・基準が異なり順位は目安）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Why now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マップが、集客の主戦場に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3716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「近くの○○」で探し、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地図で見つけて、その日に来店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99516" y="2286000"/>
            <a:ext cx="338328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28116" y="2542032"/>
            <a:ext cx="2926080" cy="475488"/>
          </a:xfrm>
          <a:prstGeom prst="roundRect">
            <a:avLst>
              <a:gd name="adj" fmla="val 19231"/>
            </a:avLst>
          </a:prstGeom>
          <a:solidFill>
            <a:srgbClr val="EAF2FD"/>
          </a:solidFill>
          <a:ln/>
        </p:spPr>
      </p:sp>
      <p:sp>
        <p:nvSpPr>
          <p:cNvPr id="14" name="Text 11"/>
          <p:cNvSpPr/>
          <p:nvPr/>
        </p:nvSpPr>
        <p:spPr>
          <a:xfrm>
            <a:off x="928116" y="254203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マップ月間利用者（国内）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99516" y="31546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4,700</a:t>
            </a:r>
            <a:pPr algn="ctr" indent="0" marL="0">
              <a:buNone/>
            </a:pPr>
            <a:r>
              <a:rPr lang="en-US" sz="2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万人</a:t>
            </a:r>
            <a:endParaRPr lang="en-US" sz="4400" dirty="0"/>
          </a:p>
        </p:txBody>
      </p:sp>
      <p:sp>
        <p:nvSpPr>
          <p:cNvPr id="16" name="Shape 13"/>
          <p:cNvSpPr/>
          <p:nvPr/>
        </p:nvSpPr>
        <p:spPr>
          <a:xfrm>
            <a:off x="4402836" y="2286000"/>
            <a:ext cx="338328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31436" y="2542032"/>
            <a:ext cx="2926080" cy="475488"/>
          </a:xfrm>
          <a:prstGeom prst="roundRect">
            <a:avLst>
              <a:gd name="adj" fmla="val 19231"/>
            </a:avLst>
          </a:prstGeom>
          <a:solidFill>
            <a:srgbClr val="EAF2FD"/>
          </a:solidFill>
          <a:ln/>
        </p:spPr>
      </p:sp>
      <p:sp>
        <p:nvSpPr>
          <p:cNvPr id="18" name="Text 15"/>
          <p:cNvSpPr/>
          <p:nvPr/>
        </p:nvSpPr>
        <p:spPr>
          <a:xfrm>
            <a:off x="4631436" y="254203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反応者の来店率（24h以内）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402836" y="31546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76</a:t>
            </a:r>
            <a:pPr algn="ctr" indent="0" marL="0">
              <a:buNone/>
            </a:pPr>
            <a:r>
              <a:rPr lang="en-US" sz="2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%</a:t>
            </a:r>
            <a:endParaRPr lang="en-US" sz="5200" dirty="0"/>
          </a:p>
        </p:txBody>
      </p:sp>
      <p:sp>
        <p:nvSpPr>
          <p:cNvPr id="20" name="Shape 17"/>
          <p:cNvSpPr/>
          <p:nvPr/>
        </p:nvSpPr>
        <p:spPr>
          <a:xfrm>
            <a:off x="8106156" y="2286000"/>
            <a:ext cx="338328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334756" y="2542032"/>
            <a:ext cx="2926080" cy="475488"/>
          </a:xfrm>
          <a:prstGeom prst="roundRect">
            <a:avLst>
              <a:gd name="adj" fmla="val 19231"/>
            </a:avLst>
          </a:prstGeom>
          <a:solidFill>
            <a:srgbClr val="EAF2FD"/>
          </a:solidFill>
          <a:ln/>
        </p:spPr>
      </p:sp>
      <p:sp>
        <p:nvSpPr>
          <p:cNvPr id="22" name="Text 19"/>
          <p:cNvSpPr/>
          <p:nvPr/>
        </p:nvSpPr>
        <p:spPr>
          <a:xfrm>
            <a:off x="8334756" y="254203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検索シェア（Google系）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106156" y="31546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約90</a:t>
            </a:r>
            <a:pPr algn="ctr" indent="0" marL="0">
              <a:buNone/>
            </a:pPr>
            <a:r>
              <a:rPr lang="en-US" sz="2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%</a:t>
            </a:r>
            <a:endParaRPr lang="en-US" sz="5200" dirty="0"/>
          </a:p>
        </p:txBody>
      </p:sp>
      <p:sp>
        <p:nvSpPr>
          <p:cNvPr id="24" name="Text 21"/>
          <p:cNvSpPr/>
          <p:nvPr/>
        </p:nvSpPr>
        <p:spPr>
          <a:xfrm>
            <a:off x="731520" y="512064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マップ上で見つからない店は、来店候補にすら入りません。だからこそMEO（マップ上での見え方）が主戦場です。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48640" y="6455664"/>
            <a:ext cx="11091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参照：検索シェア=StatCounter 2025／来店率=Think with Google／利用者数=各社公表値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754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cantik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722876" y="138988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BBD4F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CHAPTER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18988" y="1783080"/>
            <a:ext cx="950976" cy="950976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18988" y="1783080"/>
            <a:ext cx="95097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MEOとは・順位の仕組み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E4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何をすれば、マップ上位に表示されるのか。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3F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About MEO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MEO対策とは何か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06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298448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「地域名＋業種」検索で、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Googleマップ上位3枠に表示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させる対策です。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56716" y="2377440"/>
            <a:ext cx="4663440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68196" y="2834640"/>
            <a:ext cx="1097280" cy="1097280"/>
          </a:xfrm>
          <a:prstGeom prst="roundRect">
            <a:avLst>
              <a:gd name="adj" fmla="val 10833"/>
            </a:avLst>
          </a:prstGeom>
          <a:solidFill>
            <a:srgbClr val="EAF2F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516" y="310896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48356" y="28803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内部対策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1613916" y="406908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プロフィール最適化・投稿・写真・カテゴリ整備など、GBP内部を継続的に改善します。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368796" y="2377440"/>
            <a:ext cx="4663440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780276" y="2834640"/>
            <a:ext cx="1097280" cy="1097280"/>
          </a:xfrm>
          <a:prstGeom prst="roundRect">
            <a:avLst>
              <a:gd name="adj" fmla="val 10833"/>
            </a:avLst>
          </a:prstGeom>
          <a:solidFill>
            <a:srgbClr val="EAF2F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596" y="310896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60436" y="28803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外部対策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6825996" y="406908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サイテーション・被リンク・口コミなど、外部からの評価シグナルを強化します。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5820156" y="3108960"/>
            <a:ext cx="548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3CA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731520" y="55778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上位3枠は、今まさにお店を探すユーザーの目に最初に触れる場所。電話・経路・来店に直結します。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Market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MEO市場規模の推計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07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298448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市場規模は 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6年で約2倍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へ拡大が見込まれます。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822960" y="5486400"/>
            <a:ext cx="6766560" cy="0"/>
          </a:xfrm>
          <a:prstGeom prst="line">
            <a:avLst/>
          </a:prstGeom>
          <a:noFill/>
          <a:ln w="19050">
            <a:solidFill>
              <a:srgbClr val="E4E8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77102" y="3857513"/>
            <a:ext cx="658368" cy="1628887"/>
          </a:xfrm>
          <a:prstGeom prst="roundRect">
            <a:avLst>
              <a:gd name="adj" fmla="val 8333"/>
            </a:avLst>
          </a:prstGeom>
          <a:solidFill>
            <a:srgbClr val="B6C2D4"/>
          </a:solidFill>
          <a:ln/>
        </p:spPr>
      </p:sp>
      <p:sp>
        <p:nvSpPr>
          <p:cNvPr id="14" name="Text 11"/>
          <p:cNvSpPr/>
          <p:nvPr/>
        </p:nvSpPr>
        <p:spPr>
          <a:xfrm>
            <a:off x="657062" y="3455177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158</a:t>
            </a:r>
            <a:pPr algn="ctr" indent="0" marL="0">
              <a:buNone/>
            </a:pPr>
            <a:r>
              <a:rPr lang="en-US" sz="10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億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22960" y="5577840"/>
            <a:ext cx="966651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2022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943753" y="3527612"/>
            <a:ext cx="658368" cy="1958788"/>
          </a:xfrm>
          <a:prstGeom prst="roundRect">
            <a:avLst>
              <a:gd name="adj" fmla="val 8333"/>
            </a:avLst>
          </a:prstGeom>
          <a:solidFill>
            <a:srgbClr val="7FA6E4"/>
          </a:solidFill>
          <a:ln/>
        </p:spPr>
      </p:sp>
      <p:sp>
        <p:nvSpPr>
          <p:cNvPr id="17" name="Text 14"/>
          <p:cNvSpPr/>
          <p:nvPr/>
        </p:nvSpPr>
        <p:spPr>
          <a:xfrm>
            <a:off x="1623713" y="3125276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190</a:t>
            </a:r>
            <a:pPr algn="ctr" indent="0" marL="0">
              <a:buNone/>
            </a:pPr>
            <a:r>
              <a:rPr lang="en-US" sz="8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億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789611" y="5577840"/>
            <a:ext cx="966651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2023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910405" y="3280186"/>
            <a:ext cx="658368" cy="2206214"/>
          </a:xfrm>
          <a:prstGeom prst="roundRect">
            <a:avLst>
              <a:gd name="adj" fmla="val 8333"/>
            </a:avLst>
          </a:prstGeom>
          <a:solidFill>
            <a:srgbClr val="7FA6E4"/>
          </a:solidFill>
          <a:ln/>
        </p:spPr>
      </p:sp>
      <p:sp>
        <p:nvSpPr>
          <p:cNvPr id="20" name="Text 17"/>
          <p:cNvSpPr/>
          <p:nvPr/>
        </p:nvSpPr>
        <p:spPr>
          <a:xfrm>
            <a:off x="2590365" y="287785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214</a:t>
            </a:r>
            <a:pPr algn="ctr" indent="0" marL="0">
              <a:buNone/>
            </a:pPr>
            <a:r>
              <a:rPr lang="en-US" sz="8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億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756263" y="5577840"/>
            <a:ext cx="966651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2024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877056" y="3063688"/>
            <a:ext cx="658368" cy="2422712"/>
          </a:xfrm>
          <a:prstGeom prst="roundRect">
            <a:avLst>
              <a:gd name="adj" fmla="val 8333"/>
            </a:avLst>
          </a:prstGeom>
          <a:solidFill>
            <a:srgbClr val="7FA6E4"/>
          </a:solidFill>
          <a:ln/>
        </p:spPr>
      </p:sp>
      <p:sp>
        <p:nvSpPr>
          <p:cNvPr id="23" name="Text 20"/>
          <p:cNvSpPr/>
          <p:nvPr/>
        </p:nvSpPr>
        <p:spPr>
          <a:xfrm>
            <a:off x="3557016" y="2661352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235</a:t>
            </a:r>
            <a:pPr algn="ctr" indent="0" marL="0">
              <a:buNone/>
            </a:pPr>
            <a:r>
              <a:rPr lang="en-US" sz="8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億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722914" y="5577840"/>
            <a:ext cx="966651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2025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843707" y="2805953"/>
            <a:ext cx="658368" cy="2680447"/>
          </a:xfrm>
          <a:prstGeom prst="roundRect">
            <a:avLst>
              <a:gd name="adj" fmla="val 8333"/>
            </a:avLst>
          </a:prstGeom>
          <a:solidFill>
            <a:srgbClr val="7FA6E4"/>
          </a:solidFill>
          <a:ln/>
        </p:spPr>
      </p:sp>
      <p:sp>
        <p:nvSpPr>
          <p:cNvPr id="26" name="Text 23"/>
          <p:cNvSpPr/>
          <p:nvPr/>
        </p:nvSpPr>
        <p:spPr>
          <a:xfrm>
            <a:off x="4523667" y="2403617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260</a:t>
            </a:r>
            <a:pPr algn="ctr" indent="0" marL="0">
              <a:buNone/>
            </a:pPr>
            <a:r>
              <a:rPr lang="en-US" sz="8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億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689566" y="5577840"/>
            <a:ext cx="966651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2026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810359" y="2558527"/>
            <a:ext cx="658368" cy="2927873"/>
          </a:xfrm>
          <a:prstGeom prst="roundRect">
            <a:avLst>
              <a:gd name="adj" fmla="val 8333"/>
            </a:avLst>
          </a:prstGeom>
          <a:solidFill>
            <a:srgbClr val="7FA6E4"/>
          </a:solidFill>
          <a:ln/>
        </p:spPr>
      </p:sp>
      <p:sp>
        <p:nvSpPr>
          <p:cNvPr id="29" name="Text 26"/>
          <p:cNvSpPr/>
          <p:nvPr/>
        </p:nvSpPr>
        <p:spPr>
          <a:xfrm>
            <a:off x="5490319" y="2156191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284</a:t>
            </a:r>
            <a:pPr algn="ctr" indent="0" marL="0">
              <a:buNone/>
            </a:pPr>
            <a:r>
              <a:rPr lang="en-US" sz="8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億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656217" y="5577840"/>
            <a:ext cx="966651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2027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777010" y="2331720"/>
            <a:ext cx="658368" cy="3154680"/>
          </a:xfrm>
          <a:prstGeom prst="roundRect">
            <a:avLst>
              <a:gd name="adj" fmla="val 8333"/>
            </a:avLst>
          </a:prstGeom>
          <a:solidFill>
            <a:srgbClr val="1B6FDE"/>
          </a:solidFill>
          <a:ln/>
        </p:spPr>
      </p:sp>
      <p:sp>
        <p:nvSpPr>
          <p:cNvPr id="32" name="Text 29"/>
          <p:cNvSpPr/>
          <p:nvPr/>
        </p:nvSpPr>
        <p:spPr>
          <a:xfrm>
            <a:off x="6456970" y="1929384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306</a:t>
            </a:r>
            <a:pPr algn="ctr" indent="0" marL="0">
              <a:buNone/>
            </a:pPr>
            <a:r>
              <a:rPr lang="en-US" sz="10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億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622869" y="5577840"/>
            <a:ext cx="966651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2028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909560" y="2377440"/>
            <a:ext cx="3703320" cy="1737360"/>
          </a:xfrm>
          <a:prstGeom prst="roundRect">
            <a:avLst>
              <a:gd name="adj" fmla="val 8421"/>
            </a:avLst>
          </a:prstGeom>
          <a:solidFill>
            <a:srgbClr val="1B6FDE"/>
          </a:solidFill>
          <a:ln/>
        </p:spPr>
      </p:sp>
      <p:sp>
        <p:nvSpPr>
          <p:cNvPr id="35" name="Text 32"/>
          <p:cNvSpPr/>
          <p:nvPr/>
        </p:nvSpPr>
        <p:spPr>
          <a:xfrm>
            <a:off x="7909560" y="260604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市場の成長見込み（6年）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909560" y="2971800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約2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倍</a:t>
            </a:r>
            <a:endParaRPr lang="en-US" sz="5200" dirty="0"/>
          </a:p>
        </p:txBody>
      </p:sp>
      <p:sp>
        <p:nvSpPr>
          <p:cNvPr id="37" name="Text 34"/>
          <p:cNvSpPr/>
          <p:nvPr/>
        </p:nvSpPr>
        <p:spPr>
          <a:xfrm>
            <a:off x="7863840" y="4343400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2022年の158億円から2028年には306億円規模へ。早く始めるほど競合に差をつけられます。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48640" y="6455664"/>
            <a:ext cx="11091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出典：GMO TECH／デジタルインファクト共同調査「MEO市場規模推計」（2023年8月）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Ranking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MEOの順位は、こう決まる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08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298448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順位の 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約97%は、継続運用で対策できる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要素です。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2148840"/>
            <a:ext cx="3200400" cy="3886200"/>
          </a:xfrm>
          <a:prstGeom prst="roundRect">
            <a:avLst>
              <a:gd name="adj" fmla="val 4571"/>
            </a:avLst>
          </a:prstGeom>
          <a:solidFill>
            <a:srgbClr val="1B6FDE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運用で対策できる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8640" y="3246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97</a:t>
            </a:r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%</a:t>
            </a:r>
            <a:endParaRPr lang="en-US" sz="7800" dirty="0"/>
          </a:p>
        </p:txBody>
      </p:sp>
      <p:sp>
        <p:nvSpPr>
          <p:cNvPr id="15" name="Text 12"/>
          <p:cNvSpPr/>
          <p:nvPr/>
        </p:nvSpPr>
        <p:spPr>
          <a:xfrm>
            <a:off x="731520" y="47091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AF2F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だからこそ、運用と管理が</a:t>
            </a:r>
            <a:endParaRPr lang="en-US" sz="12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AF2F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成果を左右します。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160520" y="22402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GBP内情報の最適化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223760" y="2322576"/>
            <a:ext cx="3200400" cy="237744"/>
          </a:xfrm>
          <a:prstGeom prst="roundRect">
            <a:avLst>
              <a:gd name="adj" fmla="val 19231"/>
            </a:avLst>
          </a:prstGeom>
          <a:solidFill>
            <a:srgbClr val="1B6FDE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0" y="224028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32%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160520" y="2784348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遷移先LPの最適化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223760" y="2866644"/>
            <a:ext cx="1900238" cy="237744"/>
          </a:xfrm>
          <a:prstGeom prst="roundRect">
            <a:avLst>
              <a:gd name="adj" fmla="val 19231"/>
            </a:avLst>
          </a:prstGeom>
          <a:solidFill>
            <a:srgbClr val="1B6FDE"/>
          </a:solidFill>
          <a:ln/>
        </p:spPr>
      </p:sp>
      <p:sp>
        <p:nvSpPr>
          <p:cNvPr id="21" name="Text 18"/>
          <p:cNvSpPr/>
          <p:nvPr/>
        </p:nvSpPr>
        <p:spPr>
          <a:xfrm>
            <a:off x="9215438" y="278434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19%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160520" y="3328416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口コミ・レビュー強化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223760" y="3410712"/>
            <a:ext cx="1600200" cy="237744"/>
          </a:xfrm>
          <a:prstGeom prst="roundRect">
            <a:avLst>
              <a:gd name="adj" fmla="val 19231"/>
            </a:avLst>
          </a:prstGeom>
          <a:solidFill>
            <a:srgbClr val="1B6FDE"/>
          </a:solidFill>
          <a:ln/>
        </p:spPr>
      </p:sp>
      <p:sp>
        <p:nvSpPr>
          <p:cNvPr id="24" name="Text 21"/>
          <p:cNvSpPr/>
          <p:nvPr/>
        </p:nvSpPr>
        <p:spPr>
          <a:xfrm>
            <a:off x="8915400" y="3328416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16%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60520" y="3872484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外部被リンク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223760" y="3954780"/>
            <a:ext cx="1500188" cy="237744"/>
          </a:xfrm>
          <a:prstGeom prst="roundRect">
            <a:avLst>
              <a:gd name="adj" fmla="val 19231"/>
            </a:avLst>
          </a:prstGeom>
          <a:solidFill>
            <a:srgbClr val="1B6FDE"/>
          </a:solidFill>
          <a:ln/>
        </p:spPr>
      </p:sp>
      <p:sp>
        <p:nvSpPr>
          <p:cNvPr id="27" name="Text 24"/>
          <p:cNvSpPr/>
          <p:nvPr/>
        </p:nvSpPr>
        <p:spPr>
          <a:xfrm>
            <a:off x="8815388" y="3872484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15%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160520" y="4416552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アクション率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7223760" y="4498848"/>
            <a:ext cx="800100" cy="237744"/>
          </a:xfrm>
          <a:prstGeom prst="roundRect">
            <a:avLst>
              <a:gd name="adj" fmla="val 19231"/>
            </a:avLst>
          </a:prstGeom>
          <a:solidFill>
            <a:srgbClr val="1B6FDE"/>
          </a:solidFill>
          <a:ln/>
        </p:spPr>
      </p:sp>
      <p:sp>
        <p:nvSpPr>
          <p:cNvPr id="30" name="Text 27"/>
          <p:cNvSpPr/>
          <p:nvPr/>
        </p:nvSpPr>
        <p:spPr>
          <a:xfrm>
            <a:off x="8115300" y="4416552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8%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4160520" y="496062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サイテーション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7223760" y="5042916"/>
            <a:ext cx="700088" cy="237744"/>
          </a:xfrm>
          <a:prstGeom prst="roundRect">
            <a:avLst>
              <a:gd name="adj" fmla="val 19231"/>
            </a:avLst>
          </a:prstGeom>
          <a:solidFill>
            <a:srgbClr val="1B6FDE"/>
          </a:solidFill>
          <a:ln/>
        </p:spPr>
      </p:sp>
      <p:sp>
        <p:nvSpPr>
          <p:cNvPr id="33" name="Text 30"/>
          <p:cNvSpPr/>
          <p:nvPr/>
        </p:nvSpPr>
        <p:spPr>
          <a:xfrm>
            <a:off x="8015288" y="4960620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7%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4160520" y="5504688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パーソナライズ（対象外）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7223760" y="5586984"/>
            <a:ext cx="300038" cy="237744"/>
          </a:xfrm>
          <a:prstGeom prst="roundRect">
            <a:avLst>
              <a:gd name="adj" fmla="val 19231"/>
            </a:avLst>
          </a:prstGeom>
          <a:solidFill>
            <a:srgbClr val="C3CAD6"/>
          </a:solidFill>
          <a:ln/>
        </p:spPr>
      </p:sp>
      <p:sp>
        <p:nvSpPr>
          <p:cNvPr id="36" name="Text 33"/>
          <p:cNvSpPr/>
          <p:nvPr/>
        </p:nvSpPr>
        <p:spPr>
          <a:xfrm>
            <a:off x="7615238" y="550468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3%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548640" y="6455664"/>
            <a:ext cx="11091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参照：Whitespark／BrightLocal「Local Search Ranking Factors 2025」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Comparison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他施策との、決定的な違い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09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298448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MEOは 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「費用対効果」と「資産性」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で他施策を上回ります。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971800" y="2011680"/>
            <a:ext cx="2064258" cy="548640"/>
          </a:xfrm>
          <a:prstGeom prst="roundRect">
            <a:avLst>
              <a:gd name="adj" fmla="val 13333"/>
            </a:avLst>
          </a:prstGeom>
          <a:solidFill>
            <a:srgbClr val="8A94A6"/>
          </a:solidFill>
          <a:ln/>
        </p:spPr>
      </p:sp>
      <p:sp>
        <p:nvSpPr>
          <p:cNvPr id="13" name="Text 10"/>
          <p:cNvSpPr/>
          <p:nvPr/>
        </p:nvSpPr>
        <p:spPr>
          <a:xfrm>
            <a:off x="2926080" y="2011680"/>
            <a:ext cx="21556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チラシ/ポスティング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127498" y="2011680"/>
            <a:ext cx="2064258" cy="548640"/>
          </a:xfrm>
          <a:prstGeom prst="roundRect">
            <a:avLst>
              <a:gd name="adj" fmla="val 13333"/>
            </a:avLst>
          </a:prstGeom>
          <a:solidFill>
            <a:srgbClr val="8A94A6"/>
          </a:solidFill>
          <a:ln/>
        </p:spPr>
      </p:sp>
      <p:sp>
        <p:nvSpPr>
          <p:cNvPr id="15" name="Text 12"/>
          <p:cNvSpPr/>
          <p:nvPr/>
        </p:nvSpPr>
        <p:spPr>
          <a:xfrm>
            <a:off x="5081778" y="2011680"/>
            <a:ext cx="21556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Web広告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283196" y="2011680"/>
            <a:ext cx="2064258" cy="548640"/>
          </a:xfrm>
          <a:prstGeom prst="roundRect">
            <a:avLst>
              <a:gd name="adj" fmla="val 13333"/>
            </a:avLst>
          </a:prstGeom>
          <a:solidFill>
            <a:srgbClr val="8A94A6"/>
          </a:solidFill>
          <a:ln/>
        </p:spPr>
      </p:sp>
      <p:sp>
        <p:nvSpPr>
          <p:cNvPr id="17" name="Text 14"/>
          <p:cNvSpPr/>
          <p:nvPr/>
        </p:nvSpPr>
        <p:spPr>
          <a:xfrm>
            <a:off x="7237476" y="2011680"/>
            <a:ext cx="21556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ポータルサイト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438894" y="2011680"/>
            <a:ext cx="2064258" cy="548640"/>
          </a:xfrm>
          <a:prstGeom prst="roundRect">
            <a:avLst>
              <a:gd name="adj" fmla="val 13333"/>
            </a:avLst>
          </a:prstGeom>
          <a:solidFill>
            <a:srgbClr val="1B6FDE"/>
          </a:solidFill>
          <a:ln/>
        </p:spPr>
      </p:sp>
      <p:sp>
        <p:nvSpPr>
          <p:cNvPr id="19" name="Text 16"/>
          <p:cNvSpPr/>
          <p:nvPr/>
        </p:nvSpPr>
        <p:spPr>
          <a:xfrm>
            <a:off x="9393174" y="2011680"/>
            <a:ext cx="21556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MEO対策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40080" y="2706624"/>
            <a:ext cx="2176272" cy="475488"/>
          </a:xfrm>
          <a:prstGeom prst="roundRect">
            <a:avLst>
              <a:gd name="adj" fmla="val 15385"/>
            </a:avLst>
          </a:prstGeom>
          <a:solidFill>
            <a:srgbClr val="EAF2FD"/>
          </a:solidFill>
          <a:ln/>
        </p:spPr>
      </p:sp>
      <p:sp>
        <p:nvSpPr>
          <p:cNvPr id="21" name="Text 18"/>
          <p:cNvSpPr/>
          <p:nvPr/>
        </p:nvSpPr>
        <p:spPr>
          <a:xfrm>
            <a:off x="731520" y="2670048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費用感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926080" y="2670048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3〜15万円/回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081778" y="2670048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5〜100万円/月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237476" y="2670048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3〜50万円/月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393174" y="2670048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3〜10万円/月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2926080" y="3273552"/>
            <a:ext cx="8622792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080" y="3310128"/>
            <a:ext cx="2176272" cy="475488"/>
          </a:xfrm>
          <a:prstGeom prst="roundRect">
            <a:avLst>
              <a:gd name="adj" fmla="val 15385"/>
            </a:avLst>
          </a:prstGeom>
          <a:solidFill>
            <a:srgbClr val="EAF2FD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3273552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即効性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2926080" y="3273552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081778" y="3273552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◎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7237476" y="3273552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9393174" y="3273552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2926080" y="3877056"/>
            <a:ext cx="8622792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40080" y="3913632"/>
            <a:ext cx="2176272" cy="475488"/>
          </a:xfrm>
          <a:prstGeom prst="roundRect">
            <a:avLst>
              <a:gd name="adj" fmla="val 15385"/>
            </a:avLst>
          </a:prstGeom>
          <a:solidFill>
            <a:srgbClr val="EAF2FD"/>
          </a:solidFill>
          <a:ln/>
        </p:spPr>
      </p:sp>
      <p:sp>
        <p:nvSpPr>
          <p:cNvPr id="35" name="Text 32"/>
          <p:cNvSpPr/>
          <p:nvPr/>
        </p:nvSpPr>
        <p:spPr>
          <a:xfrm>
            <a:off x="731520" y="3877056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費用対効果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2926080" y="3877056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5081778" y="3877056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7237476" y="3877056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9393174" y="3877056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◎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2926080" y="4480560"/>
            <a:ext cx="8622792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40080" y="4517136"/>
            <a:ext cx="2176272" cy="475488"/>
          </a:xfrm>
          <a:prstGeom prst="roundRect">
            <a:avLst>
              <a:gd name="adj" fmla="val 15385"/>
            </a:avLst>
          </a:prstGeom>
          <a:solidFill>
            <a:srgbClr val="EAF2FD"/>
          </a:solidFill>
          <a:ln/>
        </p:spPr>
      </p:sp>
      <p:sp>
        <p:nvSpPr>
          <p:cNvPr id="42" name="Text 39"/>
          <p:cNvSpPr/>
          <p:nvPr/>
        </p:nvSpPr>
        <p:spPr>
          <a:xfrm>
            <a:off x="731520" y="4480560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来店意欲の高さ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2926080" y="4480560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△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5081778" y="4480560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7237476" y="4480560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○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9393174" y="4480560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◎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2926080" y="5084064"/>
            <a:ext cx="8622792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40080" y="5120640"/>
            <a:ext cx="2176272" cy="475488"/>
          </a:xfrm>
          <a:prstGeom prst="roundRect">
            <a:avLst>
              <a:gd name="adj" fmla="val 15385"/>
            </a:avLst>
          </a:prstGeom>
          <a:solidFill>
            <a:srgbClr val="EAF2FD"/>
          </a:solidFill>
          <a:ln/>
        </p:spPr>
      </p:sp>
      <p:sp>
        <p:nvSpPr>
          <p:cNvPr id="49" name="Text 46"/>
          <p:cNvSpPr/>
          <p:nvPr/>
        </p:nvSpPr>
        <p:spPr>
          <a:xfrm>
            <a:off x="731520" y="5084064"/>
            <a:ext cx="2011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資産として残る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2926080" y="5084064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5081778" y="5084064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7237476" y="5084064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×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9393174" y="5084064"/>
            <a:ext cx="215569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◎</a:t>
            </a:r>
            <a:endParaRPr lang="en-US" sz="1400" dirty="0"/>
          </a:p>
        </p:txBody>
      </p:sp>
      <p:sp>
        <p:nvSpPr>
          <p:cNvPr id="54" name="Shape 51"/>
          <p:cNvSpPr/>
          <p:nvPr/>
        </p:nvSpPr>
        <p:spPr>
          <a:xfrm>
            <a:off x="9438894" y="2633472"/>
            <a:ext cx="2064258" cy="3081528"/>
          </a:xfrm>
          <a:prstGeom prst="roundRect">
            <a:avLst>
              <a:gd name="adj" fmla="val 3544"/>
            </a:avLst>
          </a:prstGeom>
          <a:ln w="19050">
            <a:solidFill>
              <a:srgbClr val="CFE0F8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008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※金額は一般的な相場目安（要確認）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754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cantik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722876" y="138988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BBD4F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CHAPTER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18988" y="1783080"/>
            <a:ext cx="950976" cy="950976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18988" y="1783080"/>
            <a:ext cx="95097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cantikのMEO運用代行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E4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内部・外部・口コミ・レポートまで、まるごと。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3F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Difficulty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自力運用が、難しい理由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298448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MEOは「登録して終わり」ではなく、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継続運用が成果を左右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します。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2194560"/>
            <a:ext cx="2553462" cy="3200400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95019" y="257860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195" y="2843784"/>
            <a:ext cx="530352" cy="5303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5800" y="3822192"/>
            <a:ext cx="22791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アルゴリズムが複雑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804672" y="4389120"/>
            <a:ext cx="204139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評価基準は非公開かつ頻繁に変動。自己流では順位が安定しません。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394710" y="2194560"/>
            <a:ext cx="2553462" cy="3200400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141089" y="257860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265" y="2843784"/>
            <a:ext cx="530352" cy="5303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531870" y="3822192"/>
            <a:ext cx="22791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継続運用の手間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3650742" y="4389120"/>
            <a:ext cx="204139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投稿・写真更新・口コミ返信を継続。本業の片手間では止まりがち。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240780" y="2194560"/>
            <a:ext cx="2553462" cy="3200400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987159" y="257860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2335" y="2843784"/>
            <a:ext cx="530352" cy="5303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77940" y="3822192"/>
            <a:ext cx="22791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専門スキルが必要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6496812" y="4389120"/>
            <a:ext cx="204139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魅力が伝わる写真・対策KWを盛り込んだ文章には制作スキルが要ります。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9086850" y="2194560"/>
            <a:ext cx="2553462" cy="3200400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833229" y="257860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8405" y="2843784"/>
            <a:ext cx="530352" cy="53035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224010" y="3822192"/>
            <a:ext cx="22791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効果測定の知見</a:t>
            </a:r>
            <a:endParaRPr lang="en-US" sz="1550" dirty="0"/>
          </a:p>
        </p:txBody>
      </p:sp>
      <p:sp>
        <p:nvSpPr>
          <p:cNvPr id="31" name="Text 24"/>
          <p:cNvSpPr/>
          <p:nvPr/>
        </p:nvSpPr>
        <p:spPr>
          <a:xfrm>
            <a:off x="9342882" y="4389120"/>
            <a:ext cx="204139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順位・反応を計測し改善。数値を読む力がないと打ち手が定まりません。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731520" y="580644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片手間では成果が出にくいのが、MEOの現実です。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Service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サービス内容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298448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内部・外部・口コミ・レポートまで、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ワンストップで運用代行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します。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2194560"/>
            <a:ext cx="2553462" cy="3200400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95019" y="257860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195" y="2843784"/>
            <a:ext cx="530352" cy="5303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5800" y="3822192"/>
            <a:ext cx="22791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内部対策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804672" y="4389120"/>
            <a:ext cx="204139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プロフィール最適化、対策KW投稿、写真・カテゴリ整備を継続実施。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394710" y="2194560"/>
            <a:ext cx="2553462" cy="3200400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141089" y="257860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265" y="2843784"/>
            <a:ext cx="530352" cy="5303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531870" y="3822192"/>
            <a:ext cx="22791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外部対策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3650742" y="4389120"/>
            <a:ext cx="204139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サイテーション・被リンク等の外部シグナルを強化し土台を底上げ。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240780" y="2194560"/>
            <a:ext cx="2553462" cy="3200400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987159" y="257860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2335" y="2843784"/>
            <a:ext cx="530352" cy="5303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77940" y="3822192"/>
            <a:ext cx="22791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口コミ施策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6496812" y="4389120"/>
            <a:ext cx="204139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口コミ促進QR・POP作成と、評価を高める返信文ライティングを代行。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9086850" y="2194560"/>
            <a:ext cx="2553462" cy="3200400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833229" y="257860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8405" y="2843784"/>
            <a:ext cx="530352" cy="53035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224010" y="3822192"/>
            <a:ext cx="22791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効果レポート</a:t>
            </a:r>
            <a:endParaRPr lang="en-US" sz="1550" dirty="0"/>
          </a:p>
        </p:txBody>
      </p:sp>
      <p:sp>
        <p:nvSpPr>
          <p:cNvPr id="31" name="Text 24"/>
          <p:cNvSpPr/>
          <p:nvPr/>
        </p:nvSpPr>
        <p:spPr>
          <a:xfrm>
            <a:off x="9342882" y="4389120"/>
            <a:ext cx="204139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順位チェックツールの提供と月次レポートで、順位・反応を可視化。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731520" y="580644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投稿も口コミ対応も、</a:t>
            </a:r>
            <a:pPr algn="ctr" indent="0" marL="0">
              <a:buNone/>
            </a:pPr>
            <a:r>
              <a:rPr lang="en-US" sz="16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まるごとお任せ</a:t>
            </a:r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いただけます。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Strength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cantikが、選ばれる理由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783080"/>
            <a:ext cx="2553462" cy="3383280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95019" y="216712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195" y="2432304"/>
            <a:ext cx="530352" cy="5303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5800" y="3410712"/>
            <a:ext cx="22791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高品質なGBP運用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804672" y="3977640"/>
            <a:ext cx="204139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WEB制作も手がける当社品質。デザイン性の高い運用でブランディングにも貢献。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394710" y="1783080"/>
            <a:ext cx="2553462" cy="3383280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141089" y="216712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265" y="2432304"/>
            <a:ext cx="530352" cy="5303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531870" y="3410712"/>
            <a:ext cx="22791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検証ベースの対策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3650742" y="3977640"/>
            <a:ext cx="204139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最新アルゴリズムの検証に基づく内部・外部対策で、再現性のある順位改善。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240780" y="1783080"/>
            <a:ext cx="2553462" cy="3383280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987159" y="216712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2335" y="2432304"/>
            <a:ext cx="530352" cy="53035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77940" y="3410712"/>
            <a:ext cx="22791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24時間の可視化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6496812" y="3977640"/>
            <a:ext cx="204139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順位チェックツールをご提供。順位・閲覧・反応をいつでもご確認いただけます。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9086850" y="1783080"/>
            <a:ext cx="2553462" cy="3383280"/>
          </a:xfrm>
          <a:prstGeom prst="roundRect">
            <a:avLst>
              <a:gd name="adj" fmla="val 573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9833229" y="2167128"/>
            <a:ext cx="1060704" cy="1060704"/>
          </a:xfrm>
          <a:prstGeom prst="roundRect">
            <a:avLst>
              <a:gd name="adj" fmla="val 11207"/>
            </a:avLst>
          </a:prstGeom>
          <a:solidFill>
            <a:srgbClr val="EAF2FD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8405" y="2432304"/>
            <a:ext cx="530352" cy="53035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224010" y="3410712"/>
            <a:ext cx="22791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即レス・伴走支援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9342882" y="3977640"/>
            <a:ext cx="204139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ご質問には最優先で即レス。担当が継続的に伴走し、改善し続けます。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731520" y="562356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</a:t>
            </a:r>
            <a:pPr algn="ctr" indent="0" marL="0">
              <a:buNone/>
            </a:pPr>
            <a:r>
              <a:rPr lang="en-US" sz="17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集客</a:t>
            </a:r>
            <a:pPr algn="ctr" indent="0" marL="0"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」と「</a:t>
            </a:r>
            <a:pPr algn="ctr" indent="0" marL="0">
              <a:buNone/>
            </a:pPr>
            <a:r>
              <a:rPr lang="en-US" sz="17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ブランディング</a:t>
            </a:r>
            <a:pPr algn="ctr" indent="0" marL="0"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」を同時に実現します。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Results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実績・成果事例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13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298448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飲食・美容・整体など、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幅広い来店型ビジネスで成果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2628" y="1965960"/>
            <a:ext cx="3566160" cy="397764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1228" y="2167128"/>
            <a:ext cx="3108960" cy="512064"/>
          </a:xfrm>
          <a:prstGeom prst="roundRect">
            <a:avLst>
              <a:gd name="adj" fmla="val 17857"/>
            </a:avLst>
          </a:prstGeom>
          <a:solidFill>
            <a:srgbClr val="F2994A"/>
          </a:solidFill>
          <a:ln/>
        </p:spPr>
      </p:sp>
      <p:sp>
        <p:nvSpPr>
          <p:cNvPr id="14" name="Text 11"/>
          <p:cNvSpPr/>
          <p:nvPr/>
        </p:nvSpPr>
        <p:spPr>
          <a:xfrm>
            <a:off x="681228" y="2167128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カフェ 様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35508" y="277063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「渋谷 カフェ」で上位表示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4108" y="3936650"/>
            <a:ext cx="310896" cy="315310"/>
          </a:xfrm>
          <a:prstGeom prst="roundRect">
            <a:avLst>
              <a:gd name="adj" fmla="val 8824"/>
            </a:avLst>
          </a:prstGeom>
          <a:solidFill>
            <a:srgbClr val="F2994A"/>
          </a:solidFill>
          <a:ln/>
        </p:spPr>
      </p:sp>
      <p:sp>
        <p:nvSpPr>
          <p:cNvPr id="17" name="Shape 14"/>
          <p:cNvSpPr/>
          <p:nvPr/>
        </p:nvSpPr>
        <p:spPr>
          <a:xfrm>
            <a:off x="1350569" y="3842057"/>
            <a:ext cx="310896" cy="409903"/>
          </a:xfrm>
          <a:prstGeom prst="roundRect">
            <a:avLst>
              <a:gd name="adj" fmla="val 8824"/>
            </a:avLst>
          </a:prstGeom>
          <a:solidFill>
            <a:srgbClr val="F2994A"/>
          </a:solidFill>
          <a:ln/>
        </p:spPr>
      </p:sp>
      <p:sp>
        <p:nvSpPr>
          <p:cNvPr id="18" name="Shape 15"/>
          <p:cNvSpPr/>
          <p:nvPr/>
        </p:nvSpPr>
        <p:spPr>
          <a:xfrm>
            <a:off x="1837030" y="3763229"/>
            <a:ext cx="310896" cy="488731"/>
          </a:xfrm>
          <a:prstGeom prst="roundRect">
            <a:avLst>
              <a:gd name="adj" fmla="val 8824"/>
            </a:avLst>
          </a:prstGeom>
          <a:solidFill>
            <a:srgbClr val="F2994A"/>
          </a:solidFill>
          <a:ln/>
        </p:spPr>
      </p:sp>
      <p:sp>
        <p:nvSpPr>
          <p:cNvPr id="19" name="Shape 16"/>
          <p:cNvSpPr/>
          <p:nvPr/>
        </p:nvSpPr>
        <p:spPr>
          <a:xfrm>
            <a:off x="2323490" y="3605574"/>
            <a:ext cx="310896" cy="646386"/>
          </a:xfrm>
          <a:prstGeom prst="roundRect">
            <a:avLst>
              <a:gd name="adj" fmla="val 8824"/>
            </a:avLst>
          </a:prstGeom>
          <a:solidFill>
            <a:srgbClr val="F2994A"/>
          </a:solidFill>
          <a:ln/>
        </p:spPr>
      </p:sp>
      <p:sp>
        <p:nvSpPr>
          <p:cNvPr id="20" name="Shape 17"/>
          <p:cNvSpPr/>
          <p:nvPr/>
        </p:nvSpPr>
        <p:spPr>
          <a:xfrm>
            <a:off x="2809951" y="3503098"/>
            <a:ext cx="310896" cy="748862"/>
          </a:xfrm>
          <a:prstGeom prst="roundRect">
            <a:avLst>
              <a:gd name="adj" fmla="val 8824"/>
            </a:avLst>
          </a:prstGeom>
          <a:solidFill>
            <a:srgbClr val="F2994A"/>
          </a:solidFill>
          <a:ln/>
        </p:spPr>
      </p:sp>
      <p:sp>
        <p:nvSpPr>
          <p:cNvPr id="21" name="Shape 18"/>
          <p:cNvSpPr/>
          <p:nvPr/>
        </p:nvSpPr>
        <p:spPr>
          <a:xfrm>
            <a:off x="3296412" y="3337560"/>
            <a:ext cx="310896" cy="914400"/>
          </a:xfrm>
          <a:prstGeom prst="roundRect">
            <a:avLst>
              <a:gd name="adj" fmla="val 8824"/>
            </a:avLst>
          </a:prstGeom>
          <a:solidFill>
            <a:srgbClr val="F2994A"/>
          </a:solidFill>
          <a:ln/>
        </p:spPr>
      </p:sp>
      <p:sp>
        <p:nvSpPr>
          <p:cNvPr id="22" name="Shape 19"/>
          <p:cNvSpPr/>
          <p:nvPr/>
        </p:nvSpPr>
        <p:spPr>
          <a:xfrm>
            <a:off x="772668" y="4251960"/>
            <a:ext cx="2926080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5508" y="4306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対策6ヶ月の推移（サンプル）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35508" y="463600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来店アクション </a:t>
            </a:r>
            <a:pPr algn="ctr" indent="0" marL="0">
              <a:buNone/>
            </a:pPr>
            <a:r>
              <a:rPr lang="en-US" sz="28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+180%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35508" y="527608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前年 1,200  →  今年 3,360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311396" y="1965960"/>
            <a:ext cx="3566160" cy="397764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39996" y="2167128"/>
            <a:ext cx="3108960" cy="512064"/>
          </a:xfrm>
          <a:prstGeom prst="roundRect">
            <a:avLst>
              <a:gd name="adj" fmla="val 17857"/>
            </a:avLst>
          </a:prstGeom>
          <a:solidFill>
            <a:srgbClr val="E0699F"/>
          </a:solidFill>
          <a:ln/>
        </p:spPr>
      </p:sp>
      <p:sp>
        <p:nvSpPr>
          <p:cNvPr id="28" name="Text 25"/>
          <p:cNvSpPr/>
          <p:nvPr/>
        </p:nvSpPr>
        <p:spPr>
          <a:xfrm>
            <a:off x="4539996" y="2167128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美容室 様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4494276" y="277063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指名検索＋新規予約が増加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722876" y="3936650"/>
            <a:ext cx="310896" cy="315310"/>
          </a:xfrm>
          <a:prstGeom prst="roundRect">
            <a:avLst>
              <a:gd name="adj" fmla="val 8824"/>
            </a:avLst>
          </a:prstGeom>
          <a:solidFill>
            <a:srgbClr val="E0699F"/>
          </a:solidFill>
          <a:ln/>
        </p:spPr>
      </p:sp>
      <p:sp>
        <p:nvSpPr>
          <p:cNvPr id="31" name="Shape 28"/>
          <p:cNvSpPr/>
          <p:nvPr/>
        </p:nvSpPr>
        <p:spPr>
          <a:xfrm>
            <a:off x="5209337" y="3857822"/>
            <a:ext cx="310896" cy="394138"/>
          </a:xfrm>
          <a:prstGeom prst="roundRect">
            <a:avLst>
              <a:gd name="adj" fmla="val 8824"/>
            </a:avLst>
          </a:prstGeom>
          <a:solidFill>
            <a:srgbClr val="E0699F"/>
          </a:solidFill>
          <a:ln/>
        </p:spPr>
      </p:sp>
      <p:sp>
        <p:nvSpPr>
          <p:cNvPr id="32" name="Shape 29"/>
          <p:cNvSpPr/>
          <p:nvPr/>
        </p:nvSpPr>
        <p:spPr>
          <a:xfrm>
            <a:off x="5695798" y="3778994"/>
            <a:ext cx="310896" cy="472966"/>
          </a:xfrm>
          <a:prstGeom prst="roundRect">
            <a:avLst>
              <a:gd name="adj" fmla="val 8824"/>
            </a:avLst>
          </a:prstGeom>
          <a:solidFill>
            <a:srgbClr val="E0699F"/>
          </a:solidFill>
          <a:ln/>
        </p:spPr>
      </p:sp>
      <p:sp>
        <p:nvSpPr>
          <p:cNvPr id="33" name="Shape 30"/>
          <p:cNvSpPr/>
          <p:nvPr/>
        </p:nvSpPr>
        <p:spPr>
          <a:xfrm>
            <a:off x="6182258" y="3668636"/>
            <a:ext cx="310896" cy="583324"/>
          </a:xfrm>
          <a:prstGeom prst="roundRect">
            <a:avLst>
              <a:gd name="adj" fmla="val 8824"/>
            </a:avLst>
          </a:prstGeom>
          <a:solidFill>
            <a:srgbClr val="E0699F"/>
          </a:solidFill>
          <a:ln/>
        </p:spPr>
      </p:sp>
      <p:sp>
        <p:nvSpPr>
          <p:cNvPr id="34" name="Shape 31"/>
          <p:cNvSpPr/>
          <p:nvPr/>
        </p:nvSpPr>
        <p:spPr>
          <a:xfrm>
            <a:off x="6668719" y="3526746"/>
            <a:ext cx="310896" cy="725214"/>
          </a:xfrm>
          <a:prstGeom prst="roundRect">
            <a:avLst>
              <a:gd name="adj" fmla="val 8824"/>
            </a:avLst>
          </a:prstGeom>
          <a:solidFill>
            <a:srgbClr val="E0699F"/>
          </a:solidFill>
          <a:ln/>
        </p:spPr>
      </p:sp>
      <p:sp>
        <p:nvSpPr>
          <p:cNvPr id="35" name="Shape 32"/>
          <p:cNvSpPr/>
          <p:nvPr/>
        </p:nvSpPr>
        <p:spPr>
          <a:xfrm>
            <a:off x="7155180" y="3400622"/>
            <a:ext cx="310896" cy="851338"/>
          </a:xfrm>
          <a:prstGeom prst="roundRect">
            <a:avLst>
              <a:gd name="adj" fmla="val 8824"/>
            </a:avLst>
          </a:prstGeom>
          <a:solidFill>
            <a:srgbClr val="E0699F"/>
          </a:solidFill>
          <a:ln/>
        </p:spPr>
      </p:sp>
      <p:sp>
        <p:nvSpPr>
          <p:cNvPr id="36" name="Shape 33"/>
          <p:cNvSpPr/>
          <p:nvPr/>
        </p:nvSpPr>
        <p:spPr>
          <a:xfrm>
            <a:off x="4631436" y="4251960"/>
            <a:ext cx="2926080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494276" y="4306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対策6ヶ月の推移（サンプル）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494276" y="463600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新規ご予約 </a:t>
            </a:r>
            <a:pPr algn="ctr" indent="0" marL="0">
              <a:buNone/>
            </a:pPr>
            <a:r>
              <a:rPr lang="en-US" sz="28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+160%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4494276" y="527608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前年 月25件  →  今年 月65件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8170164" y="1965960"/>
            <a:ext cx="3566160" cy="397764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8398764" y="2167128"/>
            <a:ext cx="3108960" cy="512064"/>
          </a:xfrm>
          <a:prstGeom prst="roundRect">
            <a:avLst>
              <a:gd name="adj" fmla="val 17857"/>
            </a:avLst>
          </a:prstGeom>
          <a:solidFill>
            <a:srgbClr val="2AA775"/>
          </a:solidFill>
          <a:ln/>
        </p:spPr>
      </p:sp>
      <p:sp>
        <p:nvSpPr>
          <p:cNvPr id="42" name="Text 39"/>
          <p:cNvSpPr/>
          <p:nvPr/>
        </p:nvSpPr>
        <p:spPr>
          <a:xfrm>
            <a:off x="8398764" y="2167128"/>
            <a:ext cx="3108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整体サロン 様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8353044" y="2770632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「地域＋整体」で上位表示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8581644" y="3936650"/>
            <a:ext cx="310896" cy="315310"/>
          </a:xfrm>
          <a:prstGeom prst="roundRect">
            <a:avLst>
              <a:gd name="adj" fmla="val 8824"/>
            </a:avLst>
          </a:prstGeom>
          <a:solidFill>
            <a:srgbClr val="2AA775"/>
          </a:solidFill>
          <a:ln/>
        </p:spPr>
      </p:sp>
      <p:sp>
        <p:nvSpPr>
          <p:cNvPr id="45" name="Shape 42"/>
          <p:cNvSpPr/>
          <p:nvPr/>
        </p:nvSpPr>
        <p:spPr>
          <a:xfrm>
            <a:off x="9068105" y="3873588"/>
            <a:ext cx="310896" cy="378372"/>
          </a:xfrm>
          <a:prstGeom prst="roundRect">
            <a:avLst>
              <a:gd name="adj" fmla="val 8824"/>
            </a:avLst>
          </a:prstGeom>
          <a:solidFill>
            <a:srgbClr val="2AA775"/>
          </a:solidFill>
          <a:ln/>
        </p:spPr>
      </p:sp>
      <p:sp>
        <p:nvSpPr>
          <p:cNvPr id="46" name="Shape 43"/>
          <p:cNvSpPr/>
          <p:nvPr/>
        </p:nvSpPr>
        <p:spPr>
          <a:xfrm>
            <a:off x="9554566" y="3794760"/>
            <a:ext cx="310896" cy="457200"/>
          </a:xfrm>
          <a:prstGeom prst="roundRect">
            <a:avLst>
              <a:gd name="adj" fmla="val 8824"/>
            </a:avLst>
          </a:prstGeom>
          <a:solidFill>
            <a:srgbClr val="2AA775"/>
          </a:solidFill>
          <a:ln/>
        </p:spPr>
      </p:sp>
      <p:sp>
        <p:nvSpPr>
          <p:cNvPr id="47" name="Shape 44"/>
          <p:cNvSpPr/>
          <p:nvPr/>
        </p:nvSpPr>
        <p:spPr>
          <a:xfrm>
            <a:off x="10041026" y="3700167"/>
            <a:ext cx="310896" cy="551793"/>
          </a:xfrm>
          <a:prstGeom prst="roundRect">
            <a:avLst>
              <a:gd name="adj" fmla="val 8824"/>
            </a:avLst>
          </a:prstGeom>
          <a:solidFill>
            <a:srgbClr val="2AA775"/>
          </a:solidFill>
          <a:ln/>
        </p:spPr>
      </p:sp>
      <p:sp>
        <p:nvSpPr>
          <p:cNvPr id="48" name="Shape 45"/>
          <p:cNvSpPr/>
          <p:nvPr/>
        </p:nvSpPr>
        <p:spPr>
          <a:xfrm>
            <a:off x="10527487" y="3574043"/>
            <a:ext cx="310896" cy="677917"/>
          </a:xfrm>
          <a:prstGeom prst="roundRect">
            <a:avLst>
              <a:gd name="adj" fmla="val 8824"/>
            </a:avLst>
          </a:prstGeom>
          <a:solidFill>
            <a:srgbClr val="2AA775"/>
          </a:solidFill>
          <a:ln/>
        </p:spPr>
      </p:sp>
      <p:sp>
        <p:nvSpPr>
          <p:cNvPr id="49" name="Shape 46"/>
          <p:cNvSpPr/>
          <p:nvPr/>
        </p:nvSpPr>
        <p:spPr>
          <a:xfrm>
            <a:off x="11013948" y="3432153"/>
            <a:ext cx="310896" cy="819807"/>
          </a:xfrm>
          <a:prstGeom prst="roundRect">
            <a:avLst>
              <a:gd name="adj" fmla="val 8824"/>
            </a:avLst>
          </a:prstGeom>
          <a:solidFill>
            <a:srgbClr val="2AA775"/>
          </a:solidFill>
          <a:ln/>
        </p:spPr>
      </p:sp>
      <p:sp>
        <p:nvSpPr>
          <p:cNvPr id="50" name="Shape 47"/>
          <p:cNvSpPr/>
          <p:nvPr/>
        </p:nvSpPr>
        <p:spPr>
          <a:xfrm>
            <a:off x="8490204" y="4251960"/>
            <a:ext cx="2926080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353044" y="4306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対策6ヶ月の推移（サンプル）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8353044" y="463600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お問い合わせ </a:t>
            </a:r>
            <a:pPr algn="ctr" indent="0" marL="0">
              <a:buNone/>
            </a:pPr>
            <a:r>
              <a:rPr lang="en-US" sz="28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+140%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8353044" y="527608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前年 月18件  →  今年 月43件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548640" y="61722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※成果は業種・地域・競合状況により異なります。数値はサンプルです（効果を保証するものではありません）。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754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cantik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722876" y="138988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BBD4F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CHAPTER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18988" y="1783080"/>
            <a:ext cx="950976" cy="950976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18988" y="1783080"/>
            <a:ext cx="95097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料金プラン・ご導入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E4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まずMEOから。上位プランで4本柱へ。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3F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743200"/>
            <a:ext cx="8412480" cy="6766560"/>
          </a:xfrm>
          <a:prstGeom prst="ellipse">
            <a:avLst/>
          </a:prstGeom>
          <a:solidFill>
            <a:srgbClr val="16304F"/>
          </a:solidFill>
          <a:ln/>
        </p:spPr>
      </p:sp>
      <p:sp>
        <p:nvSpPr>
          <p:cNvPr id="3" name="Shape 1"/>
          <p:cNvSpPr/>
          <p:nvPr/>
        </p:nvSpPr>
        <p:spPr>
          <a:xfrm>
            <a:off x="-3108960" y="4480560"/>
            <a:ext cx="9601200" cy="6858000"/>
          </a:xfrm>
          <a:prstGeom prst="ellipse">
            <a:avLst/>
          </a:prstGeom>
          <a:solidFill>
            <a:srgbClr val="0C1B31"/>
          </a:solidFill>
          <a:ln/>
        </p:spPr>
      </p:sp>
      <p:sp>
        <p:nvSpPr>
          <p:cNvPr id="4" name="Shape 2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F5B4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8FA6C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Price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料金プラン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8" name="Shape 6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9" name="Text 7"/>
          <p:cNvSpPr/>
          <p:nvPr/>
        </p:nvSpPr>
        <p:spPr>
          <a:xfrm>
            <a:off x="9829800" y="47548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9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cantik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1520" y="137160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9D8E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月9,800円のMEO単体から。スタンダードなら </a:t>
            </a:r>
            <a:pPr algn="ctr" indent="0" marL="0">
              <a:buNone/>
            </a:pPr>
            <a:r>
              <a:rPr lang="en-US" sz="1450" b="1" dirty="0">
                <a:solidFill>
                  <a:srgbClr val="FFC84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HP＋MEO＋SEO＋AIOの4本柱</a:t>
            </a:r>
            <a:pPr algn="ctr" indent="0" marL="0">
              <a:buNone/>
            </a:pPr>
            <a:r>
              <a:rPr lang="en-US" sz="1450" b="1" dirty="0">
                <a:solidFill>
                  <a:srgbClr val="C9D8E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が全部込み。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52628" y="2011680"/>
            <a:ext cx="3566160" cy="4187952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" y="22494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ライト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" y="2578608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9,800</a:t>
            </a:r>
            <a:pPr algn="ctr" indent="0" marL="0">
              <a:buNone/>
            </a:pPr>
            <a:r>
              <a:rPr lang="en-US" sz="13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円/月</a:t>
            </a:r>
            <a:pPr algn="ctr" indent="0" marL="0">
              <a:buNone/>
            </a:pPr>
            <a:r>
              <a:rPr lang="en-US" sz="9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（税別）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1613916" y="3145536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/>
        </p:spPr>
      </p:sp>
      <p:sp>
        <p:nvSpPr>
          <p:cNvPr id="15" name="Text 13"/>
          <p:cNvSpPr/>
          <p:nvPr/>
        </p:nvSpPr>
        <p:spPr>
          <a:xfrm>
            <a:off x="1613916" y="3145536"/>
            <a:ext cx="1243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初期費用 0円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933956" y="3547872"/>
            <a:ext cx="603504" cy="292608"/>
          </a:xfrm>
          <a:prstGeom prst="roundRect">
            <a:avLst>
              <a:gd name="adj" fmla="val 18750"/>
            </a:avLst>
          </a:prstGeom>
          <a:solidFill>
            <a:srgbClr val="1E2637"/>
          </a:solidFill>
          <a:ln/>
        </p:spPr>
      </p:sp>
      <p:sp>
        <p:nvSpPr>
          <p:cNvPr id="17" name="Text 15"/>
          <p:cNvSpPr/>
          <p:nvPr/>
        </p:nvSpPr>
        <p:spPr>
          <a:xfrm>
            <a:off x="1933956" y="3547872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2628" y="385876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含む柱：MEO特化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2668" y="4151376"/>
            <a:ext cx="2926080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" y="4306824"/>
            <a:ext cx="219456" cy="219456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4361688"/>
            <a:ext cx="109728" cy="10972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19556" y="4224528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GBP最適化・対策KW 4つ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90372" y="4690872"/>
            <a:ext cx="219456" cy="219456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" y="4745736"/>
            <a:ext cx="109728" cy="10972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19556" y="4608576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Google投稿 月4回（AI作成→人が確認）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90372" y="5074920"/>
            <a:ext cx="219456" cy="219456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5129784"/>
            <a:ext cx="109728" cy="10972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019556" y="4992624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口コミ返信 全件（AI下書き→人が監修）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90372" y="5458968"/>
            <a:ext cx="219456" cy="219456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" y="5513832"/>
            <a:ext cx="109728" cy="10972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19556" y="5376672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順位計測ツール＋月次レポート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72668" y="5779008"/>
            <a:ext cx="2926080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52628" y="583387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まず地図集客から始めたい方へ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4311396" y="1847088"/>
            <a:ext cx="3566160" cy="4352544"/>
          </a:xfrm>
          <a:prstGeom prst="roundRect">
            <a:avLst>
              <a:gd name="adj" fmla="val 4103"/>
            </a:avLst>
          </a:prstGeom>
          <a:solidFill>
            <a:srgbClr val="1B6FDE"/>
          </a:solidFill>
          <a:ln w="12700">
            <a:solidFill>
              <a:srgbClr val="1B6FDE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5225796" y="1673352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5B400"/>
          </a:solidFill>
          <a:ln/>
        </p:spPr>
      </p:sp>
      <p:sp>
        <p:nvSpPr>
          <p:cNvPr id="36" name="Text 30"/>
          <p:cNvSpPr/>
          <p:nvPr/>
        </p:nvSpPr>
        <p:spPr>
          <a:xfrm>
            <a:off x="5225796" y="167335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いちばん人気・本命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4311396" y="20848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スタンダード</a:t>
            </a:r>
            <a:endParaRPr lang="en-US" sz="1600" dirty="0"/>
          </a:p>
        </p:txBody>
      </p:sp>
      <p:sp>
        <p:nvSpPr>
          <p:cNvPr id="38" name="Text 32"/>
          <p:cNvSpPr/>
          <p:nvPr/>
        </p:nvSpPr>
        <p:spPr>
          <a:xfrm>
            <a:off x="4311396" y="2414016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19,800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円/月</a:t>
            </a:r>
            <a:pPr algn="ctr" indent="0" marL="0">
              <a:buNone/>
            </a:pPr>
            <a:r>
              <a:rPr lang="en-US" sz="950" dirty="0">
                <a:solidFill>
                  <a:srgbClr val="D6E4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（税別）</a:t>
            </a:r>
            <a:endParaRPr lang="en-US" sz="3200" dirty="0"/>
          </a:p>
        </p:txBody>
      </p:sp>
      <p:sp>
        <p:nvSpPr>
          <p:cNvPr id="39" name="Shape 33"/>
          <p:cNvSpPr/>
          <p:nvPr/>
        </p:nvSpPr>
        <p:spPr>
          <a:xfrm>
            <a:off x="5472684" y="2980944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40" name="Text 34"/>
          <p:cNvSpPr/>
          <p:nvPr/>
        </p:nvSpPr>
        <p:spPr>
          <a:xfrm>
            <a:off x="5472684" y="2980944"/>
            <a:ext cx="1243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初期費用 0円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4750308" y="3383280"/>
            <a:ext cx="603504" cy="292608"/>
          </a:xfrm>
          <a:prstGeom prst="roundRect">
            <a:avLst>
              <a:gd name="adj" fmla="val 18750"/>
            </a:avLst>
          </a:prstGeom>
          <a:solidFill>
            <a:srgbClr val="1558B0"/>
          </a:solidFill>
          <a:ln/>
        </p:spPr>
      </p:sp>
      <p:sp>
        <p:nvSpPr>
          <p:cNvPr id="42" name="Text 36"/>
          <p:cNvSpPr/>
          <p:nvPr/>
        </p:nvSpPr>
        <p:spPr>
          <a:xfrm>
            <a:off x="4750308" y="3383280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5445252" y="3383280"/>
            <a:ext cx="603504" cy="292608"/>
          </a:xfrm>
          <a:prstGeom prst="roundRect">
            <a:avLst>
              <a:gd name="adj" fmla="val 18750"/>
            </a:avLst>
          </a:prstGeom>
          <a:solidFill>
            <a:srgbClr val="1558B0"/>
          </a:solidFill>
          <a:ln/>
        </p:spPr>
      </p:sp>
      <p:sp>
        <p:nvSpPr>
          <p:cNvPr id="44" name="Text 38"/>
          <p:cNvSpPr/>
          <p:nvPr/>
        </p:nvSpPr>
        <p:spPr>
          <a:xfrm>
            <a:off x="5445252" y="3383280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HP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6140196" y="3383280"/>
            <a:ext cx="603504" cy="292608"/>
          </a:xfrm>
          <a:prstGeom prst="roundRect">
            <a:avLst>
              <a:gd name="adj" fmla="val 18750"/>
            </a:avLst>
          </a:prstGeom>
          <a:solidFill>
            <a:srgbClr val="1558B0"/>
          </a:solidFill>
          <a:ln/>
        </p:spPr>
      </p:sp>
      <p:sp>
        <p:nvSpPr>
          <p:cNvPr id="46" name="Text 40"/>
          <p:cNvSpPr/>
          <p:nvPr/>
        </p:nvSpPr>
        <p:spPr>
          <a:xfrm>
            <a:off x="6140196" y="3383280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SEO</a:t>
            </a:r>
            <a:endParaRPr lang="en-US" sz="950" dirty="0"/>
          </a:p>
        </p:txBody>
      </p:sp>
      <p:sp>
        <p:nvSpPr>
          <p:cNvPr id="47" name="Shape 41"/>
          <p:cNvSpPr/>
          <p:nvPr/>
        </p:nvSpPr>
        <p:spPr>
          <a:xfrm>
            <a:off x="6835140" y="3383280"/>
            <a:ext cx="603504" cy="292608"/>
          </a:xfrm>
          <a:prstGeom prst="roundRect">
            <a:avLst>
              <a:gd name="adj" fmla="val 18750"/>
            </a:avLst>
          </a:prstGeom>
          <a:solidFill>
            <a:srgbClr val="1558B0"/>
          </a:solidFill>
          <a:ln/>
        </p:spPr>
      </p:sp>
      <p:sp>
        <p:nvSpPr>
          <p:cNvPr id="48" name="Text 42"/>
          <p:cNvSpPr/>
          <p:nvPr/>
        </p:nvSpPr>
        <p:spPr>
          <a:xfrm>
            <a:off x="6835140" y="3383280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AIO</a:t>
            </a:r>
            <a:endParaRPr lang="en-US" sz="950" dirty="0"/>
          </a:p>
        </p:txBody>
      </p:sp>
      <p:sp>
        <p:nvSpPr>
          <p:cNvPr id="49" name="Text 43"/>
          <p:cNvSpPr/>
          <p:nvPr/>
        </p:nvSpPr>
        <p:spPr>
          <a:xfrm>
            <a:off x="4311396" y="369417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6E4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含む柱：4本柱</a:t>
            </a:r>
            <a:endParaRPr lang="en-US" sz="950" dirty="0"/>
          </a:p>
        </p:txBody>
      </p:sp>
      <p:sp>
        <p:nvSpPr>
          <p:cNvPr id="50" name="Shape 44"/>
          <p:cNvSpPr/>
          <p:nvPr/>
        </p:nvSpPr>
        <p:spPr>
          <a:xfrm>
            <a:off x="4631436" y="3986784"/>
            <a:ext cx="2926080" cy="0"/>
          </a:xfrm>
          <a:prstGeom prst="line">
            <a:avLst/>
          </a:prstGeom>
          <a:noFill/>
          <a:ln w="12700">
            <a:solidFill>
              <a:srgbClr val="5E93E0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4549140" y="4142232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4004" y="4197096"/>
            <a:ext cx="109728" cy="109728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4878324" y="4059936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ライトのMEO対策 すべて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4549140" y="4526280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4004" y="4581144"/>
            <a:ext cx="109728" cy="109728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4878324" y="4443984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サブスク型HP（制作・保守・修正無制限）</a:t>
            </a:r>
            <a:endParaRPr lang="en-US" sz="1000" dirty="0"/>
          </a:p>
        </p:txBody>
      </p:sp>
      <p:sp>
        <p:nvSpPr>
          <p:cNvPr id="57" name="Shape 49"/>
          <p:cNvSpPr/>
          <p:nvPr/>
        </p:nvSpPr>
        <p:spPr>
          <a:xfrm>
            <a:off x="4549140" y="4910328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4004" y="4965192"/>
            <a:ext cx="109728" cy="109728"/>
          </a:xfrm>
          <a:prstGeom prst="rect">
            <a:avLst/>
          </a:prstGeom>
        </p:spPr>
      </p:pic>
      <p:sp>
        <p:nvSpPr>
          <p:cNvPr id="59" name="Text 50"/>
          <p:cNvSpPr/>
          <p:nvPr/>
        </p:nvSpPr>
        <p:spPr>
          <a:xfrm>
            <a:off x="4878324" y="4828032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SEO内部対策＋記事 月2本</a:t>
            </a:r>
            <a:endParaRPr lang="en-US" sz="1000" dirty="0"/>
          </a:p>
        </p:txBody>
      </p:sp>
      <p:sp>
        <p:nvSpPr>
          <p:cNvPr id="60" name="Shape 51"/>
          <p:cNvSpPr/>
          <p:nvPr/>
        </p:nvSpPr>
        <p:spPr>
          <a:xfrm>
            <a:off x="4549140" y="5294376"/>
            <a:ext cx="219456" cy="21945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4004" y="5349240"/>
            <a:ext cx="109728" cy="109728"/>
          </a:xfrm>
          <a:prstGeom prst="rect">
            <a:avLst/>
          </a:prstGeom>
        </p:spPr>
      </p:pic>
      <p:sp>
        <p:nvSpPr>
          <p:cNvPr id="62" name="Text 52"/>
          <p:cNvSpPr/>
          <p:nvPr/>
        </p:nvSpPr>
        <p:spPr>
          <a:xfrm>
            <a:off x="4878324" y="5212080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AIO（AI検索最適化・構造化データ）</a:t>
            </a:r>
            <a:endParaRPr lang="en-US" sz="1000" dirty="0"/>
          </a:p>
        </p:txBody>
      </p:sp>
      <p:sp>
        <p:nvSpPr>
          <p:cNvPr id="63" name="Shape 53"/>
          <p:cNvSpPr/>
          <p:nvPr/>
        </p:nvSpPr>
        <p:spPr>
          <a:xfrm>
            <a:off x="4631436" y="5779008"/>
            <a:ext cx="2926080" cy="0"/>
          </a:xfrm>
          <a:prstGeom prst="line">
            <a:avLst/>
          </a:prstGeom>
          <a:noFill/>
          <a:ln w="12700">
            <a:solidFill>
              <a:srgbClr val="5E93E0"/>
            </a:solidFill>
            <a:prstDash val="solid"/>
          </a:ln>
        </p:spPr>
      </p:sp>
      <p:sp>
        <p:nvSpPr>
          <p:cNvPr id="64" name="Text 54"/>
          <p:cNvSpPr/>
          <p:nvPr/>
        </p:nvSpPr>
        <p:spPr>
          <a:xfrm>
            <a:off x="4311396" y="583387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E4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本格的に集客したい方へ（本命）</a:t>
            </a:r>
            <a:endParaRPr lang="en-US" sz="1000" dirty="0"/>
          </a:p>
        </p:txBody>
      </p:sp>
      <p:sp>
        <p:nvSpPr>
          <p:cNvPr id="65" name="Shape 55"/>
          <p:cNvSpPr/>
          <p:nvPr/>
        </p:nvSpPr>
        <p:spPr>
          <a:xfrm>
            <a:off x="8170164" y="2011680"/>
            <a:ext cx="3566160" cy="4187952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2A4468"/>
            </a:solidFill>
            <a:prstDash val="solid"/>
          </a:ln>
        </p:spPr>
      </p:sp>
      <p:sp>
        <p:nvSpPr>
          <p:cNvPr id="66" name="Text 56"/>
          <p:cNvSpPr/>
          <p:nvPr/>
        </p:nvSpPr>
        <p:spPr>
          <a:xfrm>
            <a:off x="8170164" y="22494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プレミアム</a:t>
            </a:r>
            <a:endParaRPr lang="en-US" sz="1600" dirty="0"/>
          </a:p>
        </p:txBody>
      </p:sp>
      <p:sp>
        <p:nvSpPr>
          <p:cNvPr id="67" name="Text 57"/>
          <p:cNvSpPr/>
          <p:nvPr/>
        </p:nvSpPr>
        <p:spPr>
          <a:xfrm>
            <a:off x="8170164" y="2578608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39,800</a:t>
            </a:r>
            <a:pPr algn="ctr" indent="0" marL="0">
              <a:buNone/>
            </a:pPr>
            <a:r>
              <a:rPr lang="en-US" sz="13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円/月</a:t>
            </a:r>
            <a:pPr algn="ctr" indent="0" marL="0">
              <a:buNone/>
            </a:pPr>
            <a:r>
              <a:rPr lang="en-US" sz="9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（税別）</a:t>
            </a:r>
            <a:endParaRPr lang="en-US" sz="3200" dirty="0"/>
          </a:p>
        </p:txBody>
      </p:sp>
      <p:sp>
        <p:nvSpPr>
          <p:cNvPr id="68" name="Shape 58"/>
          <p:cNvSpPr/>
          <p:nvPr/>
        </p:nvSpPr>
        <p:spPr>
          <a:xfrm>
            <a:off x="9331452" y="3145536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/>
        </p:spPr>
      </p:sp>
      <p:sp>
        <p:nvSpPr>
          <p:cNvPr id="69" name="Text 59"/>
          <p:cNvSpPr/>
          <p:nvPr/>
        </p:nvSpPr>
        <p:spPr>
          <a:xfrm>
            <a:off x="9331452" y="3145536"/>
            <a:ext cx="12435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初期費用 0円</a:t>
            </a:r>
            <a:endParaRPr lang="en-US" sz="1050" dirty="0"/>
          </a:p>
        </p:txBody>
      </p:sp>
      <p:sp>
        <p:nvSpPr>
          <p:cNvPr id="70" name="Shape 60"/>
          <p:cNvSpPr/>
          <p:nvPr/>
        </p:nvSpPr>
        <p:spPr>
          <a:xfrm>
            <a:off x="8261604" y="3547872"/>
            <a:ext cx="603504" cy="292608"/>
          </a:xfrm>
          <a:prstGeom prst="roundRect">
            <a:avLst>
              <a:gd name="adj" fmla="val 18750"/>
            </a:avLst>
          </a:prstGeom>
          <a:solidFill>
            <a:srgbClr val="1E2637"/>
          </a:solidFill>
          <a:ln/>
        </p:spPr>
      </p:sp>
      <p:sp>
        <p:nvSpPr>
          <p:cNvPr id="71" name="Text 61"/>
          <p:cNvSpPr/>
          <p:nvPr/>
        </p:nvSpPr>
        <p:spPr>
          <a:xfrm>
            <a:off x="8261604" y="3547872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</a:t>
            </a:r>
            <a:endParaRPr lang="en-US" sz="950" dirty="0"/>
          </a:p>
        </p:txBody>
      </p:sp>
      <p:sp>
        <p:nvSpPr>
          <p:cNvPr id="72" name="Shape 62"/>
          <p:cNvSpPr/>
          <p:nvPr/>
        </p:nvSpPr>
        <p:spPr>
          <a:xfrm>
            <a:off x="8956548" y="3547872"/>
            <a:ext cx="603504" cy="292608"/>
          </a:xfrm>
          <a:prstGeom prst="roundRect">
            <a:avLst>
              <a:gd name="adj" fmla="val 18750"/>
            </a:avLst>
          </a:prstGeom>
          <a:solidFill>
            <a:srgbClr val="1E2637"/>
          </a:solidFill>
          <a:ln/>
        </p:spPr>
      </p:sp>
      <p:sp>
        <p:nvSpPr>
          <p:cNvPr id="73" name="Text 63"/>
          <p:cNvSpPr/>
          <p:nvPr/>
        </p:nvSpPr>
        <p:spPr>
          <a:xfrm>
            <a:off x="8956548" y="3547872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HP</a:t>
            </a:r>
            <a:endParaRPr lang="en-US" sz="950" dirty="0"/>
          </a:p>
        </p:txBody>
      </p:sp>
      <p:sp>
        <p:nvSpPr>
          <p:cNvPr id="74" name="Shape 64"/>
          <p:cNvSpPr/>
          <p:nvPr/>
        </p:nvSpPr>
        <p:spPr>
          <a:xfrm>
            <a:off x="9651492" y="3547872"/>
            <a:ext cx="603504" cy="292608"/>
          </a:xfrm>
          <a:prstGeom prst="roundRect">
            <a:avLst>
              <a:gd name="adj" fmla="val 18750"/>
            </a:avLst>
          </a:prstGeom>
          <a:solidFill>
            <a:srgbClr val="1E2637"/>
          </a:solidFill>
          <a:ln/>
        </p:spPr>
      </p:sp>
      <p:sp>
        <p:nvSpPr>
          <p:cNvPr id="75" name="Text 65"/>
          <p:cNvSpPr/>
          <p:nvPr/>
        </p:nvSpPr>
        <p:spPr>
          <a:xfrm>
            <a:off x="9651492" y="3547872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SEO</a:t>
            </a:r>
            <a:endParaRPr lang="en-US" sz="950" dirty="0"/>
          </a:p>
        </p:txBody>
      </p:sp>
      <p:sp>
        <p:nvSpPr>
          <p:cNvPr id="76" name="Shape 66"/>
          <p:cNvSpPr/>
          <p:nvPr/>
        </p:nvSpPr>
        <p:spPr>
          <a:xfrm>
            <a:off x="10346436" y="3547872"/>
            <a:ext cx="603504" cy="292608"/>
          </a:xfrm>
          <a:prstGeom prst="roundRect">
            <a:avLst>
              <a:gd name="adj" fmla="val 18750"/>
            </a:avLst>
          </a:prstGeom>
          <a:solidFill>
            <a:srgbClr val="1E2637"/>
          </a:solidFill>
          <a:ln/>
        </p:spPr>
      </p:sp>
      <p:sp>
        <p:nvSpPr>
          <p:cNvPr id="77" name="Text 67"/>
          <p:cNvSpPr/>
          <p:nvPr/>
        </p:nvSpPr>
        <p:spPr>
          <a:xfrm>
            <a:off x="10346436" y="3547872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AIO</a:t>
            </a:r>
            <a:endParaRPr lang="en-US" sz="950" dirty="0"/>
          </a:p>
        </p:txBody>
      </p:sp>
      <p:sp>
        <p:nvSpPr>
          <p:cNvPr id="78" name="Shape 68"/>
          <p:cNvSpPr/>
          <p:nvPr/>
        </p:nvSpPr>
        <p:spPr>
          <a:xfrm>
            <a:off x="11041380" y="3547872"/>
            <a:ext cx="603504" cy="292608"/>
          </a:xfrm>
          <a:prstGeom prst="roundRect">
            <a:avLst>
              <a:gd name="adj" fmla="val 18750"/>
            </a:avLst>
          </a:prstGeom>
          <a:solidFill>
            <a:srgbClr val="1E2637"/>
          </a:solidFill>
          <a:ln/>
        </p:spPr>
      </p:sp>
      <p:sp>
        <p:nvSpPr>
          <p:cNvPr id="79" name="Text 69"/>
          <p:cNvSpPr/>
          <p:nvPr/>
        </p:nvSpPr>
        <p:spPr>
          <a:xfrm>
            <a:off x="11041380" y="3547872"/>
            <a:ext cx="603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</a:t>
            </a:r>
            <a:endParaRPr lang="en-US" sz="950" dirty="0"/>
          </a:p>
        </p:txBody>
      </p:sp>
      <p:sp>
        <p:nvSpPr>
          <p:cNvPr id="80" name="Text 70"/>
          <p:cNvSpPr/>
          <p:nvPr/>
        </p:nvSpPr>
        <p:spPr>
          <a:xfrm>
            <a:off x="8170164" y="385876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含む柱：4本柱＋SNS</a:t>
            </a:r>
            <a:endParaRPr lang="en-US" sz="950" dirty="0"/>
          </a:p>
        </p:txBody>
      </p:sp>
      <p:sp>
        <p:nvSpPr>
          <p:cNvPr id="81" name="Shape 71"/>
          <p:cNvSpPr/>
          <p:nvPr/>
        </p:nvSpPr>
        <p:spPr>
          <a:xfrm>
            <a:off x="8490204" y="4151376"/>
            <a:ext cx="2926080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82" name="Shape 72"/>
          <p:cNvSpPr/>
          <p:nvPr/>
        </p:nvSpPr>
        <p:spPr>
          <a:xfrm>
            <a:off x="8407908" y="4306824"/>
            <a:ext cx="219456" cy="219456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8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2772" y="4361688"/>
            <a:ext cx="109728" cy="109728"/>
          </a:xfrm>
          <a:prstGeom prst="rect">
            <a:avLst/>
          </a:prstGeom>
        </p:spPr>
      </p:pic>
      <p:sp>
        <p:nvSpPr>
          <p:cNvPr id="84" name="Text 73"/>
          <p:cNvSpPr/>
          <p:nvPr/>
        </p:nvSpPr>
        <p:spPr>
          <a:xfrm>
            <a:off x="8737092" y="4224528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スタンダードの内容 すべて</a:t>
            </a:r>
            <a:endParaRPr lang="en-US" sz="1000" dirty="0"/>
          </a:p>
        </p:txBody>
      </p:sp>
      <p:sp>
        <p:nvSpPr>
          <p:cNvPr id="85" name="Shape 74"/>
          <p:cNvSpPr/>
          <p:nvPr/>
        </p:nvSpPr>
        <p:spPr>
          <a:xfrm>
            <a:off x="8407908" y="4690872"/>
            <a:ext cx="219456" cy="219456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8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2772" y="4745736"/>
            <a:ext cx="109728" cy="109728"/>
          </a:xfrm>
          <a:prstGeom prst="rect">
            <a:avLst/>
          </a:prstGeom>
        </p:spPr>
      </p:pic>
      <p:sp>
        <p:nvSpPr>
          <p:cNvPr id="87" name="Text 75"/>
          <p:cNvSpPr/>
          <p:nvPr/>
        </p:nvSpPr>
        <p:spPr>
          <a:xfrm>
            <a:off x="8737092" y="4608576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SNS運用（Instagram / TikTok）</a:t>
            </a:r>
            <a:endParaRPr lang="en-US" sz="1000" dirty="0"/>
          </a:p>
        </p:txBody>
      </p:sp>
      <p:sp>
        <p:nvSpPr>
          <p:cNvPr id="88" name="Shape 76"/>
          <p:cNvSpPr/>
          <p:nvPr/>
        </p:nvSpPr>
        <p:spPr>
          <a:xfrm>
            <a:off x="8407908" y="5074920"/>
            <a:ext cx="219456" cy="219456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8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2772" y="5129784"/>
            <a:ext cx="109728" cy="109728"/>
          </a:xfrm>
          <a:prstGeom prst="rect">
            <a:avLst/>
          </a:prstGeom>
        </p:spPr>
      </p:pic>
      <p:sp>
        <p:nvSpPr>
          <p:cNvPr id="90" name="Text 77"/>
          <p:cNvSpPr/>
          <p:nvPr/>
        </p:nvSpPr>
        <p:spPr>
          <a:xfrm>
            <a:off x="8737092" y="4992624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月次レポート・改善提案</a:t>
            </a:r>
            <a:endParaRPr lang="en-US" sz="1000" dirty="0"/>
          </a:p>
        </p:txBody>
      </p:sp>
      <p:sp>
        <p:nvSpPr>
          <p:cNvPr id="91" name="Shape 78"/>
          <p:cNvSpPr/>
          <p:nvPr/>
        </p:nvSpPr>
        <p:spPr>
          <a:xfrm>
            <a:off x="8407908" y="5458968"/>
            <a:ext cx="219456" cy="219456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9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2772" y="5513832"/>
            <a:ext cx="109728" cy="109728"/>
          </a:xfrm>
          <a:prstGeom prst="rect">
            <a:avLst/>
          </a:prstGeom>
        </p:spPr>
      </p:pic>
      <p:sp>
        <p:nvSpPr>
          <p:cNvPr id="93" name="Text 79"/>
          <p:cNvSpPr/>
          <p:nvPr/>
        </p:nvSpPr>
        <p:spPr>
          <a:xfrm>
            <a:off x="8737092" y="5376672"/>
            <a:ext cx="28163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優先サポート</a:t>
            </a:r>
            <a:endParaRPr lang="en-US" sz="1000" dirty="0"/>
          </a:p>
        </p:txBody>
      </p:sp>
      <p:sp>
        <p:nvSpPr>
          <p:cNvPr id="94" name="Shape 80"/>
          <p:cNvSpPr/>
          <p:nvPr/>
        </p:nvSpPr>
        <p:spPr>
          <a:xfrm>
            <a:off x="8490204" y="5779008"/>
            <a:ext cx="2926080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95" name="Text 81"/>
          <p:cNvSpPr/>
          <p:nvPr/>
        </p:nvSpPr>
        <p:spPr>
          <a:xfrm>
            <a:off x="8170164" y="583387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競合と差をつけたい方へ</a:t>
            </a:r>
            <a:endParaRPr lang="en-US" sz="1000" dirty="0"/>
          </a:p>
        </p:txBody>
      </p:sp>
      <p:sp>
        <p:nvSpPr>
          <p:cNvPr id="96" name="Text 82"/>
          <p:cNvSpPr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FB6D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全プラン共通：初期費用0円（税別・最低契約24ヶ月・IT導入補助金の活用可）</a:t>
            </a:r>
            <a:endParaRPr lang="en-US" sz="1000" dirty="0"/>
          </a:p>
        </p:txBody>
      </p:sp>
      <p:sp>
        <p:nvSpPr>
          <p:cNvPr id="97" name="Text 83"/>
          <p:cNvSpPr/>
          <p:nvPr/>
        </p:nvSpPr>
        <p:spPr>
          <a:xfrm>
            <a:off x="548640" y="6601968"/>
            <a:ext cx="110916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86A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※スタンダード・プレミアムの金額・内容は要確定。</a:t>
            </a:r>
            <a:endParaRPr lang="en-US" sz="850" dirty="0"/>
          </a:p>
        </p:txBody>
      </p:sp>
      <p:sp>
        <p:nvSpPr>
          <p:cNvPr id="98" name="Shape 84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99" name="Text 85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Flow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導入までの流れ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13716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ご契約から 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約1週間で運用スタート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が可能です。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0080" y="2743200"/>
            <a:ext cx="228600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45336" y="2505456"/>
            <a:ext cx="475488" cy="475488"/>
          </a:xfrm>
          <a:prstGeom prst="ellipse">
            <a:avLst/>
          </a:prstGeom>
          <a:solidFill>
            <a:srgbClr val="1B6FDE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545336" y="2505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1280160" y="3154680"/>
            <a:ext cx="1005840" cy="1005840"/>
          </a:xfrm>
          <a:prstGeom prst="roundRect">
            <a:avLst>
              <a:gd name="adj" fmla="val 11818"/>
            </a:avLst>
          </a:prstGeom>
          <a:solidFill>
            <a:srgbClr val="EAF2FD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620" y="340614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1520" y="420624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お問い合わせ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・ヒアリング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40080" y="50017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〜3日後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926080" y="3543300"/>
            <a:ext cx="588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3CA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3514344" y="2743200"/>
            <a:ext cx="228600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419600" y="2505456"/>
            <a:ext cx="475488" cy="475488"/>
          </a:xfrm>
          <a:prstGeom prst="ellipse">
            <a:avLst/>
          </a:prstGeom>
          <a:solidFill>
            <a:srgbClr val="1B6FDE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419600" y="2505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4154424" y="3154680"/>
            <a:ext cx="1005840" cy="1005840"/>
          </a:xfrm>
          <a:prstGeom prst="roundRect">
            <a:avLst>
              <a:gd name="adj" fmla="val 11818"/>
            </a:avLst>
          </a:prstGeom>
          <a:solidFill>
            <a:srgbClr val="EAF2FD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884" y="3406140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605784" y="420624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ご提案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・運用設計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3514344" y="50017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〜5日後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800344" y="3543300"/>
            <a:ext cx="588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3CA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3"/>
          <p:cNvSpPr/>
          <p:nvPr/>
        </p:nvSpPr>
        <p:spPr>
          <a:xfrm>
            <a:off x="6388608" y="2743200"/>
            <a:ext cx="228600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293864" y="2505456"/>
            <a:ext cx="475488" cy="475488"/>
          </a:xfrm>
          <a:prstGeom prst="ellipse">
            <a:avLst/>
          </a:prstGeom>
          <a:solidFill>
            <a:srgbClr val="1B6FDE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293864" y="2505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700" dirty="0"/>
          </a:p>
        </p:txBody>
      </p:sp>
      <p:sp>
        <p:nvSpPr>
          <p:cNvPr id="31" name="Shape 26"/>
          <p:cNvSpPr/>
          <p:nvPr/>
        </p:nvSpPr>
        <p:spPr>
          <a:xfrm>
            <a:off x="7028688" y="3154680"/>
            <a:ext cx="1005840" cy="1005840"/>
          </a:xfrm>
          <a:prstGeom prst="roundRect">
            <a:avLst>
              <a:gd name="adj" fmla="val 11818"/>
            </a:avLst>
          </a:prstGeom>
          <a:solidFill>
            <a:srgbClr val="EAF2FD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0148" y="3406140"/>
            <a:ext cx="502920" cy="5029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480048" y="420624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運用開始</a:t>
            </a:r>
            <a:endParaRPr lang="en-US" sz="1350" dirty="0"/>
          </a:p>
        </p:txBody>
      </p:sp>
      <p:sp>
        <p:nvSpPr>
          <p:cNvPr id="34" name="Text 28"/>
          <p:cNvSpPr/>
          <p:nvPr/>
        </p:nvSpPr>
        <p:spPr>
          <a:xfrm>
            <a:off x="6388608" y="50017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〜1週間後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8674608" y="3543300"/>
            <a:ext cx="588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3CA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</a:t>
            </a:r>
            <a:endParaRPr lang="en-US" sz="2200" dirty="0"/>
          </a:p>
        </p:txBody>
      </p:sp>
      <p:sp>
        <p:nvSpPr>
          <p:cNvPr id="36" name="Shape 30"/>
          <p:cNvSpPr/>
          <p:nvPr/>
        </p:nvSpPr>
        <p:spPr>
          <a:xfrm>
            <a:off x="9262872" y="2743200"/>
            <a:ext cx="228600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10168128" y="2505456"/>
            <a:ext cx="475488" cy="475488"/>
          </a:xfrm>
          <a:prstGeom prst="ellipse">
            <a:avLst/>
          </a:prstGeom>
          <a:solidFill>
            <a:srgbClr val="1B6FDE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10168128" y="2505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700" dirty="0"/>
          </a:p>
        </p:txBody>
      </p:sp>
      <p:sp>
        <p:nvSpPr>
          <p:cNvPr id="39" name="Shape 33"/>
          <p:cNvSpPr/>
          <p:nvPr/>
        </p:nvSpPr>
        <p:spPr>
          <a:xfrm>
            <a:off x="9902952" y="3154680"/>
            <a:ext cx="1005840" cy="1005840"/>
          </a:xfrm>
          <a:prstGeom prst="roundRect">
            <a:avLst>
              <a:gd name="adj" fmla="val 11818"/>
            </a:avLst>
          </a:prstGeom>
          <a:solidFill>
            <a:srgbClr val="EAF2FD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4412" y="3406140"/>
            <a:ext cx="502920" cy="50292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354312" y="420624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月次レポート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・改善</a:t>
            </a:r>
            <a:endParaRPr lang="en-US" sz="1350" dirty="0"/>
          </a:p>
        </p:txBody>
      </p:sp>
      <p:sp>
        <p:nvSpPr>
          <p:cNvPr id="42" name="Text 35"/>
          <p:cNvSpPr/>
          <p:nvPr/>
        </p:nvSpPr>
        <p:spPr>
          <a:xfrm>
            <a:off x="9262872" y="50017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毎月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731520" y="580644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しっかりヒアリングし、計画を立ててからスタートします。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Contact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お問い合わせ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225296"/>
            <a:ext cx="502920" cy="50292"/>
          </a:xfrm>
          <a:prstGeom prst="rect">
            <a:avLst/>
          </a:prstGeom>
          <a:solidFill>
            <a:srgbClr val="1B6FDE"/>
          </a:solidFill>
          <a:ln/>
        </p:spPr>
      </p:sp>
      <p:sp>
        <p:nvSpPr>
          <p:cNvPr id="6" name="Shape 4"/>
          <p:cNvSpPr/>
          <p:nvPr/>
        </p:nvSpPr>
        <p:spPr>
          <a:xfrm>
            <a:off x="1124712" y="1225296"/>
            <a:ext cx="164592" cy="5029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16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まずはお気軽にご相談ください。</a:t>
            </a:r>
            <a:pPr algn="l" indent="0" marL="0">
              <a:buNone/>
            </a:pPr>
            <a:r>
              <a:rPr lang="en-US" sz="17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無料で現状診断いたします。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0080" y="2377440"/>
            <a:ext cx="658368" cy="658368"/>
          </a:xfrm>
          <a:prstGeom prst="roundRect">
            <a:avLst>
              <a:gd name="adj" fmla="val 18056"/>
            </a:avLst>
          </a:prstGeom>
          <a:solidFill>
            <a:srgbClr val="EAF2F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54203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08760" y="2377440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cantik.co.jp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640080" y="3246120"/>
            <a:ext cx="658368" cy="658368"/>
          </a:xfrm>
          <a:prstGeom prst="roundRect">
            <a:avLst>
              <a:gd name="adj" fmla="val 18056"/>
            </a:avLst>
          </a:prstGeom>
          <a:solidFill>
            <a:srgbClr val="EAF2F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41071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246120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080-7084-3102（平日9:00〜18:00）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640080" y="4114800"/>
            <a:ext cx="658368" cy="658368"/>
          </a:xfrm>
          <a:prstGeom prst="roundRect">
            <a:avLst>
              <a:gd name="adj" fmla="val 18056"/>
            </a:avLst>
          </a:prstGeom>
          <a:solidFill>
            <a:srgbClr val="EAF2FD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279392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08760" y="4114800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info@cantik.co.jp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640080" y="4983480"/>
            <a:ext cx="658368" cy="658368"/>
          </a:xfrm>
          <a:prstGeom prst="roundRect">
            <a:avLst>
              <a:gd name="adj" fmla="val 18056"/>
            </a:avLst>
          </a:prstGeom>
          <a:solidFill>
            <a:srgbClr val="EAF2F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148072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4983480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神奈川県相模原市南区南台5-21-17 セレス南台203</a:t>
            </a:r>
            <a:endParaRPr lang="en-US" sz="1550" dirty="0"/>
          </a:p>
        </p:txBody>
      </p:sp>
      <p:sp>
        <p:nvSpPr>
          <p:cNvPr id="24" name="Shape 17"/>
          <p:cNvSpPr/>
          <p:nvPr/>
        </p:nvSpPr>
        <p:spPr>
          <a:xfrm>
            <a:off x="8915400" y="1920240"/>
            <a:ext cx="2697480" cy="36576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pic>
        <p:nvPicPr>
          <p:cNvPr id="25" name="Image 5" descr="/Users/toukairintakeaki/CantikVault/サービス資料/_build/q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2148840"/>
            <a:ext cx="2240280" cy="273405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778240" y="49834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Instagram（CANTIK.INK）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8732520" y="5303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QRから簡単にお問い合わせいただけます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4884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spc="2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cantik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457200" y="3429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E7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店舗集客の、新しい常識を。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cantik.co.jp　｜　080-7084-3102　｜　info@cantik.co.jp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MEO（Googleマップ集客）のご提案</dc:title>
  <dc:subject>PptxGenJS Presentation</dc:subject>
  <dc:creator>株式会社cantik</dc:creator>
  <cp:lastModifiedBy>株式会社cantik</cp:lastModifiedBy>
  <cp:revision>1</cp:revision>
  <dcterms:created xsi:type="dcterms:W3CDTF">2026-07-14T15:37:45Z</dcterms:created>
  <dcterms:modified xsi:type="dcterms:W3CDTF">2026-07-14T15:37:45Z</dcterms:modified>
</cp:coreProperties>
</file>